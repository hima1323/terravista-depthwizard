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59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1013" y="52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solidFill>
                  <a:srgbClr val="2068AA"/>
                </a:solidFill>
                <a:latin typeface="Aptos"/>
              </a:defRPr>
            </a:pPr>
            <a:r>
              <a:t>Projected height error vs GSD (RMSE, m)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 GSD conditioning</c:v>
                </c:pt>
              </c:strCache>
            </c:strRef>
          </c:tx>
          <c:spPr>
            <a:solidFill>
              <a:srgbClr val="2068AA"/>
            </a:solidFill>
            <a:ln w="22225">
              <a:solidFill>
                <a:srgbClr val="2068AA"/>
              </a:solidFill>
            </a:ln>
          </c:spPr>
          <c:cat>
            <c:strRef>
              <c:f>Sheet1!$A$2:$A$6</c:f>
              <c:strCache>
                <c:ptCount val="5"/>
                <c:pt idx="0">
                  <c:v>0.3 m</c:v>
                </c:pt>
                <c:pt idx="1">
                  <c:v>0.5 m</c:v>
                </c:pt>
                <c:pt idx="2">
                  <c:v>1.0 m</c:v>
                </c:pt>
                <c:pt idx="3">
                  <c:v>2.0 m</c:v>
                </c:pt>
                <c:pt idx="4">
                  <c:v>5.0 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1.8</c:v>
                </c:pt>
                <c:pt idx="1">
                  <c:v>2.0</c:v>
                </c:pt>
                <c:pt idx="2">
                  <c:v>2.4</c:v>
                </c:pt>
                <c:pt idx="3">
                  <c:v>3.1</c:v>
                </c:pt>
                <c:pt idx="4">
                  <c:v>4.3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Without conditioning</c:v>
                </c:pt>
              </c:strCache>
            </c:strRef>
          </c:tx>
          <c:spPr>
            <a:solidFill>
              <a:srgbClr val="D2742D"/>
            </a:solidFill>
            <a:ln w="22225">
              <a:solidFill>
                <a:srgbClr val="D2742D"/>
              </a:solidFill>
            </a:ln>
          </c:spPr>
          <c:cat>
            <c:strRef>
              <c:f>Sheet1!$A$2:$A$6</c:f>
              <c:strCache>
                <c:ptCount val="5"/>
                <c:pt idx="0">
                  <c:v>0.3 m</c:v>
                </c:pt>
                <c:pt idx="1">
                  <c:v>0.5 m</c:v>
                </c:pt>
                <c:pt idx="2">
                  <c:v>1.0 m</c:v>
                </c:pt>
                <c:pt idx="3">
                  <c:v>2.0 m</c:v>
                </c:pt>
                <c:pt idx="4">
                  <c:v>5.0 m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1.9</c:v>
                </c:pt>
                <c:pt idx="1">
                  <c:v>2.6</c:v>
                </c:pt>
                <c:pt idx="2">
                  <c:v>3.8</c:v>
                </c:pt>
                <c:pt idx="3">
                  <c:v>5.4</c:v>
                </c:pt>
                <c:pt idx="4">
                  <c:v>7.6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DE3EA"/>
            </a:solidFill>
          </a:ln>
        </c:spPr>
        <c:txPr>
          <a:bodyPr/>
          <a:lstStyle/>
          <a:p>
            <a:pPr>
              <a:defRPr sz="700">
                <a:solidFill>
                  <a:srgbClr val="5C6878"/>
                </a:solidFill>
                <a:latin typeface="Apto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DDE3EA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600">
                <a:solidFill>
                  <a:srgbClr val="5C6878"/>
                </a:solidFill>
                <a:latin typeface="Aptos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700">
              <a:solidFill>
                <a:srgbClr val="5C6878"/>
              </a:solidFill>
              <a:latin typeface="Apto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700">
          <a:solidFill>
            <a:srgbClr val="5C6878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solidFill>
                  <a:srgbClr val="228989"/>
                </a:solidFill>
                <a:latin typeface="Aptos"/>
              </a:defRPr>
            </a:pPr>
            <a:r>
              <a:t>Est. inference time / 1024x1024 tile (s)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228989"/>
            </a:solidFill>
          </c:spPr>
          <c:cat>
            <c:strRef>
              <c:f>Sheet1!$A$2:$A$4</c:f>
              <c:strCache>
                <c:ptCount val="3"/>
                <c:pt idx="0">
                  <c:v>GPU
(CUDA)</c:v>
                </c:pt>
                <c:pt idx="1">
                  <c:v>CPU
(ONNX)</c:v>
                </c:pt>
                <c:pt idx="2">
                  <c:v>CPU
(PyTorch)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</c:v>
                </c:pt>
                <c:pt idx="1">
                  <c:v>2.1</c:v>
                </c:pt>
                <c:pt idx="2">
                  <c:v>6.8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 b="1">
                  <a:solidFill>
                    <a:srgbClr val="5C6878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DE3EA"/>
            </a:solidFill>
          </a:ln>
        </c:spPr>
        <c:txPr>
          <a:bodyPr/>
          <a:lstStyle/>
          <a:p>
            <a:pPr>
              <a:defRPr sz="700">
                <a:solidFill>
                  <a:srgbClr val="5C6878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DE3EA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600">
                <a:solidFill>
                  <a:srgbClr val="5C6878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700">
          <a:solidFill>
            <a:srgbClr val="5C6878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solidFill>
                  <a:srgbClr val="45885C"/>
                </a:solidFill>
                <a:latin typeface="Aptos"/>
              </a:defRPr>
            </a:pPr>
            <a:r>
              <a:t>Est. training cost (GPU-hours)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GPU-hours</c:v>
                </c:pt>
              </c:strCache>
            </c:strRef>
          </c:tx>
          <c:spPr>
            <a:solidFill>
              <a:srgbClr val="45885C"/>
            </a:solidFill>
          </c:spPr>
          <c:cat>
            <c:strRef>
              <c:f>Sheet1!$A$2:$A$4</c:f>
              <c:strCache>
                <c:ptCount val="3"/>
                <c:pt idx="0">
                  <c:v>Full
fine-tune</c:v>
                </c:pt>
                <c:pt idx="1">
                  <c:v>Partial
unfreeze</c:v>
                </c:pt>
                <c:pt idx="2">
                  <c:v>Frozen
backbone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45</c:v>
                </c:pt>
                <c:pt idx="2">
                  <c:v>18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 b="1">
                  <a:solidFill>
                    <a:srgbClr val="5C6878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DE3EA"/>
            </a:solidFill>
          </a:ln>
        </c:spPr>
        <c:txPr>
          <a:bodyPr/>
          <a:lstStyle/>
          <a:p>
            <a:pPr>
              <a:defRPr sz="700">
                <a:solidFill>
                  <a:srgbClr val="5C6878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DE3EA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600">
                <a:solidFill>
                  <a:srgbClr val="5C6878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700">
          <a:solidFill>
            <a:srgbClr val="5C6878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900" b="1">
                <a:solidFill>
                  <a:srgbClr val="D2742D"/>
                </a:solidFill>
                <a:latin typeface="Aptos"/>
              </a:defRPr>
            </a:pPr>
            <a:r>
              <a:t>Est. share of height uncertainty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2068AA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28989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45885C"/>
              </a:solidFill>
              <a:ln w="1270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2742D"/>
              </a:solidFill>
              <a:ln w="1270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5C6878"/>
              </a:solidFill>
              <a:ln w="12700"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GSD variation</c:v>
                </c:pt>
                <c:pt idx="1">
                  <c:v>Monocular ambiguity</c:v>
                </c:pt>
                <c:pt idx="2">
                  <c:v>DEM / datum offset</c:v>
                </c:pt>
                <c:pt idx="3">
                  <c:v>Tile blending seams</c:v>
                </c:pt>
                <c:pt idx="4">
                  <c:v>Sensor &amp; atmospheric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</c:v>
                </c:pt>
                <c:pt idx="1">
                  <c:v>0.25</c:v>
                </c:pt>
                <c:pt idx="2">
                  <c:v>0.2</c:v>
                </c:pt>
                <c:pt idx="3">
                  <c:v>0.15</c:v>
                </c:pt>
                <c:pt idx="4">
                  <c:v>0.1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50" b="1">
                  <a:solidFill>
                    <a:srgbClr val="FFFFFF"/>
                  </a:solidFill>
                  <a:latin typeface="Aptos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700">
              <a:solidFill>
                <a:srgbClr val="5C6878"/>
              </a:solidFill>
              <a:latin typeface="Aptos"/>
            </a:defRPr>
          </a:pPr>
        </a:p>
      </c:txPr>
    </c:legend>
    <c:dispBlanksAs val="gap"/>
  </c:chart>
  <c:txPr>
    <a:bodyPr/>
    <a:lstStyle/>
    <a:p>
      <a:pPr>
        <a:defRPr sz="700">
          <a:solidFill>
            <a:srgbClr val="5C6878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solidFill>
                  <a:srgbClr val="2068AA"/>
                </a:solidFill>
                <a:latin typeface="Aptos"/>
              </a:defRPr>
            </a:pPr>
            <a:r>
              <a:t>Validation targets: height accuracy by terrain class  (ICESat-2 / DEM reference)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RMSE (m)</c:v>
                </c:pt>
              </c:strCache>
            </c:strRef>
          </c:tx>
          <c:spPr>
            <a:solidFill>
              <a:srgbClr val="2068AA"/>
            </a:solidFill>
          </c:spPr>
          <c:cat>
            <c:strRef>
              <c:f>Sheet1!$A$2:$A$5</c:f>
              <c:strCache>
                <c:ptCount val="4"/>
                <c:pt idx="0">
                  <c:v>Flat urban</c:v>
                </c:pt>
                <c:pt idx="1">
                  <c:v>Dense urban</c:v>
                </c:pt>
                <c:pt idx="2">
                  <c:v>Vegetated</c:v>
                </c:pt>
                <c:pt idx="3">
                  <c:v>Hilly / mixed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1.9</c:v>
                </c:pt>
                <c:pt idx="1">
                  <c:v>3.2</c:v>
                </c:pt>
                <c:pt idx="2">
                  <c:v>4.1</c:v>
                </c:pt>
                <c:pt idx="3">
                  <c:v>3.6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MAE (m)</c:v>
                </c:pt>
              </c:strCache>
            </c:strRef>
          </c:tx>
          <c:spPr>
            <a:solidFill>
              <a:srgbClr val="228989"/>
            </a:solidFill>
          </c:spPr>
          <c:cat>
            <c:strRef>
              <c:f>Sheet1!$A$2:$A$5</c:f>
              <c:strCache>
                <c:ptCount val="4"/>
                <c:pt idx="0">
                  <c:v>Flat urban</c:v>
                </c:pt>
                <c:pt idx="1">
                  <c:v>Dense urban</c:v>
                </c:pt>
                <c:pt idx="2">
                  <c:v>Vegetated</c:v>
                </c:pt>
                <c:pt idx="3">
                  <c:v>Hilly / mixed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1.2</c:v>
                </c:pt>
                <c:pt idx="1">
                  <c:v>2.1</c:v>
                </c:pt>
                <c:pt idx="2">
                  <c:v>2.8</c:v>
                </c:pt>
                <c:pt idx="3">
                  <c:v>2.4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700" b="1">
                  <a:solidFill>
                    <a:srgbClr val="5C6878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DE3EA"/>
            </a:solidFill>
          </a:ln>
        </c:spPr>
        <c:txPr>
          <a:bodyPr/>
          <a:lstStyle/>
          <a:p>
            <a:pPr>
              <a:defRPr sz="800">
                <a:solidFill>
                  <a:srgbClr val="5C6878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DE3EA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600">
                <a:solidFill>
                  <a:srgbClr val="5C6878"/>
                </a:solidFill>
                <a:latin typeface="Aptos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>
              <a:solidFill>
                <a:srgbClr val="5C6878"/>
              </a:solidFill>
              <a:latin typeface="Aptos"/>
            </a:defRPr>
          </a:pPr>
        </a:p>
      </c:txPr>
    </c:legend>
    <c:dispBlanksAs val="gap"/>
  </c:chart>
  <c:txPr>
    <a:bodyPr/>
    <a:lstStyle/>
    <a:p>
      <a:pPr>
        <a:defRPr sz="800">
          <a:solidFill>
            <a:srgbClr val="5C6878"/>
          </a:solidFill>
          <a:latin typeface="Apto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chart" Target="../charts/chart1.xml"/><Relationship Id="rId6" Type="http://schemas.openxmlformats.org/officeDocument/2006/relationships/chart" Target="../charts/chart2.xml"/><Relationship Id="rId7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ts val="0"/>
              </a:spcBef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924457" y="179716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791440" y="648614"/>
            <a:ext cx="965200" cy="1752600"/>
          </a:xfrm>
        </p:spPr>
        <p:txBody>
          <a:bodyPr wrap="square" lIns="38100" tIns="19050" rIns="3810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 wrap="square" lIns="38100" tIns="19050" rIns="38100" bIns="1905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dirty="0">
                <a:solidFill>
                  <a:srgbClr val="17273A"/>
                </a:solidFill>
                <a:latin typeface="Aptos Display"/>
              </a:rPr>
              <a:t>SMART INDIA HACKATHON 2026</a:t>
            </a:r>
            <a:endParaRPr lang="en-IN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2566" y="1916902"/>
            <a:ext cx="5924550" cy="3577903"/>
          </a:xfrm>
          <a:prstGeom prst="rect">
            <a:avLst/>
          </a:prstGeom>
          <a:noFill/>
        </p:spPr>
        <p:txBody>
          <a:bodyPr wrap="square" lIns="38100" tIns="19050" rIns="38100" bIns="19050" rtlCol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500">
                <a:solidFill>
                  <a:srgbClr val="232B36"/>
                </a:solidFill>
              </a:defRPr>
            </a:pPr>
            <a:r>
              <a:rPr sz="2000" b="1" i="0" dirty="0">
                <a:solidFill>
                  <a:srgbClr val="17273A"/>
                </a:solidFill>
                <a:latin typeface="Aptos"/>
              </a:rPr>
              <a:t>Problem Statement ID - </a:t>
            </a:r>
            <a:r>
              <a:rPr sz="2000" b="0" i="0" dirty="0">
                <a:solidFill>
                  <a:srgbClr val="24313F"/>
                </a:solidFill>
                <a:latin typeface="Aptos"/>
              </a:rPr>
              <a:t>SIH26175</a:t>
            </a:r>
            <a:endParaRPr lang="en-US" sz="2000" b="0" i="0" dirty="0">
              <a:solidFill>
                <a:srgbClr val="24313F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500">
                <a:solidFill>
                  <a:srgbClr val="232B36"/>
                </a:solidFill>
              </a:defRPr>
            </a:pPr>
            <a:endParaRPr sz="500" b="0" i="0" dirty="0">
              <a:solidFill>
                <a:srgbClr val="24313F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500">
                <a:solidFill>
                  <a:srgbClr val="232B36"/>
                </a:solidFill>
              </a:defRPr>
            </a:pPr>
            <a:r>
              <a:rPr sz="2000" b="1" i="0" dirty="0">
                <a:solidFill>
                  <a:srgbClr val="17273A"/>
                </a:solidFill>
                <a:latin typeface="Aptos"/>
              </a:rPr>
              <a:t>Problem Statement Title - </a:t>
            </a:r>
            <a:r>
              <a:rPr sz="2000" b="0" i="0" dirty="0">
                <a:solidFill>
                  <a:srgbClr val="24313F"/>
                </a:solidFill>
                <a:latin typeface="Aptos"/>
              </a:rPr>
              <a:t>Single-View Height Estimation and 3D Flythrough</a:t>
            </a:r>
            <a:endParaRPr lang="en-US" sz="2000" b="0" i="0" dirty="0">
              <a:solidFill>
                <a:srgbClr val="24313F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500">
                <a:solidFill>
                  <a:srgbClr val="232B36"/>
                </a:solidFill>
              </a:defRPr>
            </a:pPr>
            <a:endParaRPr sz="500" b="0" i="0" dirty="0">
              <a:solidFill>
                <a:srgbClr val="24313F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500">
                <a:solidFill>
                  <a:srgbClr val="232B36"/>
                </a:solidFill>
              </a:defRPr>
            </a:pPr>
            <a:r>
              <a:rPr sz="2000" b="1" i="0" dirty="0">
                <a:solidFill>
                  <a:srgbClr val="17273A"/>
                </a:solidFill>
                <a:latin typeface="Aptos"/>
              </a:rPr>
              <a:t>Theme - </a:t>
            </a:r>
            <a:r>
              <a:rPr sz="2000" b="0" i="0" dirty="0">
                <a:solidFill>
                  <a:srgbClr val="24313F"/>
                </a:solidFill>
                <a:latin typeface="Aptos"/>
              </a:rPr>
              <a:t>Disaster Management</a:t>
            </a:r>
            <a:endParaRPr lang="en-US" sz="2000" b="0" i="0" dirty="0">
              <a:solidFill>
                <a:srgbClr val="24313F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500">
                <a:solidFill>
                  <a:srgbClr val="232B36"/>
                </a:solidFill>
              </a:defRPr>
            </a:pPr>
            <a:endParaRPr sz="500" b="0" i="0" dirty="0">
              <a:solidFill>
                <a:srgbClr val="24313F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500">
                <a:solidFill>
                  <a:srgbClr val="232B36"/>
                </a:solidFill>
              </a:defRPr>
            </a:pPr>
            <a:r>
              <a:rPr sz="2000" b="1" i="0" dirty="0">
                <a:solidFill>
                  <a:srgbClr val="17273A"/>
                </a:solidFill>
                <a:latin typeface="Aptos"/>
              </a:rPr>
              <a:t>PS Category </a:t>
            </a:r>
            <a:r>
              <a:rPr lang="en-IN" sz="2000" b="1" i="0" dirty="0">
                <a:solidFill>
                  <a:srgbClr val="17273A"/>
                </a:solidFill>
                <a:latin typeface="Aptos"/>
              </a:rPr>
              <a:t>–</a:t>
            </a:r>
            <a:r>
              <a:rPr sz="2000" b="1" i="0" dirty="0">
                <a:solidFill>
                  <a:srgbClr val="17273A"/>
                </a:solidFill>
                <a:latin typeface="Aptos"/>
              </a:rPr>
              <a:t> </a:t>
            </a:r>
            <a:r>
              <a:rPr sz="2000" b="0" i="0" dirty="0">
                <a:solidFill>
                  <a:srgbClr val="24313F"/>
                </a:solidFill>
                <a:latin typeface="Aptos"/>
              </a:rPr>
              <a:t>Software</a:t>
            </a:r>
            <a:endParaRPr lang="en-US" sz="2000" b="0" i="0" dirty="0">
              <a:solidFill>
                <a:srgbClr val="24313F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500">
                <a:solidFill>
                  <a:srgbClr val="232B36"/>
                </a:solidFill>
              </a:defRPr>
            </a:pPr>
            <a:endParaRPr sz="500" b="0" i="0" dirty="0">
              <a:solidFill>
                <a:srgbClr val="24313F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500">
                <a:solidFill>
                  <a:srgbClr val="232B36"/>
                </a:solidFill>
              </a:defRPr>
            </a:pPr>
            <a:r>
              <a:rPr sz="2000" b="1" i="0" dirty="0">
                <a:solidFill>
                  <a:srgbClr val="17273A"/>
                </a:solidFill>
                <a:latin typeface="Aptos"/>
              </a:rPr>
              <a:t>Team ID - </a:t>
            </a:r>
            <a:r>
              <a:rPr sz="2000" b="0" i="0" dirty="0">
                <a:solidFill>
                  <a:srgbClr val="24313F"/>
                </a:solidFill>
                <a:latin typeface="Aptos"/>
              </a:rPr>
              <a:t>[Registered Team ID]</a:t>
            </a:r>
            <a:endParaRPr lang="en-US" sz="2000" b="0" i="0" dirty="0">
              <a:solidFill>
                <a:srgbClr val="24313F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500">
                <a:solidFill>
                  <a:srgbClr val="232B36"/>
                </a:solidFill>
              </a:defRPr>
            </a:pPr>
            <a:endParaRPr sz="500" b="0" i="0" dirty="0">
              <a:solidFill>
                <a:srgbClr val="24313F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500">
                <a:solidFill>
                  <a:srgbClr val="232B36"/>
                </a:solidFill>
              </a:defRPr>
            </a:pPr>
            <a:r>
              <a:rPr sz="2000" b="1" i="0" dirty="0">
                <a:solidFill>
                  <a:srgbClr val="17273A"/>
                </a:solidFill>
                <a:latin typeface="Aptos"/>
              </a:rPr>
              <a:t>Team Name (Registered on portal) - </a:t>
            </a:r>
            <a:r>
              <a:rPr sz="2000" b="0" i="0" dirty="0" err="1">
                <a:solidFill>
                  <a:srgbClr val="24313F"/>
                </a:solidFill>
                <a:latin typeface="Aptos"/>
              </a:rPr>
              <a:t>TerraVista_iitrpr</a:t>
            </a:r>
            <a:endParaRPr lang="en-US" sz="2000" b="0" i="0" dirty="0">
              <a:solidFill>
                <a:srgbClr val="24313F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500">
                <a:solidFill>
                  <a:srgbClr val="232B36"/>
                </a:solidFill>
              </a:defRPr>
            </a:pPr>
            <a:endParaRPr sz="500" b="0" i="0" dirty="0">
              <a:solidFill>
                <a:srgbClr val="24313F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500">
                <a:solidFill>
                  <a:srgbClr val="232B36"/>
                </a:solidFill>
              </a:defRPr>
            </a:pPr>
            <a:r>
              <a:rPr sz="2000" b="1" i="0" dirty="0">
                <a:solidFill>
                  <a:srgbClr val="17273A"/>
                </a:solidFill>
                <a:latin typeface="Aptos"/>
              </a:rPr>
              <a:t>Idea Title - </a:t>
            </a:r>
            <a:r>
              <a:rPr sz="2000" b="0" i="0" dirty="0" err="1">
                <a:solidFill>
                  <a:srgbClr val="24313F"/>
                </a:solidFill>
                <a:latin typeface="Aptos"/>
              </a:rPr>
              <a:t>DepthWizard</a:t>
            </a:r>
            <a:endParaRPr sz="2000" b="0" i="0" dirty="0">
              <a:solidFill>
                <a:srgbClr val="24313F"/>
              </a:solidFill>
              <a:latin typeface="Aptos"/>
            </a:endParaRPr>
          </a:p>
        </p:txBody>
      </p:sp>
      <p:pic>
        <p:nvPicPr>
          <p:cNvPr id="38" name="Picture 37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1366" y="6297"/>
            <a:ext cx="2209120" cy="11228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3" name="Rounded Rectangle 15392"/>
          <p:cNvSpPr/>
          <p:nvPr/>
        </p:nvSpPr>
        <p:spPr>
          <a:xfrm>
            <a:off x="6108192" y="2724912"/>
            <a:ext cx="5440680" cy="181965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89" name="Rounded Rectangle 15388"/>
          <p:cNvSpPr/>
          <p:nvPr/>
        </p:nvSpPr>
        <p:spPr>
          <a:xfrm>
            <a:off x="594360" y="2715768"/>
            <a:ext cx="5321808" cy="1828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lIns="38100" tIns="19050" rIns="38100" bIns="19050" anchor="ctr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500" b="1" i="0" dirty="0">
                <a:solidFill>
                  <a:srgbClr val="17273A"/>
                </a:solidFill>
                <a:latin typeface="Aptos Display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lIns="38100" tIns="19050" rIns="38100" bIns="1905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5362" name="TextBox 15361"/>
          <p:cNvSpPr txBox="1"/>
          <p:nvPr/>
        </p:nvSpPr>
        <p:spPr>
          <a:xfrm>
            <a:off x="502920" y="1087298"/>
            <a:ext cx="11064240" cy="33086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30" b="1">
                <a:solidFill>
                  <a:srgbClr val="152742"/>
                </a:solidFill>
              </a:defRPr>
            </a:pPr>
            <a:r>
              <a:rPr sz="1900" b="1" i="0" dirty="0" err="1">
                <a:solidFill>
                  <a:srgbClr val="17273A"/>
                </a:solidFill>
                <a:latin typeface="Aptos"/>
              </a:rPr>
              <a:t>DepthWizard</a:t>
            </a:r>
            <a:r>
              <a:rPr lang="en-US" sz="1900" b="1" dirty="0">
                <a:solidFill>
                  <a:srgbClr val="17273A"/>
                </a:solidFill>
                <a:latin typeface="Aptos"/>
              </a:rPr>
              <a:t>: </a:t>
            </a:r>
            <a:r>
              <a:rPr sz="1900" b="1" i="0" dirty="0">
                <a:solidFill>
                  <a:srgbClr val="17273A"/>
                </a:solidFill>
                <a:latin typeface="Aptos"/>
              </a:rPr>
              <a:t>From One Satellite Image to Measurable 3D Terrain Intelligence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502920" y="1572768"/>
            <a:ext cx="215798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64" name="Rounded Rectangle 15363"/>
          <p:cNvSpPr/>
          <p:nvPr/>
        </p:nvSpPr>
        <p:spPr>
          <a:xfrm>
            <a:off x="502920" y="1572768"/>
            <a:ext cx="2157984" cy="283464"/>
          </a:xfrm>
          <a:prstGeom prst="roundRect">
            <a:avLst/>
          </a:prstGeom>
          <a:solidFill>
            <a:srgbClr val="2068AA"/>
          </a:solidFill>
          <a:ln w="12700"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65" name="TextBox 15364"/>
          <p:cNvSpPr txBox="1"/>
          <p:nvPr/>
        </p:nvSpPr>
        <p:spPr>
          <a:xfrm>
            <a:off x="594360" y="1600200"/>
            <a:ext cx="1975103" cy="22860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280" b="1" i="0">
                <a:solidFill>
                  <a:srgbClr val="FFFFFF"/>
                </a:solidFill>
                <a:latin typeface="Aptos"/>
              </a:rPr>
              <a:t>INPUT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566928" y="1938528"/>
            <a:ext cx="2029968" cy="393192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90" b="1">
                <a:solidFill>
                  <a:srgbClr val="232B36"/>
                </a:solidFill>
              </a:defRPr>
            </a:pPr>
            <a:r>
              <a:rPr sz="1340" b="1" i="0">
                <a:solidFill>
                  <a:srgbClr val="24313F"/>
                </a:solidFill>
                <a:latin typeface="Aptos"/>
              </a:rPr>
              <a:t>Single RGB</a:t>
            </a:r>
            <a:br/>
            <a:r>
              <a:rPr sz="1340" b="1" i="0">
                <a:solidFill>
                  <a:srgbClr val="24313F"/>
                </a:solidFill>
                <a:latin typeface="Aptos"/>
              </a:rPr>
              <a:t>satellite image</a:t>
            </a:r>
          </a:p>
        </p:txBody>
      </p:sp>
      <p:sp>
        <p:nvSpPr>
          <p:cNvPr id="15367" name="Right Arrow 15366"/>
          <p:cNvSpPr/>
          <p:nvPr/>
        </p:nvSpPr>
        <p:spPr>
          <a:xfrm>
            <a:off x="2688336" y="1847088"/>
            <a:ext cx="283464" cy="292608"/>
          </a:xfrm>
          <a:prstGeom prst="rightArrow">
            <a:avLst/>
          </a:prstGeom>
          <a:solidFill>
            <a:srgbClr val="5C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68" name="Rounded Rectangle 15367"/>
          <p:cNvSpPr/>
          <p:nvPr/>
        </p:nvSpPr>
        <p:spPr>
          <a:xfrm>
            <a:off x="2807208" y="1572768"/>
            <a:ext cx="215798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69" name="Rounded Rectangle 15368"/>
          <p:cNvSpPr/>
          <p:nvPr/>
        </p:nvSpPr>
        <p:spPr>
          <a:xfrm>
            <a:off x="2807208" y="1572768"/>
            <a:ext cx="2157984" cy="283464"/>
          </a:xfrm>
          <a:prstGeom prst="roundRect">
            <a:avLst/>
          </a:prstGeom>
          <a:solidFill>
            <a:srgbClr val="228989"/>
          </a:solidFill>
          <a:ln w="12700">
            <a:solidFill>
              <a:srgbClr val="22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70" name="TextBox 15369"/>
          <p:cNvSpPr txBox="1"/>
          <p:nvPr/>
        </p:nvSpPr>
        <p:spPr>
          <a:xfrm>
            <a:off x="2898648" y="1600200"/>
            <a:ext cx="1975103" cy="22860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280" b="1" i="0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2871216" y="1938528"/>
            <a:ext cx="2029968" cy="393192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90" b="1">
                <a:solidFill>
                  <a:srgbClr val="232B36"/>
                </a:solidFill>
              </a:defRPr>
            </a:pPr>
            <a:r>
              <a:rPr sz="1340" b="1" i="0">
                <a:solidFill>
                  <a:srgbClr val="24313F"/>
                </a:solidFill>
                <a:latin typeface="Aptos"/>
              </a:rPr>
              <a:t>Height-above-ground</a:t>
            </a:r>
            <a:br/>
            <a:r>
              <a:rPr sz="1340" b="1" i="0">
                <a:solidFill>
                  <a:srgbClr val="24313F"/>
                </a:solidFill>
                <a:latin typeface="Aptos"/>
              </a:rPr>
              <a:t>estimation</a:t>
            </a:r>
          </a:p>
        </p:txBody>
      </p:sp>
      <p:sp>
        <p:nvSpPr>
          <p:cNvPr id="15372" name="Right Arrow 15371"/>
          <p:cNvSpPr/>
          <p:nvPr/>
        </p:nvSpPr>
        <p:spPr>
          <a:xfrm>
            <a:off x="4992624" y="1847088"/>
            <a:ext cx="283464" cy="292608"/>
          </a:xfrm>
          <a:prstGeom prst="rightArrow">
            <a:avLst/>
          </a:prstGeom>
          <a:solidFill>
            <a:srgbClr val="5C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73" name="Rounded Rectangle 15372"/>
          <p:cNvSpPr/>
          <p:nvPr/>
        </p:nvSpPr>
        <p:spPr>
          <a:xfrm>
            <a:off x="5111496" y="1572768"/>
            <a:ext cx="215798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58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74" name="Rounded Rectangle 15373"/>
          <p:cNvSpPr/>
          <p:nvPr/>
        </p:nvSpPr>
        <p:spPr>
          <a:xfrm>
            <a:off x="5111496" y="1572768"/>
            <a:ext cx="2157984" cy="283464"/>
          </a:xfrm>
          <a:prstGeom prst="roundRect">
            <a:avLst/>
          </a:prstGeom>
          <a:solidFill>
            <a:srgbClr val="45885C"/>
          </a:solidFill>
          <a:ln w="12700">
            <a:solidFill>
              <a:srgbClr val="458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75" name="TextBox 15374"/>
          <p:cNvSpPr txBox="1"/>
          <p:nvPr/>
        </p:nvSpPr>
        <p:spPr>
          <a:xfrm>
            <a:off x="5202936" y="1600200"/>
            <a:ext cx="1975103" cy="22860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280" b="1" i="0">
                <a:solidFill>
                  <a:srgbClr val="FFFFFF"/>
                </a:solidFill>
                <a:latin typeface="Aptos"/>
              </a:rPr>
              <a:t>CALIBRATE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5175504" y="1938528"/>
            <a:ext cx="2029968" cy="393192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90" b="1">
                <a:solidFill>
                  <a:srgbClr val="232B36"/>
                </a:solidFill>
              </a:defRPr>
            </a:pPr>
            <a:r>
              <a:rPr sz="1340" b="1" i="0">
                <a:solidFill>
                  <a:srgbClr val="24313F"/>
                </a:solidFill>
                <a:latin typeface="Aptos"/>
              </a:rPr>
              <a:t>DEM / terrain</a:t>
            </a:r>
            <a:br/>
            <a:r>
              <a:rPr sz="1340" b="1" i="0">
                <a:solidFill>
                  <a:srgbClr val="24313F"/>
                </a:solidFill>
                <a:latin typeface="Aptos"/>
              </a:rPr>
              <a:t>context</a:t>
            </a:r>
          </a:p>
        </p:txBody>
      </p:sp>
      <p:sp>
        <p:nvSpPr>
          <p:cNvPr id="15377" name="Right Arrow 15376"/>
          <p:cNvSpPr/>
          <p:nvPr/>
        </p:nvSpPr>
        <p:spPr>
          <a:xfrm>
            <a:off x="7296912" y="1847088"/>
            <a:ext cx="283464" cy="292608"/>
          </a:xfrm>
          <a:prstGeom prst="rightArrow">
            <a:avLst/>
          </a:prstGeom>
          <a:solidFill>
            <a:srgbClr val="5C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78" name="Rounded Rectangle 15377"/>
          <p:cNvSpPr/>
          <p:nvPr/>
        </p:nvSpPr>
        <p:spPr>
          <a:xfrm>
            <a:off x="7415783" y="1572768"/>
            <a:ext cx="215798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79" name="Rounded Rectangle 15378"/>
          <p:cNvSpPr/>
          <p:nvPr/>
        </p:nvSpPr>
        <p:spPr>
          <a:xfrm>
            <a:off x="7415783" y="1572768"/>
            <a:ext cx="2157984" cy="283464"/>
          </a:xfrm>
          <a:prstGeom prst="roundRect">
            <a:avLst/>
          </a:prstGeom>
          <a:solidFill>
            <a:srgbClr val="2068AA"/>
          </a:solidFill>
          <a:ln w="12700"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80" name="TextBox 15379"/>
          <p:cNvSpPr txBox="1"/>
          <p:nvPr/>
        </p:nvSpPr>
        <p:spPr>
          <a:xfrm>
            <a:off x="7507223" y="1600200"/>
            <a:ext cx="1975103" cy="22860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280" b="1" i="0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7479792" y="1938528"/>
            <a:ext cx="2029968" cy="393192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90" b="1">
                <a:solidFill>
                  <a:srgbClr val="232B36"/>
                </a:solidFill>
              </a:defRPr>
            </a:pPr>
            <a:r>
              <a:rPr sz="1340" b="1" i="0">
                <a:solidFill>
                  <a:srgbClr val="24313F"/>
                </a:solidFill>
                <a:latin typeface="Aptos"/>
              </a:rPr>
              <a:t>3D terrain +</a:t>
            </a:r>
            <a:br/>
            <a:r>
              <a:rPr sz="1340" b="1" i="0">
                <a:solidFill>
                  <a:srgbClr val="24313F"/>
                </a:solidFill>
                <a:latin typeface="Aptos"/>
              </a:rPr>
              <a:t>height products</a:t>
            </a:r>
          </a:p>
        </p:txBody>
      </p:sp>
      <p:sp>
        <p:nvSpPr>
          <p:cNvPr id="15382" name="Right Arrow 15381"/>
          <p:cNvSpPr/>
          <p:nvPr/>
        </p:nvSpPr>
        <p:spPr>
          <a:xfrm>
            <a:off x="9601200" y="1847088"/>
            <a:ext cx="283464" cy="292608"/>
          </a:xfrm>
          <a:prstGeom prst="rightArrow">
            <a:avLst/>
          </a:prstGeom>
          <a:solidFill>
            <a:srgbClr val="5C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83" name="Rounded Rectangle 15382"/>
          <p:cNvSpPr/>
          <p:nvPr/>
        </p:nvSpPr>
        <p:spPr>
          <a:xfrm>
            <a:off x="9720072" y="1572768"/>
            <a:ext cx="215798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84" name="Rounded Rectangle 15383"/>
          <p:cNvSpPr/>
          <p:nvPr/>
        </p:nvSpPr>
        <p:spPr>
          <a:xfrm>
            <a:off x="9720072" y="1572768"/>
            <a:ext cx="2157984" cy="283464"/>
          </a:xfrm>
          <a:prstGeom prst="roundRect">
            <a:avLst/>
          </a:prstGeom>
          <a:solidFill>
            <a:srgbClr val="D2742D"/>
          </a:solidFill>
          <a:ln w="12700">
            <a:solidFill>
              <a:srgbClr val="D2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85" name="TextBox 15384"/>
          <p:cNvSpPr txBox="1"/>
          <p:nvPr/>
        </p:nvSpPr>
        <p:spPr>
          <a:xfrm>
            <a:off x="9811511" y="1600200"/>
            <a:ext cx="1975103" cy="22860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280" b="1" i="0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9784080" y="1938528"/>
            <a:ext cx="2029968" cy="393192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90" b="1">
                <a:solidFill>
                  <a:srgbClr val="232B36"/>
                </a:solidFill>
              </a:defRPr>
            </a:pPr>
            <a:r>
              <a:rPr sz="1340" b="1" i="0">
                <a:solidFill>
                  <a:srgbClr val="24313F"/>
                </a:solidFill>
                <a:latin typeface="Aptos"/>
              </a:rPr>
              <a:t>Flood / slope /</a:t>
            </a:r>
            <a:br/>
            <a:r>
              <a:rPr sz="1340" b="1" i="0">
                <a:solidFill>
                  <a:srgbClr val="24313F"/>
                </a:solidFill>
                <a:latin typeface="Aptos"/>
              </a:rPr>
              <a:t>affected structures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594360" y="2688336"/>
            <a:ext cx="5321808" cy="301752"/>
          </a:xfrm>
          <a:prstGeom prst="roundRect">
            <a:avLst/>
          </a:prstGeom>
          <a:solidFill>
            <a:srgbClr val="2068AA"/>
          </a:solidFill>
          <a:ln w="12700"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88" name="TextBox 15387"/>
          <p:cNvSpPr txBox="1"/>
          <p:nvPr/>
        </p:nvSpPr>
        <p:spPr>
          <a:xfrm>
            <a:off x="685800" y="2715768"/>
            <a:ext cx="5138928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280" b="1" i="0">
                <a:solidFill>
                  <a:srgbClr val="FFFFFF"/>
                </a:solidFill>
                <a:latin typeface="Aptos"/>
              </a:rPr>
              <a:t>HOW IT ADDRESSES THE PROBLEM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795528" y="3235960"/>
            <a:ext cx="4919472" cy="100584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defRPr sz="1055">
                <a:solidFill>
                  <a:srgbClr val="232B36"/>
                </a:solidFill>
              </a:defRPr>
            </a:pPr>
            <a:r>
              <a:rPr sz="1190" dirty="0"/>
              <a:t>• Single optical image is the primary input.</a:t>
            </a:r>
          </a:p>
          <a:p>
            <a:pPr>
              <a:spcBef>
                <a:spcPts val="0"/>
              </a:spcBef>
              <a:spcAft>
                <a:spcPts val="150"/>
              </a:spcAft>
            </a:pPr>
            <a:r>
              <a:rPr sz="1190" dirty="0"/>
              <a:t>• Generates height and terrain products without a new stereo/LiDAR survey for every use case.</a:t>
            </a:r>
          </a:p>
          <a:p>
            <a:pPr>
              <a:spcBef>
                <a:spcPts val="0"/>
              </a:spcBef>
              <a:spcAft>
                <a:spcPts val="150"/>
              </a:spcAft>
            </a:pPr>
            <a:r>
              <a:rPr sz="1190" dirty="0"/>
              <a:t>• PNG/JPG → relative DSM; </a:t>
            </a:r>
            <a:r>
              <a:rPr sz="1190" dirty="0" err="1"/>
              <a:t>GeoTIFF</a:t>
            </a:r>
            <a:r>
              <a:rPr sz="1190" dirty="0"/>
              <a:t> → metric geospatial DSM after calibration.</a:t>
            </a:r>
          </a:p>
          <a:p>
            <a:pPr>
              <a:spcBef>
                <a:spcPts val="0"/>
              </a:spcBef>
              <a:spcAft>
                <a:spcPts val="150"/>
              </a:spcAft>
            </a:pPr>
            <a:r>
              <a:rPr sz="1190" dirty="0"/>
              <a:t>• Standard </a:t>
            </a:r>
            <a:r>
              <a:rPr sz="1190" dirty="0" err="1"/>
              <a:t>GeoTIFF</a:t>
            </a:r>
            <a:r>
              <a:rPr sz="1190" dirty="0"/>
              <a:t> outputs support rapid analysis and offline/standalone use.</a:t>
            </a:r>
          </a:p>
        </p:txBody>
      </p:sp>
      <p:sp>
        <p:nvSpPr>
          <p:cNvPr id="15391" name="Rounded Rectangle 15390"/>
          <p:cNvSpPr/>
          <p:nvPr/>
        </p:nvSpPr>
        <p:spPr>
          <a:xfrm>
            <a:off x="6108192" y="2688336"/>
            <a:ext cx="5440680" cy="301752"/>
          </a:xfrm>
          <a:prstGeom prst="roundRect">
            <a:avLst/>
          </a:prstGeom>
          <a:solidFill>
            <a:srgbClr val="D2742D"/>
          </a:solidFill>
          <a:ln w="12700">
            <a:solidFill>
              <a:srgbClr val="D2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92" name="TextBox 15391"/>
          <p:cNvSpPr txBox="1"/>
          <p:nvPr/>
        </p:nvSpPr>
        <p:spPr>
          <a:xfrm>
            <a:off x="6199631" y="2715768"/>
            <a:ext cx="5257800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280" b="1" i="0">
                <a:solidFill>
                  <a:srgbClr val="FFFFFF"/>
                </a:solidFill>
                <a:latin typeface="Aptos"/>
              </a:rPr>
              <a:t>WHY DEPTHWIZARD IS DIFFERENT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6309360" y="3205480"/>
            <a:ext cx="5029200" cy="100584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defRPr sz="1055">
                <a:solidFill>
                  <a:srgbClr val="232B36"/>
                </a:solidFill>
              </a:defRPr>
            </a:pPr>
            <a:r>
              <a:rPr sz="1190" dirty="0"/>
              <a:t>• Satellite-native AI rather than a ground-image-only depth approach.</a:t>
            </a:r>
          </a:p>
          <a:p>
            <a:pPr>
              <a:spcBef>
                <a:spcPts val="0"/>
              </a:spcBef>
              <a:spcAft>
                <a:spcPts val="150"/>
              </a:spcAft>
            </a:pPr>
            <a:r>
              <a:rPr sz="1190" dirty="0"/>
              <a:t>• Height-above-ground (</a:t>
            </a:r>
            <a:r>
              <a:rPr sz="1190" dirty="0" err="1"/>
              <a:t>nDSM</a:t>
            </a:r>
            <a:r>
              <a:rPr sz="1190" dirty="0"/>
              <a:t> / AGL) estimation with terrain calibration.</a:t>
            </a:r>
          </a:p>
          <a:p>
            <a:pPr>
              <a:spcBef>
                <a:spcPts val="0"/>
              </a:spcBef>
              <a:spcAft>
                <a:spcPts val="150"/>
              </a:spcAft>
            </a:pPr>
            <a:r>
              <a:rPr sz="1190" dirty="0"/>
              <a:t>• GSD-aware inference with uncertainty outputs, not just visual depth.</a:t>
            </a:r>
          </a:p>
          <a:p>
            <a:pPr>
              <a:spcBef>
                <a:spcPts val="0"/>
              </a:spcBef>
              <a:spcAft>
                <a:spcPts val="150"/>
              </a:spcAft>
            </a:pPr>
            <a:r>
              <a:rPr sz="1190" dirty="0"/>
              <a:t>• Integrated flood, slope/landslide, viewshed and affected-building tools.</a:t>
            </a:r>
          </a:p>
        </p:txBody>
      </p:sp>
      <p:sp>
        <p:nvSpPr>
          <p:cNvPr id="15395" name="Rounded Rectangle 15394"/>
          <p:cNvSpPr/>
          <p:nvPr/>
        </p:nvSpPr>
        <p:spPr>
          <a:xfrm>
            <a:off x="594360" y="4800600"/>
            <a:ext cx="10954512" cy="301752"/>
          </a:xfrm>
          <a:prstGeom prst="roundRect">
            <a:avLst/>
          </a:prstGeom>
          <a:solidFill>
            <a:srgbClr val="228989"/>
          </a:solidFill>
          <a:ln w="12700">
            <a:solidFill>
              <a:srgbClr val="22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96" name="TextBox 15395"/>
          <p:cNvSpPr txBox="1"/>
          <p:nvPr/>
        </p:nvSpPr>
        <p:spPr>
          <a:xfrm>
            <a:off x="685800" y="4828032"/>
            <a:ext cx="10771632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280" b="1" i="0">
                <a:solidFill>
                  <a:srgbClr val="FFFFFF"/>
                </a:solidFill>
                <a:latin typeface="Aptos"/>
              </a:rPr>
              <a:t>INNOVATION &amp; UNIQUENESS</a:t>
            </a:r>
          </a:p>
        </p:txBody>
      </p:sp>
      <p:sp>
        <p:nvSpPr>
          <p:cNvPr id="15397" name="Rounded Rectangle 15396"/>
          <p:cNvSpPr/>
          <p:nvPr/>
        </p:nvSpPr>
        <p:spPr>
          <a:xfrm>
            <a:off x="594360" y="5193792"/>
            <a:ext cx="257860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98" name="TextBox 15397"/>
          <p:cNvSpPr txBox="1"/>
          <p:nvPr/>
        </p:nvSpPr>
        <p:spPr>
          <a:xfrm>
            <a:off x="667512" y="5349240"/>
            <a:ext cx="2432304" cy="23774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>
              <a:spcBef>
                <a:spcPts val="0"/>
              </a:spcBef>
            </a:pPr>
            <a:r>
              <a:rPr sz="1230" b="1"/>
              <a:t>Satellite-native AI</a:t>
            </a:r>
          </a:p>
        </p:txBody>
      </p:sp>
      <p:sp>
        <p:nvSpPr>
          <p:cNvPr id="15399" name="Rounded Rectangle 15398"/>
          <p:cNvSpPr/>
          <p:nvPr/>
        </p:nvSpPr>
        <p:spPr>
          <a:xfrm>
            <a:off x="3355848" y="5193792"/>
            <a:ext cx="257860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400" name="TextBox 15399"/>
          <p:cNvSpPr txBox="1"/>
          <p:nvPr/>
        </p:nvSpPr>
        <p:spPr>
          <a:xfrm>
            <a:off x="3429000" y="5349240"/>
            <a:ext cx="2432304" cy="23774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>
              <a:spcBef>
                <a:spcPts val="0"/>
              </a:spcBef>
            </a:pPr>
            <a:r>
              <a:rPr sz="1230" b="1"/>
              <a:t>nDSM / AGL height</a:t>
            </a:r>
          </a:p>
        </p:txBody>
      </p:sp>
      <p:sp>
        <p:nvSpPr>
          <p:cNvPr id="15401" name="Rounded Rectangle 15400"/>
          <p:cNvSpPr/>
          <p:nvPr/>
        </p:nvSpPr>
        <p:spPr>
          <a:xfrm>
            <a:off x="6117336" y="5193792"/>
            <a:ext cx="257860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58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402" name="TextBox 15401"/>
          <p:cNvSpPr txBox="1"/>
          <p:nvPr/>
        </p:nvSpPr>
        <p:spPr>
          <a:xfrm>
            <a:off x="6190488" y="5349240"/>
            <a:ext cx="2432304" cy="23774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>
              <a:spcBef>
                <a:spcPts val="0"/>
              </a:spcBef>
            </a:pPr>
            <a:r>
              <a:rPr sz="1230" b="1"/>
              <a:t>GSD + uncertainty</a:t>
            </a:r>
          </a:p>
        </p:txBody>
      </p:sp>
      <p:sp>
        <p:nvSpPr>
          <p:cNvPr id="15403" name="Rounded Rectangle 15402"/>
          <p:cNvSpPr/>
          <p:nvPr/>
        </p:nvSpPr>
        <p:spPr>
          <a:xfrm>
            <a:off x="8878824" y="5193792"/>
            <a:ext cx="257860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404" name="TextBox 15403"/>
          <p:cNvSpPr txBox="1"/>
          <p:nvPr/>
        </p:nvSpPr>
        <p:spPr>
          <a:xfrm>
            <a:off x="8951976" y="5349240"/>
            <a:ext cx="2432304" cy="23774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>
              <a:spcBef>
                <a:spcPts val="0"/>
              </a:spcBef>
            </a:pPr>
            <a:r>
              <a:rPr sz="1230" b="1"/>
              <a:t>Disaster analytics</a:t>
            </a:r>
          </a:p>
        </p:txBody>
      </p:sp>
      <p:pic>
        <p:nvPicPr>
          <p:cNvPr id="15406" name="Picture 15405" descr="terravista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356616"/>
            <a:ext cx="347472" cy="347472"/>
          </a:xfrm>
          <a:prstGeom prst="rect">
            <a:avLst/>
          </a:prstGeom>
        </p:spPr>
      </p:pic>
      <p:sp>
        <p:nvSpPr>
          <p:cNvPr id="15407" name="TextBox 15406"/>
          <p:cNvSpPr txBox="1"/>
          <p:nvPr/>
        </p:nvSpPr>
        <p:spPr>
          <a:xfrm>
            <a:off x="740664" y="352044"/>
            <a:ext cx="9144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73A"/>
                </a:solidFill>
                <a:latin typeface="Aptos"/>
              </a:rPr>
              <a:t>TerraVista</a:t>
            </a:r>
          </a:p>
        </p:txBody>
      </p:sp>
      <p:pic>
        <p:nvPicPr>
          <p:cNvPr id="15408" name="Picture 15407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1366" y="57097"/>
            <a:ext cx="2209120" cy="11228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38100" tIns="19050" rIns="38100" bIns="19050" anchor="ctr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1" i="0" dirty="0">
                <a:solidFill>
                  <a:srgbClr val="17273A"/>
                </a:solidFill>
                <a:latin typeface="Aptos Display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lIns="38100" tIns="19050" rIns="38100" bIns="1905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410" name="TextBox 17409"/>
          <p:cNvSpPr txBox="1"/>
          <p:nvPr/>
        </p:nvSpPr>
        <p:spPr>
          <a:xfrm>
            <a:off x="634115" y="1078992"/>
            <a:ext cx="10972800" cy="32918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30" b="1">
                <a:solidFill>
                  <a:srgbClr val="152742"/>
                </a:solidFill>
              </a:defRPr>
            </a:pPr>
            <a:r>
              <a:rPr sz="1900" b="1" i="0">
                <a:solidFill>
                  <a:srgbClr val="17273A"/>
                </a:solidFill>
                <a:latin typeface="Aptos"/>
              </a:rPr>
              <a:t>Pipeline: From Pixels to Terrain Intelligence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94360" y="1600200"/>
            <a:ext cx="184708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6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600200"/>
            <a:ext cx="1847088" cy="265176"/>
          </a:xfrm>
          <a:prstGeom prst="roundRect">
            <a:avLst/>
          </a:prstGeom>
          <a:solidFill>
            <a:srgbClr val="2068AA"/>
          </a:solidFill>
          <a:ln w="12700">
            <a:solidFill>
              <a:srgbClr val="206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685800" y="1627632"/>
            <a:ext cx="1755648" cy="210311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80" b="1" i="0">
                <a:solidFill>
                  <a:srgbClr val="FFFFFF"/>
                </a:solidFill>
                <a:latin typeface="Aptos"/>
              </a:rPr>
              <a:t>INPUT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58368" y="1920584"/>
            <a:ext cx="1737360" cy="40164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9" b="1">
                <a:solidFill>
                  <a:srgbClr val="232B36"/>
                </a:solidFill>
              </a:defRPr>
            </a:pPr>
            <a:r>
              <a:rPr sz="1180" b="1" i="0" dirty="0">
                <a:solidFill>
                  <a:srgbClr val="24313F"/>
                </a:solidFill>
                <a:latin typeface="Aptos"/>
              </a:rPr>
              <a:t>RGB satellite</a:t>
            </a:r>
            <a:br>
              <a:rPr dirty="0"/>
            </a:br>
            <a:r>
              <a:rPr sz="1180" b="1" i="0" dirty="0">
                <a:solidFill>
                  <a:srgbClr val="24313F"/>
                </a:solidFill>
                <a:latin typeface="Aptos"/>
              </a:rPr>
              <a:t>image</a:t>
            </a:r>
          </a:p>
        </p:txBody>
      </p:sp>
      <p:sp>
        <p:nvSpPr>
          <p:cNvPr id="17415" name="Right Arrow 17414"/>
          <p:cNvSpPr/>
          <p:nvPr/>
        </p:nvSpPr>
        <p:spPr>
          <a:xfrm>
            <a:off x="2442928" y="1861238"/>
            <a:ext cx="192135" cy="256032"/>
          </a:xfrm>
          <a:prstGeom prst="rightArrow">
            <a:avLst/>
          </a:prstGeom>
          <a:solidFill>
            <a:srgbClr val="5C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6" name="Rounded Rectangle 17415"/>
          <p:cNvSpPr/>
          <p:nvPr/>
        </p:nvSpPr>
        <p:spPr>
          <a:xfrm>
            <a:off x="2633472" y="1600200"/>
            <a:ext cx="1860204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89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7" name="Rounded Rectangle 17416"/>
          <p:cNvSpPr/>
          <p:nvPr/>
        </p:nvSpPr>
        <p:spPr>
          <a:xfrm>
            <a:off x="2633472" y="1600200"/>
            <a:ext cx="1860204" cy="265176"/>
          </a:xfrm>
          <a:prstGeom prst="roundRect">
            <a:avLst/>
          </a:prstGeom>
          <a:solidFill>
            <a:srgbClr val="228989"/>
          </a:solidFill>
          <a:ln w="12700">
            <a:solidFill>
              <a:srgbClr val="2289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2724912" y="1627632"/>
            <a:ext cx="1755648" cy="210311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80" b="1" i="0">
                <a:solidFill>
                  <a:srgbClr val="FFFFFF"/>
                </a:solidFill>
                <a:latin typeface="Aptos"/>
              </a:rPr>
              <a:t>PREPROCESS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2697479" y="1920584"/>
            <a:ext cx="1737360" cy="40164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9" b="1">
                <a:solidFill>
                  <a:srgbClr val="232B36"/>
                </a:solidFill>
              </a:defRPr>
            </a:pPr>
            <a:r>
              <a:rPr sz="1180" b="1" i="0" dirty="0">
                <a:solidFill>
                  <a:srgbClr val="24313F"/>
                </a:solidFill>
                <a:latin typeface="Aptos"/>
              </a:rPr>
              <a:t>Metadata / GSD /</a:t>
            </a:r>
            <a:br>
              <a:rPr dirty="0"/>
            </a:br>
            <a:r>
              <a:rPr sz="1180" b="1" i="0" dirty="0">
                <a:solidFill>
                  <a:srgbClr val="24313F"/>
                </a:solidFill>
                <a:latin typeface="Aptos"/>
              </a:rPr>
              <a:t>tiling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4493676" y="1868556"/>
            <a:ext cx="222996" cy="256032"/>
          </a:xfrm>
          <a:prstGeom prst="rightArrow">
            <a:avLst/>
          </a:prstGeom>
          <a:solidFill>
            <a:srgbClr val="5C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1" name="Rounded Rectangle 17420"/>
          <p:cNvSpPr/>
          <p:nvPr/>
        </p:nvSpPr>
        <p:spPr>
          <a:xfrm>
            <a:off x="4704387" y="1600200"/>
            <a:ext cx="193852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58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2" name="Rounded Rectangle 17421"/>
          <p:cNvSpPr/>
          <p:nvPr/>
        </p:nvSpPr>
        <p:spPr>
          <a:xfrm>
            <a:off x="4704387" y="1600200"/>
            <a:ext cx="1938528" cy="265176"/>
          </a:xfrm>
          <a:prstGeom prst="roundRect">
            <a:avLst/>
          </a:prstGeom>
          <a:solidFill>
            <a:srgbClr val="45885C"/>
          </a:solidFill>
          <a:ln w="12700">
            <a:solidFill>
              <a:srgbClr val="458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4795827" y="1627632"/>
            <a:ext cx="1755648" cy="210311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80" b="1" i="0">
                <a:solidFill>
                  <a:srgbClr val="FFFFFF"/>
                </a:solidFill>
                <a:latin typeface="Aptos"/>
              </a:rPr>
              <a:t>AI MODEL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768396" y="1956816"/>
            <a:ext cx="1810512" cy="329184"/>
          </a:xfrm>
          <a:prstGeom prst="rect">
            <a:avLst/>
          </a:prstGeom>
          <a:noFill/>
        </p:spPr>
        <p:txBody>
          <a:bodyPr wrap="square" lIns="762" tIns="381" rIns="762" bIns="381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919" b="1">
                <a:solidFill>
                  <a:srgbClr val="232B36"/>
                </a:solidFill>
              </a:defRPr>
            </a:pPr>
            <a:r>
              <a:rPr sz="1050" b="1" i="0" dirty="0">
                <a:solidFill>
                  <a:srgbClr val="24313F"/>
                </a:solidFill>
                <a:latin typeface="+mn-lt"/>
              </a:rPr>
              <a:t>DINOv3 satellite encoder +</a:t>
            </a:r>
            <a:br>
              <a:rPr sz="1050" dirty="0">
                <a:latin typeface="+mn-lt"/>
              </a:rPr>
            </a:br>
            <a:r>
              <a:rPr sz="1050" b="1" i="0" dirty="0">
                <a:solidFill>
                  <a:srgbClr val="24313F"/>
                </a:solidFill>
                <a:latin typeface="+mn-lt"/>
              </a:rPr>
              <a:t>height decoder</a:t>
            </a:r>
          </a:p>
          <a:p>
            <a:pPr>
              <a:spcBef>
                <a:spcPts val="0"/>
              </a:spcBef>
              <a:spcAft>
                <a:spcPts val="150"/>
              </a:spcAft>
            </a:pPr>
            <a:r>
              <a:rPr sz="1050" b="1" dirty="0">
                <a:latin typeface="+mn-lt"/>
              </a:rPr>
              <a:t>CHMv2 / DPT height decoder</a:t>
            </a:r>
          </a:p>
        </p:txBody>
      </p:sp>
      <p:sp>
        <p:nvSpPr>
          <p:cNvPr id="17425" name="Right Arrow 17424"/>
          <p:cNvSpPr/>
          <p:nvPr/>
        </p:nvSpPr>
        <p:spPr>
          <a:xfrm>
            <a:off x="6642914" y="1892408"/>
            <a:ext cx="237745" cy="256032"/>
          </a:xfrm>
          <a:prstGeom prst="rightArrow">
            <a:avLst/>
          </a:prstGeom>
          <a:solidFill>
            <a:srgbClr val="5C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6" name="Rounded Rectangle 17425"/>
          <p:cNvSpPr/>
          <p:nvPr/>
        </p:nvSpPr>
        <p:spPr>
          <a:xfrm>
            <a:off x="6876091" y="1600200"/>
            <a:ext cx="181388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89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7" name="Rounded Rectangle 17426"/>
          <p:cNvSpPr/>
          <p:nvPr/>
        </p:nvSpPr>
        <p:spPr>
          <a:xfrm>
            <a:off x="6876091" y="1600200"/>
            <a:ext cx="1813888" cy="265176"/>
          </a:xfrm>
          <a:prstGeom prst="roundRect">
            <a:avLst/>
          </a:prstGeom>
          <a:solidFill>
            <a:srgbClr val="228989"/>
          </a:solidFill>
          <a:ln w="12700">
            <a:solidFill>
              <a:srgbClr val="2289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6955771" y="1622758"/>
            <a:ext cx="1642767" cy="22006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80" b="1" i="0">
                <a:solidFill>
                  <a:srgbClr val="FFFFFF"/>
                </a:solidFill>
                <a:latin typeface="Aptos"/>
              </a:rPr>
              <a:t>HEIGHT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931867" y="1912377"/>
            <a:ext cx="1694103" cy="418063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919" b="1">
                <a:solidFill>
                  <a:srgbClr val="232B36"/>
                </a:solidFill>
              </a:defRPr>
            </a:pPr>
            <a:r>
              <a:rPr sz="1150" dirty="0" err="1"/>
              <a:t>nDSM</a:t>
            </a:r>
            <a:r>
              <a:rPr sz="1150" dirty="0"/>
              <a:t> / AGL height +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1150" b="1" dirty="0"/>
              <a:t>uncertainty map</a:t>
            </a:r>
          </a:p>
        </p:txBody>
      </p:sp>
      <p:sp>
        <p:nvSpPr>
          <p:cNvPr id="17430" name="Right Arrow 17429"/>
          <p:cNvSpPr/>
          <p:nvPr/>
        </p:nvSpPr>
        <p:spPr>
          <a:xfrm>
            <a:off x="8701948" y="1868556"/>
            <a:ext cx="234876" cy="256032"/>
          </a:xfrm>
          <a:prstGeom prst="rightArrow">
            <a:avLst/>
          </a:prstGeom>
          <a:solidFill>
            <a:srgbClr val="5C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1" name="Rounded Rectangle 17430"/>
          <p:cNvSpPr/>
          <p:nvPr/>
        </p:nvSpPr>
        <p:spPr>
          <a:xfrm>
            <a:off x="8936824" y="1600200"/>
            <a:ext cx="1752511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6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2" name="Rounded Rectangle 17431"/>
          <p:cNvSpPr/>
          <p:nvPr/>
        </p:nvSpPr>
        <p:spPr>
          <a:xfrm>
            <a:off x="8936824" y="1600200"/>
            <a:ext cx="1752511" cy="265176"/>
          </a:xfrm>
          <a:prstGeom prst="roundRect">
            <a:avLst/>
          </a:prstGeom>
          <a:solidFill>
            <a:srgbClr val="2068AA"/>
          </a:solidFill>
          <a:ln w="12700">
            <a:solidFill>
              <a:srgbClr val="206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9010716" y="1622758"/>
            <a:ext cx="1587180" cy="22006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80" b="1" i="0">
                <a:solidFill>
                  <a:srgbClr val="FFFFFF"/>
                </a:solidFill>
                <a:latin typeface="Aptos"/>
              </a:rPr>
              <a:t>CALIBRATE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8988548" y="1920584"/>
            <a:ext cx="1636779" cy="40164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9" b="1">
                <a:solidFill>
                  <a:srgbClr val="232B36"/>
                </a:solidFill>
              </a:defRPr>
            </a:pPr>
            <a:r>
              <a:rPr sz="1180" b="1" i="0">
                <a:solidFill>
                  <a:srgbClr val="24313F"/>
                </a:solidFill>
                <a:latin typeface="Aptos"/>
              </a:rPr>
              <a:t>DEM fusion +</a:t>
            </a:r>
            <a:br/>
            <a:r>
              <a:rPr sz="1180" b="1" i="0">
                <a:solidFill>
                  <a:srgbClr val="24313F"/>
                </a:solidFill>
                <a:latin typeface="Aptos"/>
              </a:rPr>
              <a:t>terrain context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10927080" y="1600200"/>
            <a:ext cx="5943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7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6" name="TextBox 17435"/>
          <p:cNvSpPr txBox="1"/>
          <p:nvPr/>
        </p:nvSpPr>
        <p:spPr>
          <a:xfrm>
            <a:off x="10991088" y="1865376"/>
            <a:ext cx="466344" cy="23774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9" b="1">
                <a:solidFill>
                  <a:srgbClr val="D2742D"/>
                </a:solidFill>
              </a:defRPr>
            </a:pPr>
            <a:r>
              <a:rPr sz="950" b="1">
                <a:solidFill>
                  <a:srgbClr val="17273A"/>
                </a:solidFill>
                <a:latin typeface="Aptos"/>
              </a:rPr>
              <a:t>OUT
DSM + 3D</a:t>
            </a:r>
          </a:p>
        </p:txBody>
      </p:sp>
      <p:sp>
        <p:nvSpPr>
          <p:cNvPr id="17437" name="Right Arrow 17436"/>
          <p:cNvSpPr/>
          <p:nvPr/>
        </p:nvSpPr>
        <p:spPr>
          <a:xfrm>
            <a:off x="10689336" y="1892412"/>
            <a:ext cx="239336" cy="256032"/>
          </a:xfrm>
          <a:prstGeom prst="rightArrow">
            <a:avLst/>
          </a:prstGeom>
          <a:solidFill>
            <a:srgbClr val="D27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8" name="Rounded Rectangle 17437"/>
          <p:cNvSpPr/>
          <p:nvPr/>
        </p:nvSpPr>
        <p:spPr>
          <a:xfrm>
            <a:off x="594360" y="2697480"/>
            <a:ext cx="3566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9" name="Rounded Rectangle 17438"/>
          <p:cNvSpPr/>
          <p:nvPr/>
        </p:nvSpPr>
        <p:spPr>
          <a:xfrm>
            <a:off x="594360" y="2697480"/>
            <a:ext cx="3566160" cy="301752"/>
          </a:xfrm>
          <a:prstGeom prst="roundRect">
            <a:avLst/>
          </a:prstGeom>
          <a:solidFill>
            <a:srgbClr val="2068AA"/>
          </a:solidFill>
          <a:ln w="12700"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40" name="TextBox 17439"/>
          <p:cNvSpPr txBox="1"/>
          <p:nvPr/>
        </p:nvSpPr>
        <p:spPr>
          <a:xfrm>
            <a:off x="685800" y="2724912"/>
            <a:ext cx="3383279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80" b="1" i="0">
                <a:solidFill>
                  <a:srgbClr val="FFFFFF"/>
                </a:solidFill>
                <a:latin typeface="Aptos"/>
              </a:rPr>
              <a:t>AI / ML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795528" y="3063240"/>
            <a:ext cx="3163824" cy="100584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  <a:defRPr sz="1030">
                <a:solidFill>
                  <a:srgbClr val="232B36"/>
                </a:solidFill>
              </a:defRPr>
            </a:pPr>
            <a:r>
              <a:rPr sz="1090"/>
              <a:t>• PyTorch + Hugging Face</a:t>
            </a:r>
          </a:p>
          <a:p>
            <a:pPr>
              <a:spcBef>
                <a:spcPts val="0"/>
              </a:spcBef>
              <a:spcAft>
                <a:spcPts val="150"/>
              </a:spcAft>
            </a:pPr>
            <a:r>
              <a:rPr sz="1090"/>
              <a:t>• DINOv3 satellite-pretrained backbone</a:t>
            </a:r>
          </a:p>
          <a:p>
            <a:pPr>
              <a:spcBef>
                <a:spcPts val="0"/>
              </a:spcBef>
              <a:spcAft>
                <a:spcPts val="150"/>
              </a:spcAft>
            </a:pPr>
            <a:r>
              <a:rPr sz="1090"/>
              <a:t>• CHMv2 / DPT height decoder</a:t>
            </a:r>
          </a:p>
          <a:p>
            <a:pPr>
              <a:spcBef>
                <a:spcPts val="0"/>
              </a:spcBef>
              <a:spcAft>
                <a:spcPts val="150"/>
              </a:spcAft>
            </a:pPr>
            <a:r>
              <a:rPr sz="1090"/>
              <a:t>• GSD conditioning + TTA / Gaussian tile blending</a:t>
            </a:r>
          </a:p>
          <a:p>
            <a:pPr>
              <a:spcBef>
                <a:spcPts val="0"/>
              </a:spcBef>
              <a:spcAft>
                <a:spcPts val="150"/>
              </a:spcAft>
            </a:pPr>
            <a:r>
              <a:rPr sz="1090"/>
              <a:t>• ONNX Runtime for CPU inference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4407408" y="2697480"/>
            <a:ext cx="3566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43" name="Rounded Rectangle 17442"/>
          <p:cNvSpPr/>
          <p:nvPr/>
        </p:nvSpPr>
        <p:spPr>
          <a:xfrm>
            <a:off x="4407408" y="2697480"/>
            <a:ext cx="3566160" cy="301752"/>
          </a:xfrm>
          <a:prstGeom prst="roundRect">
            <a:avLst/>
          </a:prstGeom>
          <a:solidFill>
            <a:srgbClr val="228989"/>
          </a:solidFill>
          <a:ln w="12700">
            <a:solidFill>
              <a:srgbClr val="22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44" name="TextBox 17443"/>
          <p:cNvSpPr txBox="1"/>
          <p:nvPr/>
        </p:nvSpPr>
        <p:spPr>
          <a:xfrm>
            <a:off x="4498848" y="2724912"/>
            <a:ext cx="3383279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80" b="1" i="0">
                <a:solidFill>
                  <a:srgbClr val="FFFFFF"/>
                </a:solidFill>
                <a:latin typeface="Aptos"/>
              </a:rPr>
              <a:t>GEOSPATIAL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4608576" y="3063240"/>
            <a:ext cx="3163824" cy="100584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  <a:defRPr sz="1030">
                <a:solidFill>
                  <a:srgbClr val="232B36"/>
                </a:solidFill>
              </a:defRPr>
            </a:pPr>
            <a:r>
              <a:rPr sz="1090"/>
              <a:t>• GDAL, Rasterio, PyProj</a:t>
            </a:r>
          </a:p>
          <a:p>
            <a:pPr>
              <a:spcBef>
                <a:spcPts val="0"/>
              </a:spcBef>
              <a:spcAft>
                <a:spcPts val="150"/>
              </a:spcAft>
            </a:pPr>
            <a:r>
              <a:rPr sz="1090"/>
              <a:t>• GeoTIFF / float32 DSM processing</a:t>
            </a:r>
          </a:p>
          <a:p>
            <a:pPr>
              <a:spcBef>
                <a:spcPts val="0"/>
              </a:spcBef>
              <a:spcAft>
                <a:spcPts val="150"/>
              </a:spcAft>
            </a:pPr>
            <a:r>
              <a:rPr sz="1090"/>
              <a:t>• DEM fusion + datum correction</a:t>
            </a:r>
          </a:p>
          <a:p>
            <a:pPr>
              <a:spcBef>
                <a:spcPts val="0"/>
              </a:spcBef>
              <a:spcAft>
                <a:spcPts val="150"/>
              </a:spcAft>
            </a:pPr>
            <a:r>
              <a:rPr sz="1090"/>
              <a:t>• CartoDEM / SRTM / Copernicus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8220456" y="2697480"/>
            <a:ext cx="3328416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58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47" name="Rounded Rectangle 17446"/>
          <p:cNvSpPr/>
          <p:nvPr/>
        </p:nvSpPr>
        <p:spPr>
          <a:xfrm>
            <a:off x="8220456" y="2697480"/>
            <a:ext cx="3328416" cy="301752"/>
          </a:xfrm>
          <a:prstGeom prst="roundRect">
            <a:avLst/>
          </a:prstGeom>
          <a:solidFill>
            <a:srgbClr val="45885C"/>
          </a:solidFill>
          <a:ln w="12700">
            <a:solidFill>
              <a:srgbClr val="458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48" name="TextBox 17447"/>
          <p:cNvSpPr txBox="1"/>
          <p:nvPr/>
        </p:nvSpPr>
        <p:spPr>
          <a:xfrm>
            <a:off x="8311896" y="2724912"/>
            <a:ext cx="3145536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80" b="1" i="0">
                <a:solidFill>
                  <a:srgbClr val="FFFFFF"/>
                </a:solidFill>
                <a:latin typeface="Aptos"/>
              </a:rPr>
              <a:t>APPLICATION &amp; OUTPUTS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8421624" y="3063240"/>
            <a:ext cx="2907792" cy="100584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  <a:defRPr sz="1030">
                <a:solidFill>
                  <a:srgbClr val="232B36"/>
                </a:solidFill>
              </a:defRPr>
            </a:pPr>
            <a:r>
              <a:rPr sz="1030"/>
              <a:t>• GeoTIFF DSM + relative height outputs</a:t>
            </a:r>
          </a:p>
          <a:p>
            <a:pPr>
              <a:spcBef>
                <a:spcPts val="0"/>
              </a:spcBef>
              <a:spcAft>
                <a:spcPts val="150"/>
              </a:spcAft>
            </a:pPr>
            <a:r>
              <a:rPr sz="1030"/>
              <a:t>• glTF / GLB 3D model + terrain tiles</a:t>
            </a:r>
          </a:p>
          <a:p>
            <a:pPr>
              <a:spcBef>
                <a:spcPts val="0"/>
              </a:spcBef>
              <a:spcAft>
                <a:spcPts val="150"/>
              </a:spcAft>
            </a:pPr>
            <a:r>
              <a:rPr sz="1030"/>
              <a:t>• React + Three.js / WebGL viewer</a:t>
            </a:r>
          </a:p>
          <a:p>
            <a:pPr>
              <a:spcBef>
                <a:spcPts val="0"/>
              </a:spcBef>
              <a:spcAft>
                <a:spcPts val="150"/>
              </a:spcAft>
            </a:pPr>
            <a:r>
              <a:rPr sz="1030"/>
              <a:t>• Flood / slope / viewshed analysis</a:t>
            </a:r>
          </a:p>
          <a:p>
            <a:pPr>
              <a:spcBef>
                <a:spcPts val="0"/>
              </a:spcBef>
              <a:spcAft>
                <a:spcPts val="150"/>
              </a:spcAft>
            </a:pPr>
            <a:r>
              <a:rPr sz="1030"/>
              <a:t>• FastAPI / REST / CLI + Tauri desktop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731520" y="5870448"/>
            <a:ext cx="10835640" cy="29260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152742"/>
                </a:solidFill>
              </a:defRPr>
            </a:pPr>
            <a:r>
              <a:rPr sz="1600" b="1"/>
              <a:t>Modular AI + geospatial processing + interactive visualization  •  Validation: RMSE / MAE + ICESat-2</a:t>
            </a:r>
          </a:p>
        </p:txBody>
      </p:sp>
      <p:pic>
        <p:nvPicPr>
          <p:cNvPr id="17452" name="Picture 17451" descr="terravista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356616"/>
            <a:ext cx="347472" cy="347472"/>
          </a:xfrm>
          <a:prstGeom prst="rect">
            <a:avLst/>
          </a:prstGeom>
        </p:spPr>
      </p:pic>
      <p:sp>
        <p:nvSpPr>
          <p:cNvPr id="17453" name="TextBox 17452"/>
          <p:cNvSpPr txBox="1"/>
          <p:nvPr/>
        </p:nvSpPr>
        <p:spPr>
          <a:xfrm>
            <a:off x="740664" y="352044"/>
            <a:ext cx="9144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73A"/>
                </a:solidFill>
                <a:latin typeface="Aptos"/>
              </a:rPr>
              <a:t>TerraVista</a:t>
            </a:r>
          </a:p>
        </p:txBody>
      </p:sp>
      <p:pic>
        <p:nvPicPr>
          <p:cNvPr id="17454" name="Picture 17453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1366" y="57097"/>
            <a:ext cx="2209120" cy="1122868"/>
          </a:xfrm>
          <a:prstGeom prst="rect">
            <a:avLst/>
          </a:prstGeom>
        </p:spPr>
      </p:pic>
      <p:graphicFrame>
        <p:nvGraphicFramePr>
          <p:cNvPr id="17455" name="Chart 17454"/>
          <p:cNvGraphicFramePr>
            <a:graphicFrameLocks noGrp="1"/>
          </p:cNvGraphicFramePr>
          <p:nvPr/>
        </p:nvGraphicFramePr>
        <p:xfrm>
          <a:off x="594360" y="4187952"/>
          <a:ext cx="3520440" cy="1572768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7456" name="Chart 17455"/>
          <p:cNvGraphicFramePr>
            <a:graphicFrameLocks noGrp="1"/>
          </p:cNvGraphicFramePr>
          <p:nvPr/>
        </p:nvGraphicFramePr>
        <p:xfrm>
          <a:off x="4315968" y="4187952"/>
          <a:ext cx="3520440" cy="1572768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7457" name="Chart 17456"/>
          <p:cNvGraphicFramePr>
            <a:graphicFrameLocks noGrp="1"/>
          </p:cNvGraphicFramePr>
          <p:nvPr/>
        </p:nvGraphicFramePr>
        <p:xfrm>
          <a:off x="8037575" y="4187952"/>
          <a:ext cx="3520440" cy="1572768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38100" tIns="19050" rIns="38100" bIns="19050" anchor="ctr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1" i="0" dirty="0">
                <a:solidFill>
                  <a:srgbClr val="17273A"/>
                </a:solidFill>
                <a:latin typeface="Aptos Display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lIns="38100" tIns="19050" rIns="38100" bIns="19050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0" name="TextBox 17409"/>
          <p:cNvSpPr txBox="1"/>
          <p:nvPr/>
        </p:nvSpPr>
        <p:spPr>
          <a:xfrm>
            <a:off x="594360" y="1078992"/>
            <a:ext cx="10972800" cy="32918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0" b="1">
                <a:solidFill>
                  <a:srgbClr val="152742"/>
                </a:solidFill>
              </a:defRPr>
            </a:pPr>
            <a:r>
              <a:rPr sz="1900" b="1" i="0">
                <a:solidFill>
                  <a:srgbClr val="17273A"/>
                </a:solidFill>
                <a:latin typeface="Aptos"/>
              </a:rPr>
              <a:t>Grounded in Open Data, Modular Software and Practical Deployment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94360" y="1536192"/>
            <a:ext cx="5303520" cy="301752"/>
          </a:xfrm>
          <a:prstGeom prst="roundRect">
            <a:avLst/>
          </a:prstGeom>
          <a:solidFill>
            <a:srgbClr val="2068AA"/>
          </a:solidFill>
          <a:ln w="12700"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685800" y="1563624"/>
            <a:ext cx="5120640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80" b="1" i="0">
                <a:solidFill>
                  <a:srgbClr val="FFFFFF"/>
                </a:solidFill>
                <a:latin typeface="Aptos"/>
              </a:rPr>
              <a:t>FEASIBILITY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94360" y="1874519"/>
            <a:ext cx="5303520" cy="135331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795528" y="2112264"/>
            <a:ext cx="4919472" cy="96012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50"/>
              </a:spcAft>
              <a:defRPr sz="1045">
                <a:solidFill>
                  <a:srgbClr val="232B36"/>
                </a:solidFill>
              </a:defRPr>
            </a:pPr>
            <a:r>
              <a:rPr sz="1090"/>
              <a:t>• Established open-source AI/geospatial stack.</a:t>
            </a:r>
          </a:p>
          <a:p>
            <a:pPr>
              <a:spcBef>
                <a:spcPts val="0"/>
              </a:spcBef>
              <a:spcAft>
                <a:spcPts val="150"/>
              </a:spcAft>
            </a:pPr>
            <a:r>
              <a:rPr sz="1090"/>
              <a:t>• DFC2019 / US3D and GAMUS provide development and validation starting points.</a:t>
            </a:r>
          </a:p>
          <a:p>
            <a:pPr>
              <a:spcBef>
                <a:spcPts val="0"/>
              </a:spcBef>
              <a:spcAft>
                <a:spcPts val="150"/>
              </a:spcAft>
            </a:pPr>
            <a:r>
              <a:rPr sz="1090"/>
              <a:t>• Frozen backbone keeps training cost and memory requirements low; fine-tune on a modern/cloud GPU.</a:t>
            </a:r>
          </a:p>
          <a:p>
            <a:pPr>
              <a:spcBef>
                <a:spcPts val="0"/>
              </a:spcBef>
              <a:spcAft>
                <a:spcPts val="150"/>
              </a:spcAft>
            </a:pPr>
            <a:r>
              <a:rPr sz="1090"/>
              <a:t>• Tiling + optimized inference support large satellite imagery.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099048" y="1536192"/>
            <a:ext cx="5449824" cy="301752"/>
          </a:xfrm>
          <a:prstGeom prst="roundRect">
            <a:avLst/>
          </a:prstGeom>
          <a:solidFill>
            <a:srgbClr val="228989"/>
          </a:solidFill>
          <a:ln w="12700">
            <a:solidFill>
              <a:srgbClr val="22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6190488" y="1563624"/>
            <a:ext cx="526694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80" b="1" i="0">
                <a:solidFill>
                  <a:srgbClr val="FFFFFF"/>
                </a:solidFill>
                <a:latin typeface="Aptos"/>
              </a:rPr>
              <a:t>VIABILITY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099048" y="1874519"/>
            <a:ext cx="5449824" cy="135331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6300216" y="2112264"/>
            <a:ext cx="5029200" cy="96012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50"/>
              </a:spcAft>
              <a:defRPr sz="1045">
                <a:solidFill>
                  <a:srgbClr val="232B36"/>
                </a:solidFill>
              </a:defRPr>
            </a:pPr>
            <a:r>
              <a:rPr sz="1090"/>
              <a:t>• Modular pipeline permits model upgrades without rewriting the app.</a:t>
            </a:r>
          </a:p>
          <a:p>
            <a:pPr>
              <a:spcBef>
                <a:spcPts val="0"/>
              </a:spcBef>
              <a:spcAft>
                <a:spcPts val="150"/>
              </a:spcAft>
            </a:pPr>
            <a:r>
              <a:rPr sz="1090"/>
              <a:t>• Standard GeoTIFF output fits existing GIS workflows.</a:t>
            </a:r>
          </a:p>
          <a:p>
            <a:pPr>
              <a:spcBef>
                <a:spcPts val="0"/>
              </a:spcBef>
              <a:spcAft>
                <a:spcPts val="150"/>
              </a:spcAft>
            </a:pPr>
            <a:r>
              <a:rPr sz="1090"/>
              <a:t>• ONNX Runtime + Tauri enable CPU-based standalone offline deployment.</a:t>
            </a:r>
          </a:p>
          <a:p>
            <a:pPr>
              <a:spcBef>
                <a:spcPts val="0"/>
              </a:spcBef>
              <a:spcAft>
                <a:spcPts val="150"/>
              </a:spcAft>
            </a:pPr>
            <a:r>
              <a:rPr sz="1090"/>
              <a:t>• Compatible fallback monocular-depth model reduces model-weight availability risk.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594360" y="3456432"/>
            <a:ext cx="4572000" cy="256032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52742"/>
                </a:solidFill>
              </a:defRPr>
            </a:pPr>
            <a:r>
              <a:rPr sz="1180" b="1" i="0">
                <a:solidFill>
                  <a:srgbClr val="17273A"/>
                </a:solidFill>
                <a:latin typeface="Aptos"/>
              </a:rPr>
              <a:t>CHALLENGE → RISK → MITIGATION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94360" y="3776472"/>
            <a:ext cx="1874519" cy="301752"/>
          </a:xfrm>
          <a:prstGeom prst="roundRect">
            <a:avLst/>
          </a:prstGeom>
          <a:solidFill>
            <a:srgbClr val="2068AA"/>
          </a:solidFill>
          <a:ln w="12700"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685800" y="3803904"/>
            <a:ext cx="174650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80" b="1" i="0">
                <a:solidFill>
                  <a:srgbClr val="FFFFFF"/>
                </a:solidFill>
                <a:latin typeface="Aptos"/>
              </a:rPr>
              <a:t>CHALLENGE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2514600" y="3776472"/>
            <a:ext cx="2011680" cy="301752"/>
          </a:xfrm>
          <a:prstGeom prst="roundRect">
            <a:avLst/>
          </a:prstGeom>
          <a:solidFill>
            <a:srgbClr val="5C6878"/>
          </a:solidFill>
          <a:ln w="12700">
            <a:solidFill>
              <a:srgbClr val="5C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2606040" y="3803904"/>
            <a:ext cx="188366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80" b="1" i="0">
                <a:solidFill>
                  <a:srgbClr val="FFFFFF"/>
                </a:solidFill>
                <a:latin typeface="Aptos"/>
              </a:rPr>
              <a:t>RISK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572000" y="3776472"/>
            <a:ext cx="3154680" cy="301752"/>
          </a:xfrm>
          <a:prstGeom prst="roundRect">
            <a:avLst/>
          </a:prstGeom>
          <a:solidFill>
            <a:srgbClr val="45885C"/>
          </a:solidFill>
          <a:ln w="12700">
            <a:solidFill>
              <a:srgbClr val="458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5" name="TextBox 17424"/>
          <p:cNvSpPr txBox="1"/>
          <p:nvPr/>
        </p:nvSpPr>
        <p:spPr>
          <a:xfrm>
            <a:off x="4663440" y="3803904"/>
            <a:ext cx="302666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80" b="1" i="0">
                <a:solidFill>
                  <a:srgbClr val="FFFFFF"/>
                </a:solidFill>
                <a:latin typeface="Aptos"/>
              </a:rPr>
              <a:t>MITIGATION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594360" y="4114800"/>
            <a:ext cx="1874519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7" name="TextBox 17426"/>
          <p:cNvSpPr txBox="1"/>
          <p:nvPr/>
        </p:nvSpPr>
        <p:spPr>
          <a:xfrm>
            <a:off x="658368" y="4165091"/>
            <a:ext cx="174650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0">
                <a:solidFill>
                  <a:srgbClr val="232B36"/>
                </a:solidFill>
              </a:defRPr>
            </a:pPr>
            <a:r>
              <a:rPr sz="1050" b="0" i="0">
                <a:solidFill>
                  <a:srgbClr val="24313F"/>
                </a:solidFill>
                <a:latin typeface="Aptos"/>
              </a:rPr>
              <a:t>Varying GSD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2514600" y="4114800"/>
            <a:ext cx="201168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2578608" y="4165091"/>
            <a:ext cx="188366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0">
                <a:solidFill>
                  <a:srgbClr val="232B36"/>
                </a:solidFill>
              </a:defRPr>
            </a:pPr>
            <a:r>
              <a:rPr sz="1050" b="0" i="0">
                <a:solidFill>
                  <a:srgbClr val="24313F"/>
                </a:solidFill>
                <a:latin typeface="Aptos"/>
              </a:rPr>
              <a:t>Inconsistent estimates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4572000" y="4114800"/>
            <a:ext cx="315468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1" name="TextBox 17430"/>
          <p:cNvSpPr txBox="1"/>
          <p:nvPr/>
        </p:nvSpPr>
        <p:spPr>
          <a:xfrm>
            <a:off x="4636008" y="4165091"/>
            <a:ext cx="302666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1">
                <a:solidFill>
                  <a:srgbClr val="232B36"/>
                </a:solidFill>
              </a:defRPr>
            </a:pPr>
            <a:r>
              <a:rPr sz="1050" b="0" i="0">
                <a:solidFill>
                  <a:srgbClr val="24313F"/>
                </a:solidFill>
                <a:latin typeface="Aptos"/>
              </a:rPr>
              <a:t>GSD conditioning + multi-resolution training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594360" y="4498848"/>
            <a:ext cx="1874519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658368" y="4549140"/>
            <a:ext cx="174650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0">
                <a:solidFill>
                  <a:srgbClr val="232B36"/>
                </a:solidFill>
              </a:defRPr>
            </a:pPr>
            <a:r>
              <a:rPr sz="1050" b="0" i="0">
                <a:solidFill>
                  <a:srgbClr val="24313F"/>
                </a:solidFill>
                <a:latin typeface="Aptos"/>
              </a:rPr>
              <a:t>Monocular ambiguity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2514600" y="4498848"/>
            <a:ext cx="201168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5" name="TextBox 17434"/>
          <p:cNvSpPr txBox="1"/>
          <p:nvPr/>
        </p:nvSpPr>
        <p:spPr>
          <a:xfrm>
            <a:off x="2578608" y="4549140"/>
            <a:ext cx="188366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0">
                <a:solidFill>
                  <a:srgbClr val="232B36"/>
                </a:solidFill>
              </a:defRPr>
            </a:pPr>
            <a:r>
              <a:rPr sz="1050" b="0" i="0">
                <a:solidFill>
                  <a:srgbClr val="24313F"/>
                </a:solidFill>
                <a:latin typeface="Aptos"/>
              </a:rPr>
              <a:t>Uncertain absolute height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4572000" y="4498848"/>
            <a:ext cx="315468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7" name="TextBox 17436"/>
          <p:cNvSpPr txBox="1"/>
          <p:nvPr/>
        </p:nvSpPr>
        <p:spPr>
          <a:xfrm>
            <a:off x="4636008" y="4549140"/>
            <a:ext cx="302666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1">
                <a:solidFill>
                  <a:srgbClr val="232B36"/>
                </a:solidFill>
              </a:defRPr>
            </a:pPr>
            <a:r>
              <a:rPr sz="1050" b="0" i="0">
                <a:solidFill>
                  <a:srgbClr val="24313F"/>
                </a:solidFill>
                <a:latin typeface="Aptos"/>
              </a:rPr>
              <a:t>nDSM / AGL prediction + terrain calibration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594360" y="4882896"/>
            <a:ext cx="1874519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9" name="TextBox 17438"/>
          <p:cNvSpPr txBox="1"/>
          <p:nvPr/>
        </p:nvSpPr>
        <p:spPr>
          <a:xfrm>
            <a:off x="658368" y="4933188"/>
            <a:ext cx="174650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0">
                <a:solidFill>
                  <a:srgbClr val="232B36"/>
                </a:solidFill>
              </a:defRPr>
            </a:pPr>
            <a:r>
              <a:rPr sz="1050" b="0" i="0">
                <a:solidFill>
                  <a:srgbClr val="24313F"/>
                </a:solidFill>
                <a:latin typeface="Aptos"/>
              </a:rPr>
              <a:t>Sparse reference data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2514600" y="4882896"/>
            <a:ext cx="201168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41" name="TextBox 17440"/>
          <p:cNvSpPr txBox="1"/>
          <p:nvPr/>
        </p:nvSpPr>
        <p:spPr>
          <a:xfrm>
            <a:off x="2578608" y="4933188"/>
            <a:ext cx="188366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0">
                <a:solidFill>
                  <a:srgbClr val="232B36"/>
                </a:solidFill>
              </a:defRPr>
            </a:pPr>
            <a:r>
              <a:rPr sz="1050" b="0" i="0">
                <a:solidFill>
                  <a:srgbClr val="24313F"/>
                </a:solidFill>
                <a:latin typeface="Aptos"/>
              </a:rPr>
              <a:t>Limited validation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4572000" y="4882896"/>
            <a:ext cx="315468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43" name="TextBox 17442"/>
          <p:cNvSpPr txBox="1"/>
          <p:nvPr/>
        </p:nvSpPr>
        <p:spPr>
          <a:xfrm>
            <a:off x="4636008" y="4933188"/>
            <a:ext cx="302666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1">
                <a:solidFill>
                  <a:srgbClr val="232B36"/>
                </a:solidFill>
              </a:defRPr>
            </a:pPr>
            <a:r>
              <a:rPr sz="1050" b="0" i="0">
                <a:solidFill>
                  <a:srgbClr val="24313F"/>
                </a:solidFill>
                <a:latin typeface="Aptos"/>
              </a:rPr>
              <a:t>Multiple datasets + ICESat-2 validation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594360" y="5266944"/>
            <a:ext cx="1874519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45" name="TextBox 17444"/>
          <p:cNvSpPr txBox="1"/>
          <p:nvPr/>
        </p:nvSpPr>
        <p:spPr>
          <a:xfrm>
            <a:off x="658368" y="5317236"/>
            <a:ext cx="174650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0">
                <a:solidFill>
                  <a:srgbClr val="232B36"/>
                </a:solidFill>
              </a:defRPr>
            </a:pPr>
            <a:r>
              <a:rPr sz="1050" b="0" i="0">
                <a:solidFill>
                  <a:srgbClr val="24313F"/>
                </a:solidFill>
                <a:latin typeface="Aptos"/>
              </a:rPr>
              <a:t>Large imagery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2514600" y="5266944"/>
            <a:ext cx="201168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47" name="TextBox 17446"/>
          <p:cNvSpPr txBox="1"/>
          <p:nvPr/>
        </p:nvSpPr>
        <p:spPr>
          <a:xfrm>
            <a:off x="2578608" y="5317236"/>
            <a:ext cx="188366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0">
                <a:solidFill>
                  <a:srgbClr val="232B36"/>
                </a:solidFill>
              </a:defRPr>
            </a:pPr>
            <a:r>
              <a:rPr sz="1050" b="0" i="0">
                <a:solidFill>
                  <a:srgbClr val="24313F"/>
                </a:solidFill>
                <a:latin typeface="Aptos"/>
              </a:rPr>
              <a:t>Memory limits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4572000" y="5266944"/>
            <a:ext cx="315468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49" name="TextBox 17448"/>
          <p:cNvSpPr txBox="1"/>
          <p:nvPr/>
        </p:nvSpPr>
        <p:spPr>
          <a:xfrm>
            <a:off x="4636008" y="5317236"/>
            <a:ext cx="302666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1">
                <a:solidFill>
                  <a:srgbClr val="232B36"/>
                </a:solidFill>
              </a:defRPr>
            </a:pPr>
            <a:r>
              <a:rPr sz="1050" b="0" i="0">
                <a:solidFill>
                  <a:srgbClr val="24313F"/>
                </a:solidFill>
                <a:latin typeface="Aptos"/>
              </a:rPr>
              <a:t>Overlapping tiles + efficient blending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594360" y="5650992"/>
            <a:ext cx="1874519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51" name="TextBox 17450"/>
          <p:cNvSpPr txBox="1"/>
          <p:nvPr/>
        </p:nvSpPr>
        <p:spPr>
          <a:xfrm>
            <a:off x="658368" y="5701283"/>
            <a:ext cx="174650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0">
                <a:solidFill>
                  <a:srgbClr val="232B36"/>
                </a:solidFill>
              </a:defRPr>
            </a:pPr>
            <a:r>
              <a:rPr sz="1050" b="0" i="0">
                <a:solidFill>
                  <a:srgbClr val="24313F"/>
                </a:solidFill>
                <a:latin typeface="Aptos"/>
              </a:rPr>
              <a:t>Limited GPU / internet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2514600" y="5650992"/>
            <a:ext cx="201168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53" name="TextBox 17452"/>
          <p:cNvSpPr txBox="1"/>
          <p:nvPr/>
        </p:nvSpPr>
        <p:spPr>
          <a:xfrm>
            <a:off x="2578608" y="5701283"/>
            <a:ext cx="188366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0">
                <a:solidFill>
                  <a:srgbClr val="232B36"/>
                </a:solidFill>
              </a:defRPr>
            </a:pPr>
            <a:r>
              <a:rPr sz="1050" b="0" i="0">
                <a:solidFill>
                  <a:srgbClr val="24313F"/>
                </a:solidFill>
                <a:latin typeface="Aptos"/>
              </a:rPr>
              <a:t>Deployment limits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4572000" y="5650992"/>
            <a:ext cx="315468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55" name="TextBox 17454"/>
          <p:cNvSpPr txBox="1"/>
          <p:nvPr/>
        </p:nvSpPr>
        <p:spPr>
          <a:xfrm>
            <a:off x="4636008" y="5701283"/>
            <a:ext cx="302666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1">
                <a:solidFill>
                  <a:srgbClr val="232B36"/>
                </a:solidFill>
              </a:defRPr>
            </a:pPr>
            <a:r>
              <a:rPr sz="1050" b="0" i="0">
                <a:solidFill>
                  <a:srgbClr val="24313F"/>
                </a:solidFill>
                <a:latin typeface="Aptos"/>
              </a:rPr>
              <a:t>ONNX CPU inference + offline demo data</a:t>
            </a:r>
          </a:p>
        </p:txBody>
      </p:sp>
      <p:pic>
        <p:nvPicPr>
          <p:cNvPr id="17457" name="Picture 17456" descr="terravista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356616"/>
            <a:ext cx="347472" cy="347472"/>
          </a:xfrm>
          <a:prstGeom prst="rect">
            <a:avLst/>
          </a:prstGeom>
        </p:spPr>
      </p:pic>
      <p:sp>
        <p:nvSpPr>
          <p:cNvPr id="17458" name="TextBox 17457"/>
          <p:cNvSpPr txBox="1"/>
          <p:nvPr/>
        </p:nvSpPr>
        <p:spPr>
          <a:xfrm>
            <a:off x="740664" y="352044"/>
            <a:ext cx="9144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73A"/>
                </a:solidFill>
                <a:latin typeface="Aptos"/>
              </a:rPr>
              <a:t>TerraVista</a:t>
            </a:r>
          </a:p>
        </p:txBody>
      </p:sp>
      <p:pic>
        <p:nvPicPr>
          <p:cNvPr id="17459" name="Picture 17458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1366" y="57097"/>
            <a:ext cx="2209120" cy="1122868"/>
          </a:xfrm>
          <a:prstGeom prst="rect">
            <a:avLst/>
          </a:prstGeom>
        </p:spPr>
      </p:pic>
      <p:graphicFrame>
        <p:nvGraphicFramePr>
          <p:cNvPr id="17460" name="Chart 17459"/>
          <p:cNvGraphicFramePr>
            <a:graphicFrameLocks noGrp="1"/>
          </p:cNvGraphicFramePr>
          <p:nvPr/>
        </p:nvGraphicFramePr>
        <p:xfrm>
          <a:off x="8028431" y="3703320"/>
          <a:ext cx="3566160" cy="23317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38100" tIns="19050" rIns="38100" bIns="19050" anchor="ctr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1" i="0" dirty="0">
                <a:solidFill>
                  <a:srgbClr val="17273A"/>
                </a:solidFill>
                <a:latin typeface="Aptos Display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lIns="38100" tIns="19050" rIns="38100" bIns="19050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0" name="TextBox 17409"/>
          <p:cNvSpPr txBox="1"/>
          <p:nvPr/>
        </p:nvSpPr>
        <p:spPr>
          <a:xfrm>
            <a:off x="594360" y="1078992"/>
            <a:ext cx="10972800" cy="32918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30" b="1">
                <a:solidFill>
                  <a:srgbClr val="152742"/>
                </a:solidFill>
              </a:defRPr>
            </a:pPr>
            <a:r>
              <a:rPr sz="1900" b="1" i="0">
                <a:solidFill>
                  <a:srgbClr val="17273A"/>
                </a:solidFill>
                <a:latin typeface="Aptos"/>
              </a:rPr>
              <a:t>Terrain Intelligence That Supports Real-World Decisions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628254" y="1571575"/>
            <a:ext cx="2834640" cy="987552"/>
          </a:xfrm>
          <a:prstGeom prst="roundRect">
            <a:avLst/>
          </a:prstGeom>
          <a:solidFill>
            <a:srgbClr val="152742"/>
          </a:solidFill>
          <a:ln w="12700">
            <a:solidFill>
              <a:srgbClr val="15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4747126" y="1781887"/>
            <a:ext cx="2596896" cy="256032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</a:defRPr>
            </a:pPr>
            <a:r>
              <a:rPr sz="1160" b="1" i="0" dirty="0">
                <a:solidFill>
                  <a:srgbClr val="FFFFFF"/>
                </a:solidFill>
                <a:latin typeface="Aptos"/>
              </a:rPr>
              <a:t>DEPTHWIZARD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747126" y="2138503"/>
            <a:ext cx="2596896" cy="20116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40" b="0">
                <a:solidFill>
                  <a:srgbClr val="FFFFFF"/>
                </a:solidFill>
              </a:defRPr>
            </a:pPr>
            <a:r>
              <a:rPr sz="1040" b="0" i="0">
                <a:solidFill>
                  <a:srgbClr val="FFFFFF"/>
                </a:solidFill>
                <a:latin typeface="Aptos"/>
              </a:rPr>
              <a:t>Terrain + height intelligence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40080" y="1554480"/>
            <a:ext cx="336499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5" name="Rounded Rectangle 17414"/>
          <p:cNvSpPr/>
          <p:nvPr/>
        </p:nvSpPr>
        <p:spPr>
          <a:xfrm>
            <a:off x="640080" y="1554480"/>
            <a:ext cx="3364992" cy="283464"/>
          </a:xfrm>
          <a:prstGeom prst="roundRect">
            <a:avLst/>
          </a:prstGeom>
          <a:solidFill>
            <a:srgbClr val="D2742D"/>
          </a:solidFill>
          <a:ln w="12700">
            <a:solidFill>
              <a:srgbClr val="D2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731519" y="1581912"/>
            <a:ext cx="3182112" cy="22860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60" b="1" i="0">
                <a:solidFill>
                  <a:srgbClr val="FFFFFF"/>
                </a:solidFill>
                <a:latin typeface="Aptos"/>
              </a:rPr>
              <a:t>DISASTER MANAGEMENT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68096" y="2002536"/>
            <a:ext cx="3108960" cy="50292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>
              <a:spcBef>
                <a:spcPts val="0"/>
              </a:spcBef>
            </a:pPr>
            <a:r>
              <a:rPr sz="1000"/>
              <a:t>Flood mapping • slope/landslide • affected-building counts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183879" y="1554480"/>
            <a:ext cx="336499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9" name="Rounded Rectangle 17418"/>
          <p:cNvSpPr/>
          <p:nvPr/>
        </p:nvSpPr>
        <p:spPr>
          <a:xfrm>
            <a:off x="8183879" y="1554480"/>
            <a:ext cx="3364992" cy="283464"/>
          </a:xfrm>
          <a:prstGeom prst="roundRect">
            <a:avLst/>
          </a:prstGeom>
          <a:solidFill>
            <a:srgbClr val="2068AA"/>
          </a:solidFill>
          <a:ln w="12700"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8275319" y="1581912"/>
            <a:ext cx="3182112" cy="22860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60" b="1" i="0">
                <a:solidFill>
                  <a:srgbClr val="FFFFFF"/>
                </a:solidFill>
                <a:latin typeface="Aptos"/>
              </a:rPr>
              <a:t>URBAN PLANNING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311896" y="2002536"/>
            <a:ext cx="3108960" cy="50292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90" b="0">
                <a:solidFill>
                  <a:srgbClr val="232B36"/>
                </a:solidFill>
              </a:defRPr>
            </a:pPr>
            <a:r>
              <a:rPr sz="1040" b="0" i="0">
                <a:solidFill>
                  <a:srgbClr val="24313F"/>
                </a:solidFill>
                <a:latin typeface="Aptos"/>
              </a:rPr>
              <a:t>Building heights • 3D terrain where elevation is missing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40080" y="3273552"/>
            <a:ext cx="32461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3" name="Rounded Rectangle 17422"/>
          <p:cNvSpPr/>
          <p:nvPr/>
        </p:nvSpPr>
        <p:spPr>
          <a:xfrm>
            <a:off x="640080" y="3273552"/>
            <a:ext cx="3246120" cy="283464"/>
          </a:xfrm>
          <a:prstGeom prst="roundRect">
            <a:avLst/>
          </a:prstGeom>
          <a:solidFill>
            <a:srgbClr val="228989"/>
          </a:solidFill>
          <a:ln w="12700">
            <a:solidFill>
              <a:srgbClr val="22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731519" y="3306793"/>
            <a:ext cx="3069700" cy="216982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60" b="1" i="0">
                <a:solidFill>
                  <a:srgbClr val="FFFFFF"/>
                </a:solidFill>
                <a:latin typeface="Aptos"/>
              </a:rPr>
              <a:t>REMOTE SENSING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768096" y="3803021"/>
            <a:ext cx="2999133" cy="340093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>
              <a:spcBef>
                <a:spcPts val="0"/>
              </a:spcBef>
            </a:pPr>
            <a:r>
              <a:rPr sz="980" dirty="0"/>
              <a:t>More value from existing optical archives • less reliance on repeated stereo/LiDAR surveys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8330183" y="3273552"/>
            <a:ext cx="3218687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58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7" name="Rounded Rectangle 17426"/>
          <p:cNvSpPr/>
          <p:nvPr/>
        </p:nvSpPr>
        <p:spPr>
          <a:xfrm>
            <a:off x="8330183" y="3273552"/>
            <a:ext cx="3218687" cy="283464"/>
          </a:xfrm>
          <a:prstGeom prst="roundRect">
            <a:avLst/>
          </a:prstGeom>
          <a:solidFill>
            <a:srgbClr val="45885C"/>
          </a:solidFill>
          <a:ln w="12700">
            <a:solidFill>
              <a:srgbClr val="458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8413673" y="3306793"/>
            <a:ext cx="3043758" cy="216982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60" b="1" i="0">
                <a:solidFill>
                  <a:srgbClr val="FFFFFF"/>
                </a:solidFill>
                <a:latin typeface="Aptos"/>
              </a:rPr>
              <a:t>RECONNAISSANCE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8447068" y="3870540"/>
            <a:ext cx="2973787" cy="205056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90" b="0">
                <a:solidFill>
                  <a:srgbClr val="232B36"/>
                </a:solidFill>
              </a:defRPr>
            </a:pPr>
            <a:r>
              <a:rPr sz="1040" b="0" i="0">
                <a:solidFill>
                  <a:srgbClr val="24313F"/>
                </a:solidFill>
                <a:latin typeface="Aptos"/>
              </a:rPr>
              <a:t>Terrain visualization • viewshed analysis</a:t>
            </a:r>
          </a:p>
        </p:txBody>
      </p:sp>
      <p:sp>
        <p:nvSpPr>
          <p:cNvPr id="17430" name="Right Arrow 17429"/>
          <p:cNvSpPr/>
          <p:nvPr/>
        </p:nvSpPr>
        <p:spPr>
          <a:xfrm>
            <a:off x="4119172" y="1901952"/>
            <a:ext cx="384048" cy="256032"/>
          </a:xfrm>
          <a:prstGeom prst="rightArrow">
            <a:avLst/>
          </a:prstGeom>
          <a:solidFill>
            <a:srgbClr val="5C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1" name="Right Arrow 17430"/>
          <p:cNvSpPr/>
          <p:nvPr/>
        </p:nvSpPr>
        <p:spPr>
          <a:xfrm>
            <a:off x="7622516" y="1892967"/>
            <a:ext cx="384048" cy="256032"/>
          </a:xfrm>
          <a:prstGeom prst="rightArrow">
            <a:avLst/>
          </a:prstGeom>
          <a:solidFill>
            <a:srgbClr val="5C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2" name="Right Arrow 17431"/>
          <p:cNvSpPr/>
          <p:nvPr/>
        </p:nvSpPr>
        <p:spPr>
          <a:xfrm>
            <a:off x="4087368" y="3621024"/>
            <a:ext cx="384048" cy="256032"/>
          </a:xfrm>
          <a:prstGeom prst="rightArrow">
            <a:avLst/>
          </a:prstGeom>
          <a:solidFill>
            <a:srgbClr val="5C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3" name="Right Arrow 17432"/>
          <p:cNvSpPr/>
          <p:nvPr/>
        </p:nvSpPr>
        <p:spPr>
          <a:xfrm>
            <a:off x="7543800" y="3621024"/>
            <a:ext cx="384048" cy="256032"/>
          </a:xfrm>
          <a:prstGeom prst="rightArrow">
            <a:avLst/>
          </a:prstGeom>
          <a:solidFill>
            <a:srgbClr val="5C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4" name="Rounded Rectangle 17433"/>
          <p:cNvSpPr/>
          <p:nvPr/>
        </p:nvSpPr>
        <p:spPr>
          <a:xfrm>
            <a:off x="640080" y="4846320"/>
            <a:ext cx="3520440" cy="80467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2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5" name="TextBox 17434"/>
          <p:cNvSpPr txBox="1"/>
          <p:nvPr/>
        </p:nvSpPr>
        <p:spPr>
          <a:xfrm>
            <a:off x="731519" y="4956048"/>
            <a:ext cx="3337560" cy="19202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D2742D"/>
                </a:solidFill>
              </a:defRPr>
            </a:pPr>
            <a:r>
              <a:rPr sz="1040" b="1" i="0">
                <a:solidFill>
                  <a:srgbClr val="17273A"/>
                </a:solidFill>
                <a:latin typeface="Aptos"/>
              </a:rPr>
              <a:t>ECONOMIC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777240" y="5212080"/>
            <a:ext cx="3246120" cy="28346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B36"/>
                </a:solidFill>
              </a:defRPr>
            </a:pPr>
            <a:r>
              <a:rPr sz="1050" b="0" i="0">
                <a:solidFill>
                  <a:srgbClr val="24313F"/>
                </a:solidFill>
                <a:latin typeface="Aptos"/>
              </a:rPr>
              <a:t>Lower dependence on costly multi-sensor surveys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4343400" y="4846320"/>
            <a:ext cx="3520440" cy="80467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22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4434840" y="4956048"/>
            <a:ext cx="3337560" cy="19202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28989"/>
                </a:solidFill>
              </a:defRPr>
            </a:pPr>
            <a:r>
              <a:rPr sz="1040" b="1" i="0">
                <a:solidFill>
                  <a:srgbClr val="17273A"/>
                </a:solidFill>
                <a:latin typeface="Aptos"/>
              </a:rPr>
              <a:t>SOCIAL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4480560" y="5212080"/>
            <a:ext cx="3246120" cy="28346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B36"/>
                </a:solidFill>
              </a:defRPr>
            </a:pPr>
            <a:r>
              <a:rPr sz="1050" b="0" i="0">
                <a:solidFill>
                  <a:srgbClr val="24313F"/>
                </a:solidFill>
                <a:latin typeface="Aptos"/>
              </a:rPr>
              <a:t>Faster, more accessible emergency terrain intelligence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8046719" y="4846320"/>
            <a:ext cx="3520440" cy="80467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458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41" name="TextBox 17440"/>
          <p:cNvSpPr txBox="1"/>
          <p:nvPr/>
        </p:nvSpPr>
        <p:spPr>
          <a:xfrm>
            <a:off x="8138159" y="4956048"/>
            <a:ext cx="3337560" cy="19202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45885C"/>
                </a:solidFill>
              </a:defRPr>
            </a:pPr>
            <a:r>
              <a:rPr sz="1040" b="1" i="0">
                <a:solidFill>
                  <a:srgbClr val="17273A"/>
                </a:solidFill>
                <a:latin typeface="Aptos"/>
              </a:rPr>
              <a:t>ENVIRONMENTAL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8183879" y="5212080"/>
            <a:ext cx="3246120" cy="28346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B36"/>
                </a:solidFill>
              </a:defRPr>
            </a:pPr>
            <a:r>
              <a:rPr sz="1050" b="0" i="0">
                <a:solidFill>
                  <a:srgbClr val="24313F"/>
                </a:solidFill>
                <a:latin typeface="Aptos"/>
              </a:rPr>
              <a:t>Supports terrain, canopy and flood/landslide analysis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3611880" y="5907024"/>
            <a:ext cx="4983480" cy="219456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52742"/>
                </a:solidFill>
              </a:defRPr>
            </a:pPr>
            <a:r>
              <a:rPr sz="1040" b="1" i="0">
                <a:solidFill>
                  <a:srgbClr val="FFFFFF"/>
                </a:solidFill>
                <a:latin typeface="Aptos"/>
              </a:rPr>
              <a:t>ONE SATELLITE IMAGE → TERRAIN INTELLIGENCE → FASTER DECISION SUPPORT</a:t>
            </a:r>
          </a:p>
        </p:txBody>
      </p:sp>
      <p:pic>
        <p:nvPicPr>
          <p:cNvPr id="17445" name="Picture 17444" descr="terravista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356616"/>
            <a:ext cx="347472" cy="347472"/>
          </a:xfrm>
          <a:prstGeom prst="rect">
            <a:avLst/>
          </a:prstGeom>
        </p:spPr>
      </p:pic>
      <p:sp>
        <p:nvSpPr>
          <p:cNvPr id="17446" name="TextBox 17445"/>
          <p:cNvSpPr txBox="1"/>
          <p:nvPr/>
        </p:nvSpPr>
        <p:spPr>
          <a:xfrm>
            <a:off x="740664" y="352044"/>
            <a:ext cx="9144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73A"/>
                </a:solidFill>
                <a:latin typeface="Aptos"/>
              </a:rPr>
              <a:t>TerraVista</a:t>
            </a:r>
          </a:p>
        </p:txBody>
      </p:sp>
      <p:pic>
        <p:nvPicPr>
          <p:cNvPr id="17447" name="Picture 17446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1366" y="57097"/>
            <a:ext cx="2209120" cy="1122868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4061459" y="2568271"/>
            <a:ext cx="40690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50" b="1" dirty="0">
                <a:solidFill>
                  <a:srgbClr val="5C6874"/>
                </a:solidFill>
                <a:latin typeface="Aptos"/>
              </a:rPr>
              <a:t>FROM TERRAIN DATA TO ACTIONABLE INTELLIGENCE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4069080" y="3127248"/>
            <a:ext cx="1170432" cy="841248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0" name="TextBox 17449"/>
          <p:cNvSpPr txBox="1"/>
          <p:nvPr/>
        </p:nvSpPr>
        <p:spPr>
          <a:xfrm>
            <a:off x="4114800" y="3182112"/>
            <a:ext cx="1078992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50" b="1">
                <a:solidFill>
                  <a:srgbClr val="0E63DC"/>
                </a:solidFill>
                <a:latin typeface="Aptos"/>
              </a:rPr>
              <a:t>1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4114800" y="3374136"/>
            <a:ext cx="1078992" cy="2103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50" b="1">
                <a:solidFill>
                  <a:srgbClr val="17273A"/>
                </a:solidFill>
                <a:latin typeface="Aptos"/>
              </a:rPr>
              <a:t>HEIGHT MAP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4114800" y="3602736"/>
            <a:ext cx="1078992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70" b="0">
                <a:solidFill>
                  <a:srgbClr val="5C6874"/>
                </a:solidFill>
                <a:latin typeface="Aptos"/>
              </a:rPr>
              <a:t>nDSM / AGL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5440680" y="3127248"/>
            <a:ext cx="1417320" cy="841248"/>
          </a:xfrm>
          <a:prstGeom prst="roundRect">
            <a:avLst/>
          </a:prstGeom>
          <a:solidFill>
            <a:srgbClr val="E8F9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4" name="TextBox 17453"/>
          <p:cNvSpPr txBox="1"/>
          <p:nvPr/>
        </p:nvSpPr>
        <p:spPr>
          <a:xfrm>
            <a:off x="5486400" y="3182112"/>
            <a:ext cx="132588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50" b="1">
                <a:solidFill>
                  <a:srgbClr val="0E63DC"/>
                </a:solidFill>
                <a:latin typeface="Aptos"/>
              </a:rPr>
              <a:t>2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5486400" y="3374136"/>
            <a:ext cx="1325880" cy="2103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50" b="1">
                <a:solidFill>
                  <a:srgbClr val="17273A"/>
                </a:solidFill>
                <a:latin typeface="Aptos"/>
              </a:rPr>
              <a:t>3D TERRAIN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5486400" y="3602736"/>
            <a:ext cx="132588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70" b="0">
                <a:solidFill>
                  <a:srgbClr val="5C6874"/>
                </a:solidFill>
                <a:latin typeface="Aptos"/>
              </a:rPr>
              <a:t>DSM / GeoTIFF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7059168" y="3127248"/>
            <a:ext cx="1115568" cy="841248"/>
          </a:xfrm>
          <a:prstGeom prst="roundRect">
            <a:avLst/>
          </a:prstGeom>
          <a:solidFill>
            <a:srgbClr val="F1E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8" name="TextBox 17457"/>
          <p:cNvSpPr txBox="1"/>
          <p:nvPr/>
        </p:nvSpPr>
        <p:spPr>
          <a:xfrm>
            <a:off x="7104888" y="3182112"/>
            <a:ext cx="1024127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50" b="1">
                <a:solidFill>
                  <a:srgbClr val="0E63DC"/>
                </a:solidFill>
                <a:latin typeface="Aptos"/>
              </a:rPr>
              <a:t>3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7104888" y="3374136"/>
            <a:ext cx="1024127" cy="2103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50" b="1">
                <a:solidFill>
                  <a:srgbClr val="17273A"/>
                </a:solidFill>
                <a:latin typeface="Aptos"/>
              </a:rPr>
              <a:t>DECISION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7104888" y="3602736"/>
            <a:ext cx="1024127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70" b="0">
                <a:solidFill>
                  <a:srgbClr val="5C6874"/>
                </a:solidFill>
                <a:latin typeface="Aptos"/>
              </a:rPr>
              <a:t>Flood / Slope</a:t>
            </a:r>
          </a:p>
        </p:txBody>
      </p:sp>
      <p:cxnSp>
        <p:nvCxnSpPr>
          <p:cNvPr id="17461" name="Connector 17460"/>
          <p:cNvCxnSpPr/>
          <p:nvPr/>
        </p:nvCxnSpPr>
        <p:spPr>
          <a:xfrm>
            <a:off x="5257800" y="3547872"/>
            <a:ext cx="155448" cy="0"/>
          </a:xfrm>
          <a:prstGeom prst="line">
            <a:avLst/>
          </a:prstGeom>
          <a:ln w="19050">
            <a:solidFill>
              <a:srgbClr val="0E6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2" name="Connector 17461"/>
          <p:cNvCxnSpPr/>
          <p:nvPr/>
        </p:nvCxnSpPr>
        <p:spPr>
          <a:xfrm>
            <a:off x="6894576" y="3547872"/>
            <a:ext cx="146304" cy="0"/>
          </a:xfrm>
          <a:prstGeom prst="line">
            <a:avLst/>
          </a:prstGeom>
          <a:ln w="1905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3" name="Rounded Rectangle 17462"/>
          <p:cNvSpPr/>
          <p:nvPr/>
        </p:nvSpPr>
        <p:spPr>
          <a:xfrm>
            <a:off x="4160520" y="4096512"/>
            <a:ext cx="3822191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4" name="TextBox 17463"/>
          <p:cNvSpPr txBox="1"/>
          <p:nvPr/>
        </p:nvSpPr>
        <p:spPr>
          <a:xfrm>
            <a:off x="4251960" y="4160853"/>
            <a:ext cx="3639312" cy="24622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 dirty="0">
                <a:solidFill>
                  <a:srgbClr val="17273A"/>
                </a:solidFill>
                <a:latin typeface="Aptos"/>
              </a:rPr>
              <a:t>One optical observation → measurable terrain context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7" name="Rounded Rectangle 17416"/>
          <p:cNvSpPr/>
          <p:nvPr/>
        </p:nvSpPr>
        <p:spPr>
          <a:xfrm>
            <a:off x="6099048" y="1625727"/>
            <a:ext cx="5449824" cy="1691640"/>
          </a:xfrm>
          <a:prstGeom prst="roundRect">
            <a:avLst>
              <a:gd name="adj" fmla="val 5734"/>
            </a:avLst>
          </a:prstGeom>
          <a:solidFill>
            <a:srgbClr val="F4F7FB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3" name="Rounded Rectangle 17412"/>
          <p:cNvSpPr/>
          <p:nvPr/>
        </p:nvSpPr>
        <p:spPr>
          <a:xfrm>
            <a:off x="594360" y="1581912"/>
            <a:ext cx="5303520" cy="1737360"/>
          </a:xfrm>
          <a:prstGeom prst="roundRect">
            <a:avLst>
              <a:gd name="adj" fmla="val 5988"/>
            </a:avLst>
          </a:prstGeom>
          <a:solidFill>
            <a:srgbClr val="F4F7FB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38100" tIns="19050" rIns="38100" bIns="19050" anchor="ctr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1" i="0" dirty="0">
                <a:solidFill>
                  <a:srgbClr val="17273A"/>
                </a:solidFill>
                <a:latin typeface="Aptos Display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lIns="38100" tIns="19050" rIns="38100" bIns="19050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0" name="TextBox 17409"/>
          <p:cNvSpPr txBox="1"/>
          <p:nvPr/>
        </p:nvSpPr>
        <p:spPr>
          <a:xfrm>
            <a:off x="594360" y="1078992"/>
            <a:ext cx="10972800" cy="32918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30" b="1">
                <a:solidFill>
                  <a:srgbClr val="152742"/>
                </a:solidFill>
              </a:defRPr>
            </a:pPr>
            <a:r>
              <a:rPr sz="1900" b="1" i="0">
                <a:solidFill>
                  <a:srgbClr val="17273A"/>
                </a:solidFill>
                <a:latin typeface="Aptos"/>
              </a:rPr>
              <a:t>Research Foundation: Models, Datasets and Validation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94360" y="1554480"/>
            <a:ext cx="5303520" cy="301752"/>
          </a:xfrm>
          <a:prstGeom prst="roundRect">
            <a:avLst/>
          </a:prstGeom>
          <a:solidFill>
            <a:srgbClr val="2068AA"/>
          </a:solidFill>
          <a:ln w="12700"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685800" y="1581912"/>
            <a:ext cx="5120640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20" b="1" i="0">
                <a:solidFill>
                  <a:srgbClr val="FFFFFF"/>
                </a:solidFill>
                <a:latin typeface="Aptos"/>
              </a:rPr>
              <a:t>MODELS &amp; METHODS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95528" y="1871731"/>
            <a:ext cx="4882896" cy="141732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  <a:defRPr sz="1010">
                <a:solidFill>
                  <a:srgbClr val="232B36"/>
                </a:solidFill>
              </a:defRPr>
            </a:pPr>
            <a:r>
              <a:rPr sz="1120" b="0" i="0" dirty="0">
                <a:solidFill>
                  <a:srgbClr val="24313F"/>
                </a:solidFill>
                <a:latin typeface="Aptos"/>
              </a:rPr>
              <a:t>• DINOv3 Satellite Pretraining - Hugging Face / Meta AI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  <a:defRPr sz="1010">
                <a:solidFill>
                  <a:srgbClr val="232B36"/>
                </a:solidFill>
              </a:defRPr>
            </a:pPr>
            <a:r>
              <a:rPr sz="1120" b="0" i="0" dirty="0">
                <a:solidFill>
                  <a:srgbClr val="24313F"/>
                </a:solidFill>
                <a:latin typeface="Aptos"/>
              </a:rPr>
              <a:t>• CHMv2 Canopy Height Model - model + research paper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  <a:defRPr sz="1010">
                <a:solidFill>
                  <a:srgbClr val="232B36"/>
                </a:solidFill>
              </a:defRPr>
            </a:pPr>
            <a:r>
              <a:rPr sz="1120" b="0" i="0" dirty="0">
                <a:solidFill>
                  <a:srgbClr val="24313F"/>
                </a:solidFill>
                <a:latin typeface="Aptos"/>
              </a:rPr>
              <a:t>• Depth Anything 3 - arXiv:2511.10647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  <a:defRPr sz="1010">
                <a:solidFill>
                  <a:srgbClr val="232B36"/>
                </a:solidFill>
              </a:defRPr>
            </a:pPr>
            <a:r>
              <a:rPr sz="1120" b="0" i="0" dirty="0">
                <a:solidFill>
                  <a:srgbClr val="24313F"/>
                </a:solidFill>
                <a:latin typeface="Aptos"/>
              </a:rPr>
              <a:t>• Depth2Elevation - IEEE TGRS, 2025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  <a:defRPr sz="1010">
                <a:solidFill>
                  <a:srgbClr val="232B36"/>
                </a:solidFill>
              </a:defRPr>
            </a:pPr>
            <a:r>
              <a:rPr sz="1120" b="0" i="0" dirty="0">
                <a:solidFill>
                  <a:srgbClr val="24313F"/>
                </a:solidFill>
                <a:latin typeface="Aptos"/>
              </a:rPr>
              <a:t>• HTC-DC Net - remote-sensing height-estimation research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099048" y="1554480"/>
            <a:ext cx="5449824" cy="301752"/>
          </a:xfrm>
          <a:prstGeom prst="roundRect">
            <a:avLst/>
          </a:prstGeom>
          <a:solidFill>
            <a:srgbClr val="228989"/>
          </a:solidFill>
          <a:ln w="12700">
            <a:solidFill>
              <a:srgbClr val="22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6190488" y="1581912"/>
            <a:ext cx="526694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20" b="1" i="0">
                <a:solidFill>
                  <a:srgbClr val="FFFFFF"/>
                </a:solidFill>
                <a:latin typeface="Aptos"/>
              </a:rPr>
              <a:t>DATASETS / VALIDATION / OFFICIAL SOURCES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300216" y="1863788"/>
            <a:ext cx="5029200" cy="141732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  <a:defRPr sz="1010">
                <a:solidFill>
                  <a:srgbClr val="232B36"/>
                </a:solidFill>
              </a:defRPr>
            </a:pPr>
            <a:r>
              <a:rPr sz="1120" b="0" i="0" dirty="0">
                <a:solidFill>
                  <a:srgbClr val="24313F"/>
                </a:solidFill>
                <a:latin typeface="Aptos"/>
              </a:rPr>
              <a:t>• DFC2019 / US3D and GAMUS datasets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  <a:defRPr sz="1010">
                <a:solidFill>
                  <a:srgbClr val="232B36"/>
                </a:solidFill>
              </a:defRPr>
            </a:pPr>
            <a:r>
              <a:rPr sz="1120" b="0" i="0" dirty="0">
                <a:solidFill>
                  <a:srgbClr val="24313F"/>
                </a:solidFill>
                <a:latin typeface="Aptos"/>
              </a:rPr>
              <a:t>• SRTM 30m / Copernicus DEM GLO-30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  <a:defRPr sz="1010">
                <a:solidFill>
                  <a:srgbClr val="232B36"/>
                </a:solidFill>
              </a:defRPr>
            </a:pPr>
            <a:r>
              <a:rPr sz="1120" b="0" i="0" dirty="0">
                <a:solidFill>
                  <a:srgbClr val="24313F"/>
                </a:solidFill>
                <a:latin typeface="Aptos"/>
              </a:rPr>
              <a:t>• </a:t>
            </a:r>
            <a:r>
              <a:rPr sz="1120" b="0" i="0" dirty="0" err="1">
                <a:solidFill>
                  <a:srgbClr val="24313F"/>
                </a:solidFill>
                <a:latin typeface="Aptos"/>
              </a:rPr>
              <a:t>CartoDEM</a:t>
            </a:r>
            <a:r>
              <a:rPr sz="1120" b="0" i="0" dirty="0">
                <a:solidFill>
                  <a:srgbClr val="24313F"/>
                </a:solidFill>
                <a:latin typeface="Aptos"/>
              </a:rPr>
              <a:t> - ISRO Bhuvan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  <a:defRPr sz="1010">
                <a:solidFill>
                  <a:srgbClr val="232B36"/>
                </a:solidFill>
              </a:defRPr>
            </a:pPr>
            <a:r>
              <a:rPr sz="1120" b="0" i="0" dirty="0">
                <a:solidFill>
                  <a:srgbClr val="24313F"/>
                </a:solidFill>
                <a:latin typeface="Aptos"/>
              </a:rPr>
              <a:t>• ICESat-2 ATL08 / ATL03 for reference and validation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  <a:defRPr sz="1010">
                <a:solidFill>
                  <a:srgbClr val="232B36"/>
                </a:solidFill>
              </a:defRPr>
            </a:pPr>
            <a:r>
              <a:rPr sz="1120" b="0" i="0" dirty="0">
                <a:solidFill>
                  <a:srgbClr val="24313F"/>
                </a:solidFill>
                <a:latin typeface="Aptos"/>
              </a:rPr>
              <a:t>• ISRO </a:t>
            </a:r>
            <a:r>
              <a:rPr sz="1120" b="0" i="0" dirty="0" err="1">
                <a:solidFill>
                  <a:srgbClr val="24313F"/>
                </a:solidFill>
                <a:latin typeface="Aptos"/>
              </a:rPr>
              <a:t>Bhoonidhi</a:t>
            </a:r>
            <a:r>
              <a:rPr sz="1120" b="0" i="0" dirty="0">
                <a:solidFill>
                  <a:srgbClr val="24313F"/>
                </a:solidFill>
                <a:latin typeface="Aptos"/>
              </a:rPr>
              <a:t> / Bhuvan and ISPRS Vaihingen / Potsdam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713232" y="5886896"/>
            <a:ext cx="10835640" cy="22313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50" b="0">
                <a:solidFill>
                  <a:srgbClr val="5C6878"/>
                </a:solidFill>
              </a:defRPr>
            </a:pPr>
            <a:r>
              <a:rPr sz="1200" b="1" dirty="0"/>
              <a:t>Research basis: monocular height estimation • DSM generation • geospatial calibration • ICESat-2 validation • terrain rendering  |  Evaluation: RMSE / MAE</a:t>
            </a:r>
          </a:p>
        </p:txBody>
      </p:sp>
      <p:pic>
        <p:nvPicPr>
          <p:cNvPr id="17421" name="Picture 17420" descr="terravista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356616"/>
            <a:ext cx="347472" cy="347472"/>
          </a:xfrm>
          <a:prstGeom prst="rect">
            <a:avLst/>
          </a:prstGeom>
        </p:spPr>
      </p:pic>
      <p:sp>
        <p:nvSpPr>
          <p:cNvPr id="17422" name="TextBox 17421"/>
          <p:cNvSpPr txBox="1"/>
          <p:nvPr/>
        </p:nvSpPr>
        <p:spPr>
          <a:xfrm>
            <a:off x="740664" y="352044"/>
            <a:ext cx="9144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73A"/>
                </a:solidFill>
                <a:latin typeface="Aptos"/>
              </a:rPr>
              <a:t>TerraVista</a:t>
            </a:r>
          </a:p>
        </p:txBody>
      </p:sp>
      <p:pic>
        <p:nvPicPr>
          <p:cNvPr id="17423" name="Picture 17422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1366" y="57097"/>
            <a:ext cx="2209120" cy="1122868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609600" y="4769479"/>
            <a:ext cx="10835640" cy="276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dirty="0">
                <a:solidFill>
                  <a:srgbClr val="5C6874"/>
                </a:solidFill>
                <a:latin typeface="Aptos"/>
              </a:rPr>
              <a:t>EVIDENCE → DATA → TERRAIN REFERENCE → QUANTITATIVE VALIDATION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46045" y="5146415"/>
            <a:ext cx="2573322" cy="57057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743049" y="5346980"/>
            <a:ext cx="918543" cy="21236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80" b="1" dirty="0">
                <a:solidFill>
                  <a:srgbClr val="17273A"/>
                </a:solidFill>
                <a:latin typeface="Aptos"/>
              </a:rPr>
              <a:t>MODELS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1470097" y="5356460"/>
            <a:ext cx="1620958" cy="2062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40" b="0" dirty="0">
                <a:solidFill>
                  <a:srgbClr val="5C6874"/>
                </a:solidFill>
                <a:latin typeface="Aptos"/>
              </a:rPr>
              <a:t>DINOv3 + CHMv2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371850" y="5146415"/>
            <a:ext cx="2557815" cy="570570"/>
          </a:xfrm>
          <a:prstGeom prst="roundRect">
            <a:avLst/>
          </a:prstGeom>
          <a:solidFill>
            <a:srgbClr val="E8F9F5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3553832" y="5354931"/>
            <a:ext cx="918543" cy="21236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80" b="1" dirty="0">
                <a:solidFill>
                  <a:srgbClr val="17273A"/>
                </a:solidFill>
                <a:latin typeface="Aptos"/>
              </a:rPr>
              <a:t>DATASETS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495569" y="5348510"/>
            <a:ext cx="1620958" cy="2062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40" b="0" dirty="0">
                <a:solidFill>
                  <a:srgbClr val="5C6874"/>
                </a:solidFill>
                <a:latin typeface="Aptos"/>
              </a:rPr>
              <a:t>DFC2019 + GAMUS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082148" y="5146415"/>
            <a:ext cx="2700069" cy="570570"/>
          </a:xfrm>
          <a:prstGeom prst="roundRect">
            <a:avLst/>
          </a:prstGeom>
          <a:solidFill>
            <a:srgbClr val="F1E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TextBox 17431"/>
          <p:cNvSpPr txBox="1"/>
          <p:nvPr/>
        </p:nvSpPr>
        <p:spPr>
          <a:xfrm>
            <a:off x="6132710" y="5283463"/>
            <a:ext cx="918543" cy="3323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80" b="1" dirty="0">
                <a:solidFill>
                  <a:srgbClr val="17273A"/>
                </a:solidFill>
                <a:latin typeface="Aptos"/>
              </a:rPr>
              <a:t>TERRAIN REFERENCE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7107572" y="5348509"/>
            <a:ext cx="1620958" cy="2062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40" b="0" dirty="0" err="1">
                <a:solidFill>
                  <a:srgbClr val="5C6874"/>
                </a:solidFill>
                <a:latin typeface="Aptos"/>
              </a:rPr>
              <a:t>CartoDEM</a:t>
            </a:r>
            <a:r>
              <a:rPr sz="740" b="0" dirty="0">
                <a:solidFill>
                  <a:srgbClr val="5C6874"/>
                </a:solidFill>
                <a:latin typeface="Aptos"/>
              </a:rPr>
              <a:t> / SRTM / Copernicus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8929315" y="5146415"/>
            <a:ext cx="2619556" cy="57057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TextBox 17434"/>
          <p:cNvSpPr txBox="1"/>
          <p:nvPr/>
        </p:nvSpPr>
        <p:spPr>
          <a:xfrm>
            <a:off x="9067044" y="5339140"/>
            <a:ext cx="1188703" cy="21236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80" b="1" dirty="0">
                <a:solidFill>
                  <a:srgbClr val="17273A"/>
                </a:solidFill>
                <a:latin typeface="Aptos"/>
              </a:rPr>
              <a:t>VALIDATION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9816985" y="5348509"/>
            <a:ext cx="2097711" cy="2062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40" b="0" dirty="0">
                <a:solidFill>
                  <a:srgbClr val="5C6874"/>
                </a:solidFill>
                <a:latin typeface="Aptos"/>
              </a:rPr>
              <a:t>RMSE / MAE + ICESat-2</a:t>
            </a:r>
          </a:p>
        </p:txBody>
      </p:sp>
      <p:cxnSp>
        <p:nvCxnSpPr>
          <p:cNvPr id="17437" name="Connector 17436"/>
          <p:cNvCxnSpPr>
            <a:cxnSpLocks/>
          </p:cNvCxnSpPr>
          <p:nvPr/>
        </p:nvCxnSpPr>
        <p:spPr>
          <a:xfrm>
            <a:off x="3219367" y="5460953"/>
            <a:ext cx="137729" cy="0"/>
          </a:xfrm>
          <a:prstGeom prst="line">
            <a:avLst/>
          </a:prstGeom>
          <a:ln w="17780">
            <a:solidFill>
              <a:srgbClr val="0E6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8" name="Connector 17437"/>
          <p:cNvCxnSpPr>
            <a:cxnSpLocks/>
          </p:cNvCxnSpPr>
          <p:nvPr/>
        </p:nvCxnSpPr>
        <p:spPr>
          <a:xfrm>
            <a:off x="5947570" y="5460953"/>
            <a:ext cx="137729" cy="0"/>
          </a:xfrm>
          <a:prstGeom prst="line">
            <a:avLst/>
          </a:prstGeom>
          <a:ln w="1778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9" name="Connector 17438"/>
          <p:cNvCxnSpPr>
            <a:cxnSpLocks/>
          </p:cNvCxnSpPr>
          <p:nvPr/>
        </p:nvCxnSpPr>
        <p:spPr>
          <a:xfrm>
            <a:off x="8782219" y="5497529"/>
            <a:ext cx="137730" cy="0"/>
          </a:xfrm>
          <a:prstGeom prst="line">
            <a:avLst/>
          </a:prstGeom>
          <a:ln w="17780">
            <a:solidFill>
              <a:srgbClr val="EDA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440" name="Chart 17439"/>
          <p:cNvGraphicFramePr>
            <a:graphicFrameLocks noGrp="1"/>
          </p:cNvGraphicFramePr>
          <p:nvPr/>
        </p:nvGraphicFramePr>
        <p:xfrm>
          <a:off x="594360" y="3438144"/>
          <a:ext cx="10954512" cy="12344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7624</TotalTime>
  <Words>854</Words>
  <Application>Microsoft Office PowerPoint</Application>
  <PresentationFormat>Widescreen</PresentationFormat>
  <Paragraphs>174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Aptos</vt:lpstr>
      <vt:lpstr>Aptos Display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Agampreet Singh</cp:lastModifiedBy>
  <cp:revision>148</cp:revision>
  <dcterms:created xsi:type="dcterms:W3CDTF">2013-12-12T18:46:50Z</dcterms:created>
  <dcterms:modified xsi:type="dcterms:W3CDTF">2026-08-28T06:28:01Z</dcterms:modified>
  <cp:category/>
</cp:coreProperties>
</file>