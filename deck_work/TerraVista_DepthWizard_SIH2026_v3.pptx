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94660"/>
  </p:normalViewPr>
  <p:slideViewPr>
    <p:cSldViewPr snapToGrid="0" snapToObjects="1">
      <p:cViewPr>
        <p:scale>
          <a:sx n="75" d="100"/>
          <a:sy n="75" d="100"/>
        </p:scale>
        <p:origin x="1013" y="528"/>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MEASURED: Porto Alegre 2024 flood (CSI)</a:t>
            </a:r>
          </a:p>
        </c:rich>
      </c:tx>
      <c:layout/>
      <c:overlay val="0"/>
    </c:title>
    <c:autoTitleDeleted val="0"/>
    <c:plotArea>
      <c:barChart>
        <c:barDir val="col"/>
        <c:grouping val="clustered"/>
        <c:ser>
          <c:idx val="0"/>
          <c:order val="0"/>
          <c:tx>
            <c:strRef>
              <c:f>Sheet1!$B$1</c:f>
              <c:strCache>
                <c:ptCount val="1"/>
                <c:pt idx="0">
                  <c:v>CSI</c:v>
                </c:pt>
              </c:strCache>
            </c:strRef>
          </c:tx>
          <c:spPr>
            <a:solidFill>
              <a:srgbClr val="228989"/>
            </a:solidFill>
          </c:spPr>
          <c:dPt>
            <c:idx val="0"/>
            <c:spPr>
              <a:solidFill>
                <a:srgbClr val="5C6878"/>
              </a:solidFill>
            </c:spPr>
          </c:dPt>
          <c:dPt>
            <c:idx val="1"/>
            <c:spPr>
              <a:solidFill>
                <a:srgbClr val="228989"/>
              </a:solidFill>
            </c:spPr>
          </c:dPt>
          <c:dPt>
            <c:idx val="2"/>
            <c:spPr>
              <a:solidFill>
                <a:srgbClr val="45885C"/>
              </a:solidFill>
            </c:spPr>
          </c:dPt>
          <c:dPt>
            <c:idx val="3"/>
            <c:spPr>
              <a:solidFill>
                <a:srgbClr val="5C6878"/>
              </a:solidFill>
            </c:spPr>
          </c:dPt>
          <c:cat>
            <c:strRef>
              <c:f>Sheet1!$A$2:$A$5</c:f>
              <c:strCache>
                <c:ptCount val="4"/>
                <c:pt idx="0">
                  <c:v>Raw 30 m DEM
(GLO-30)</c:v>
                </c:pt>
                <c:pt idx="1">
                  <c:v>+ our building
removal</c:v>
                </c:pt>
                <c:pt idx="2">
                  <c:v>+ ICESat-2
laser levelling</c:v>
                </c:pt>
                <c:pt idx="3">
                  <c:v>FABDEM
(reference)</c:v>
                </c:pt>
              </c:strCache>
            </c:strRef>
          </c:cat>
          <c:val>
            <c:numRef>
              <c:f>Sheet1!$B$2:$B$5</c:f>
              <c:numCache>
                <c:formatCode>General</c:formatCode>
                <c:ptCount val="4"/>
                <c:pt idx="0">
                  <c:v>0.1963152257460947</c:v>
                </c:pt>
                <c:pt idx="1">
                  <c:v>0.29891087032433084</c:v>
                </c:pt>
                <c:pt idx="2">
                  <c:v>0.7916966082555498</c:v>
                </c:pt>
                <c:pt idx="3">
                  <c:v>0.315796937816888</c:v>
                </c:pt>
              </c:numCache>
            </c:numRef>
          </c:val>
        </c:ser>
        <c:dLbls>
          <c:numFmt formatCode="0.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0.95"/>
          <c:min val="0.0"/>
        </c:scaling>
        <c:delete/>
        <c:axPos val="l"/>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MEASURED: RS3DAda error vs LiDAR by land cover (m)</a:t>
            </a:r>
          </a:p>
        </c:rich>
      </c:tx>
      <c:layout/>
      <c:overlay val="0"/>
    </c:title>
    <c:autoTitleDeleted val="0"/>
    <c:plotArea>
      <c:barChart>
        <c:barDir val="col"/>
        <c:grouping val="clustered"/>
        <c:ser>
          <c:idx val="0"/>
          <c:order val="0"/>
          <c:tx>
            <c:strRef>
              <c:f>Sheet1!$B$1</c:f>
              <c:strCache>
                <c:ptCount val="1"/>
                <c:pt idx="0">
                  <c:v>MAE (m)</c:v>
                </c:pt>
              </c:strCache>
            </c:strRef>
          </c:tx>
          <c:spPr>
            <a:solidFill>
              <a:srgbClr val="2068AA"/>
            </a:solidFill>
          </c:spPr>
          <c:cat>
            <c:strRef>
              <c:f>Sheet1!$A$2:$A$5</c:f>
              <c:strCache>
                <c:ptCount val="4"/>
                <c:pt idx="0">
                  <c:v>Buildings</c:v>
                </c:pt>
                <c:pt idx="1">
                  <c:v>Trees</c:v>
                </c:pt>
                <c:pt idx="2">
                  <c:v>Ground</c:v>
                </c:pt>
                <c:pt idx="3">
                  <c:v>Water</c:v>
                </c:pt>
              </c:strCache>
            </c:strRef>
          </c:cat>
          <c:val>
            <c:numRef>
              <c:f>Sheet1!$B$2:$B$5</c:f>
              <c:numCache>
                <c:formatCode>General</c:formatCode>
                <c:ptCount val="4"/>
                <c:pt idx="0">
                  <c:v>4.834915637969971</c:v>
                </c:pt>
                <c:pt idx="1">
                  <c:v>4.821352481842041</c:v>
                </c:pt>
                <c:pt idx="2">
                  <c:v>0.7524005174636841</c:v>
                </c:pt>
                <c:pt idx="3">
                  <c:v>0.41869211196899414</c:v>
                </c:pt>
              </c:numCache>
            </c:numRef>
          </c:val>
        </c:ser>
        <c:ser>
          <c:idx val="1"/>
          <c:order val="1"/>
          <c:tx>
            <c:strRef>
              <c:f>Sheet1!$C$1</c:f>
              <c:strCache>
                <c:ptCount val="1"/>
                <c:pt idx="0">
                  <c:v>RMSE (m)</c:v>
                </c:pt>
              </c:strCache>
            </c:strRef>
          </c:tx>
          <c:spPr>
            <a:solidFill>
              <a:srgbClr val="D2742D"/>
            </a:solidFill>
          </c:spPr>
          <c:cat>
            <c:strRef>
              <c:f>Sheet1!$A$2:$A$5</c:f>
              <c:strCache>
                <c:ptCount val="4"/>
                <c:pt idx="0">
                  <c:v>Buildings</c:v>
                </c:pt>
                <c:pt idx="1">
                  <c:v>Trees</c:v>
                </c:pt>
                <c:pt idx="2">
                  <c:v>Ground</c:v>
                </c:pt>
                <c:pt idx="3">
                  <c:v>Water</c:v>
                </c:pt>
              </c:strCache>
            </c:strRef>
          </c:cat>
          <c:val>
            <c:numRef>
              <c:f>Sheet1!$C$2:$C$5</c:f>
              <c:numCache>
                <c:formatCode>General</c:formatCode>
                <c:ptCount val="4"/>
                <c:pt idx="0">
                  <c:v>9.36008358001709</c:v>
                </c:pt>
                <c:pt idx="1">
                  <c:v>6.277276992797852</c:v>
                </c:pt>
                <c:pt idx="2">
                  <c:v>1.971459984779358</c:v>
                </c:pt>
                <c:pt idx="3">
                  <c:v>1.9895362854003906</c:v>
                </c:pt>
              </c:numCache>
            </c:numRef>
          </c:val>
        </c:ser>
        <c:dLbls>
          <c:numFmt formatCode="0.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in val="0.0"/>
        </c:scaling>
        <c:delete/>
        <c:axPos val="l"/>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800"/>
          </a:pPr>
        </a:p>
      </c:txPr>
    </c:legend>
    <c:dispBlanksAs val="gap"/>
  </c:chart>
  <c:txPr>
    <a:bodyPr/>
    <a:lstStyle/>
    <a:p>
      <a:pPr>
        <a:defRPr sz="800">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MEASURED on GAMUS, untuned model (m)</a:t>
            </a:r>
          </a:p>
        </c:rich>
      </c:tx>
      <c:layout/>
      <c:overlay val="0"/>
    </c:title>
    <c:autoTitleDeleted val="0"/>
    <c:plotArea>
      <c:barChart>
        <c:barDir val="col"/>
        <c:grouping val="clustered"/>
        <c:ser>
          <c:idx val="0"/>
          <c:order val="0"/>
          <c:tx>
            <c:strRef>
              <c:f>Sheet1!$B$1</c:f>
              <c:strCache>
                <c:ptCount val="1"/>
                <c:pt idx="0">
                  <c:v>MAE</c:v>
                </c:pt>
              </c:strCache>
            </c:strRef>
          </c:tx>
          <c:spPr>
            <a:solidFill>
              <a:srgbClr val="2068AA"/>
            </a:solidFill>
          </c:spPr>
          <c:cat>
            <c:strRef>
              <c:f>Sheet1!$A$2:$A$5</c:f>
              <c:strCache>
                <c:ptCount val="4"/>
                <c:pt idx="0">
                  <c:v>Buildings</c:v>
                </c:pt>
                <c:pt idx="1">
                  <c:v>Trees</c:v>
                </c:pt>
                <c:pt idx="2">
                  <c:v>Road</c:v>
                </c:pt>
                <c:pt idx="3">
                  <c:v>Ground</c:v>
                </c:pt>
              </c:strCache>
            </c:strRef>
          </c:cat>
          <c:val>
            <c:numRef>
              <c:f>Sheet1!$B$2:$B$5</c:f>
              <c:numCache>
                <c:formatCode>General</c:formatCode>
                <c:ptCount val="4"/>
                <c:pt idx="0">
                  <c:v>3.7464439868927</c:v>
                </c:pt>
                <c:pt idx="1">
                  <c:v>10.09723949432373</c:v>
                </c:pt>
                <c:pt idx="2">
                  <c:v>1.647608757019043</c:v>
                </c:pt>
                <c:pt idx="3">
                  <c:v>0.6853142976760864</c:v>
                </c:pt>
              </c:numCache>
            </c:numRef>
          </c:val>
        </c:ser>
        <c:ser>
          <c:idx val="1"/>
          <c:order val="1"/>
          <c:tx>
            <c:strRef>
              <c:f>Sheet1!$C$1</c:f>
              <c:strCache>
                <c:ptCount val="1"/>
                <c:pt idx="0">
                  <c:v>RMSE</c:v>
                </c:pt>
              </c:strCache>
            </c:strRef>
          </c:tx>
          <c:spPr>
            <a:solidFill>
              <a:srgbClr val="D2742D"/>
            </a:solidFill>
          </c:spPr>
          <c:cat>
            <c:strRef>
              <c:f>Sheet1!$A$2:$A$5</c:f>
              <c:strCache>
                <c:ptCount val="4"/>
                <c:pt idx="0">
                  <c:v>Buildings</c:v>
                </c:pt>
                <c:pt idx="1">
                  <c:v>Trees</c:v>
                </c:pt>
                <c:pt idx="2">
                  <c:v>Road</c:v>
                </c:pt>
                <c:pt idx="3">
                  <c:v>Ground</c:v>
                </c:pt>
              </c:strCache>
            </c:strRef>
          </c:cat>
          <c:val>
            <c:numRef>
              <c:f>Sheet1!$C$2:$C$5</c:f>
              <c:numCache>
                <c:formatCode>General</c:formatCode>
                <c:ptCount val="4"/>
                <c:pt idx="0">
                  <c:v>6.178127765655518</c:v>
                </c:pt>
                <c:pt idx="1">
                  <c:v>12.930747032165527</c:v>
                </c:pt>
                <c:pt idx="2">
                  <c:v>4.32865047454834</c:v>
                </c:pt>
                <c:pt idx="3">
                  <c:v>2.1533827781677246</c:v>
                </c:pt>
              </c:numCache>
            </c:numRef>
          </c:val>
        </c:ser>
        <c:dLbls>
          <c:numFmt formatCode="0.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15.516896438598632"/>
          <c:min val="0.0"/>
        </c:scaling>
        <c:delete/>
        <c:axPos val="l"/>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800"/>
          </a:pPr>
        </a:p>
      </c:txPr>
    </c:legend>
    <c:dispBlanksAs val="gap"/>
  </c:chart>
  <c:txPr>
    <a:bodyPr/>
    <a:lstStyle/>
    <a:p>
      <a:pPr>
        <a:defRPr sz="800">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Model shortlist (team assessment, /10)</a:t>
            </a:r>
          </a:p>
        </c:rich>
      </c:tx>
      <c:layout/>
      <c:overlay val="0"/>
    </c:title>
    <c:autoTitleDeleted val="0"/>
    <c:plotArea>
      <c:barChart>
        <c:barDir val="bar"/>
        <c:grouping val="clustered"/>
        <c:ser>
          <c:idx val="0"/>
          <c:order val="0"/>
          <c:tx>
            <c:strRef>
              <c:f>Sheet1!$B$1</c:f>
              <c:strCache>
                <c:ptCount val="1"/>
                <c:pt idx="0">
                  <c:v>Score</c:v>
                </c:pt>
              </c:strCache>
            </c:strRef>
          </c:tx>
          <c:spPr>
            <a:solidFill>
              <a:srgbClr val="2068AA"/>
            </a:solidFill>
          </c:spPr>
          <c:cat>
            <c:strRef>
              <c:f>Sheet1!$A$2:$A$8</c:f>
              <c:strCache>
                <c:ptCount val="7"/>
                <c:pt idx="0">
                  <c:v>RS3DAda</c:v>
                </c:pt>
                <c:pt idx="1">
                  <c:v>DINOv3-SAT + GAMUS fine-tune</c:v>
                </c:pt>
                <c:pt idx="2">
                  <c:v>TerraHeight-S</c:v>
                </c:pt>
                <c:pt idx="3">
                  <c:v>BuildMamba (no weights yet)</c:v>
                </c:pt>
                <c:pt idx="4">
                  <c:v>Depth2Elevation (no code)</c:v>
                </c:pt>
                <c:pt idx="5">
                  <c:v>HTC-DC Net</c:v>
                </c:pt>
                <c:pt idx="6">
                  <c:v>CHMv2 as-is (trees only)</c:v>
                </c:pt>
              </c:strCache>
            </c:strRef>
          </c:cat>
          <c:val>
            <c:numRef>
              <c:f>Sheet1!$B$2:$B$8</c:f>
              <c:numCache>
                <c:formatCode>General</c:formatCode>
                <c:ptCount val="7"/>
                <c:pt idx="0">
                  <c:v>9</c:v>
                </c:pt>
                <c:pt idx="1">
                  <c:v>8.5</c:v>
                </c:pt>
                <c:pt idx="2">
                  <c:v>7.5</c:v>
                </c:pt>
                <c:pt idx="3">
                  <c:v>6.5</c:v>
                </c:pt>
                <c:pt idx="4">
                  <c:v>6</c:v>
                </c:pt>
                <c:pt idx="5">
                  <c:v>5.5</c:v>
                </c:pt>
                <c:pt idx="6">
                  <c:v>3</c:v>
                </c:pt>
              </c:numCache>
            </c:numRef>
          </c:val>
        </c:ser>
        <c:dLbls>
          <c:numFmt formatCode="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10.0"/>
          <c:min val="0.0"/>
        </c:scaling>
        <c:delete val="0"/>
        <c:axPos val="b"/>
        <c:majorGridlines>
          <c:spPr>
            <a:ln>
              <a:solidFill>
                <a:srgbClr val="D5DCE7"/>
              </a:solidFill>
            </a:ln>
          </c:spPr>
        </c:majorGridlines>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MEASURED: where our ± is high, real error is high (MAE, m)</a:t>
            </a:r>
          </a:p>
        </c:rich>
      </c:tx>
      <c:layout/>
      <c:overlay val="0"/>
    </c:title>
    <c:autoTitleDeleted val="0"/>
    <c:plotArea>
      <c:barChart>
        <c:barDir val="col"/>
        <c:grouping val="clustered"/>
        <c:ser>
          <c:idx val="0"/>
          <c:order val="0"/>
          <c:tx>
            <c:strRef>
              <c:f>Sheet1!$B$1</c:f>
              <c:strCache>
                <c:ptCount val="1"/>
                <c:pt idx="0">
                  <c:v>Real MAE (m)</c:v>
                </c:pt>
              </c:strCache>
            </c:strRef>
          </c:tx>
          <c:spPr>
            <a:solidFill>
              <a:srgbClr val="D2742D"/>
            </a:solidFill>
          </c:spPr>
          <c:cat>
            <c:strRef>
              <c:f>Sheet1!$A$2:$A$6</c:f>
              <c:strCache>
                <c:ptCount val="5"/>
                <c:pt idx="0">
                  <c:v>Lowest ±
0.07 m</c:v>
                </c:pt>
                <c:pt idx="1">
                  <c:v>Low ±
0.12 m</c:v>
                </c:pt>
                <c:pt idx="2">
                  <c:v>Middle ±
0.19 m</c:v>
                </c:pt>
                <c:pt idx="3">
                  <c:v>High ±
0.38 m</c:v>
                </c:pt>
                <c:pt idx="4">
                  <c:v>Highest ±
1.43 m</c:v>
                </c:pt>
              </c:strCache>
            </c:strRef>
          </c:cat>
          <c:val>
            <c:numRef>
              <c:f>Sheet1!$B$2:$B$6</c:f>
              <c:numCache>
                <c:formatCode>General</c:formatCode>
                <c:ptCount val="5"/>
                <c:pt idx="0">
                  <c:v>0.6983998417854309</c:v>
                </c:pt>
                <c:pt idx="1">
                  <c:v>0.8825721144676208</c:v>
                </c:pt>
                <c:pt idx="2">
                  <c:v>1.4894120693206787</c:v>
                </c:pt>
                <c:pt idx="3">
                  <c:v>2.8788704872131348</c:v>
                </c:pt>
                <c:pt idx="4">
                  <c:v>5.1387810707092285</c:v>
                </c:pt>
              </c:numCache>
            </c:numRef>
          </c:val>
        </c:ser>
        <c:dLbls>
          <c:numFmt formatCode="0.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in val="0.0"/>
        </c:scaling>
        <c:delete/>
        <c:axPos val="l"/>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One satellite image goes in and measured heights come out, and this already works in our prototype. We upload a GeoTIFF of a town; the model estimates every building's height above ground; the terrain comes from a free 30 m elevation model with buildings removed and is levelled with NASA ICESat-2 laser points. The user flies through the town, clicks a building and sees its height with an uncertainty range. PNG/JPG inputs give relative heights; GeoTIFF inputs give metres, as the PS asks.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RS3DAda is our main model: released, trained for buildings and terrain, and it runs on an 8 GB laptop. Ticks mark what already works in our prototype; bullets are planned. On the May 2024 Porto Alegre flood we predicted the flooded area from pre-flood images and compared it with the LiDAR-based flood map of the IPH-UFRGS hydraulics institute. The raw 30 m elevation model scores CSI 0.20; removing buildings with our heights gives 0.30; levelling the terrain with NASA ICESat-2 laser points gives 0.79 (4 test areas). FABDEM, a published bare-earth model, scores 0.32. The middle picture is our viewer flying over the flooded town; the whole flight is saved as an MP4. On GAMUS, the dataset the PS recommends, the released model without any GAMUS training scores MAE 3.88 m and RMSE 5.56 m on 150 test tiles. Ground is within 0.7 m and buildings 3.7 m; trees are the main error, read about 9 m too low, largely because many trees in the Washington and New York photos are leafless. That is what our planned GAMUS fine-tuning targets. </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we depend on is already public: model weights, GAMUS, the Copernicus elevation model, ICESat-2. Our biggest risks are wrong scale and wrong ground level; removing buildings from the terrain and levelling it with laser points handles the second, and we measured the gain. Today the prototype runs offline on a laptop; an ONNX CPU model and a desktop app are next.</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Example from our test on the May 2024 Porto Alegre flood: starting from pre-flood images, our flood map matched the LiDAR-based flood map with CSI 0.79 where laser data was available. Planners get building heights where no LiDAR exists, and ISRO gets more value from existing optical images.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 method here is published and cited, and the charts are our own measurements. We ran the released RS3DAda model on 200 DFC2019 test tiles and compared every pixel with LiDAR: MAE 2.22 m, RMSE 3.83 m. The right chart shows our uncertainty map is useful: where the ± is highest, the real error is about 7 times larger than where it is lowest, so the viewer can flag heights not to trust. On GAMUS, the dataset the PS recommends, the released model without any GAMUS training scores MAE 3.88 m and RMSE 5.56 m on 150 test tiles. Ground is within 0.7 m and buildings 3.7 m; trees are the main error, read about 9 m too low, largely because many trees in the Washington and New York photos are leafless. That is what our planned GAMUS fine-tuning targets. Against ICESat-2 laser ground points in 9 of our demo scenes, the raw elevation model is typically 2.8 m off, and 1.6 m after we remove buildings with our heights; the app then shifts the terrain to match the laser. Tall buildings are still under-estimated, by about 8 m above 20 m; a global correction learned on separate tiles did not fix that, so the next step is local laser heights for buildings, as the 2026 ISPRS study did.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TerraVista from IIT Ropar. Our idea, DepthWizard, answers SIH26175: single-view height estimation and 3D flythrough for disaster management.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8/28/2026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8/28/2026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8/28/2026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8/28/2026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1.xml"/><Relationship Id="rId6" Type="http://schemas.openxmlformats.org/officeDocument/2006/relationships/image" Target="../media/image4.png"/><Relationship Id="rId7"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2.xml"/><Relationship Id="rId6"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pP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pP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924457" y="1797161"/>
            <a:ext cx="3203509" cy="3426237"/>
          </a:xfrm>
          <a:prstGeom prst="rect">
            <a:avLst/>
          </a:prstGeom>
        </p:spPr>
      </p:pic>
      <p:sp>
        <p:nvSpPr>
          <p:cNvPr id="4" name="Subtitle 3"/>
          <p:cNvSpPr>
            <a:spLocks noGrp="1"/>
          </p:cNvSpPr>
          <p:nvPr>
            <p:ph type="subTitle" idx="1"/>
          </p:nvPr>
        </p:nvSpPr>
        <p:spPr>
          <a:xfrm>
            <a:off x="12791440" y="648614"/>
            <a:ext cx="965200" cy="1752600"/>
          </a:xfrm>
        </p:spPr>
        <p:txBody>
          <a:bodyPr wrap="square" lIns="38100" tIns="19050" rIns="38100" bIns="19050" anchor="ctr"/>
          <a:lstStyle/>
          <a:p>
            <a:pPr algn="ctr">
              <a:lnSpc>
                <a:spcPct val="100000"/>
              </a:lnSpc>
              <a:spcBef>
                <a:spcPts val="0"/>
              </a:spcBef>
              <a:spcAft>
                <a:spcPts val="150"/>
              </a:spcAft>
            </a:pP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wrap="square" lIns="38100" tIns="19050" rIns="38100" bIns="19050" anchor="ctr"/>
          <a:lstStyle/>
          <a:p>
            <a:pPr algn="ctr">
              <a:lnSpc>
                <a:spcPct val="95000"/>
              </a:lnSpc>
              <a:spcBef>
                <a:spcPts val="0"/>
              </a:spcBef>
              <a:spcAft>
                <a:spcPts val="0"/>
              </a:spcAft>
            </a:pPr>
            <a:r>
              <a:rPr sz="3200" b="1" i="0" dirty="0">
                <a:solidFill>
                  <a:srgbClr val="17273A"/>
                </a:solidFill>
                <a:latin typeface="Aptos Display"/>
              </a:rPr>
              <a:t>SMART INDIA HACKATHON 2026</a:t>
            </a:r>
            <a:endParaRPr lang="en-IN" b="1" dirty="0">
              <a:solidFill>
                <a:schemeClr val="tx2"/>
              </a:solidFill>
              <a:latin typeface="Garamond" panose="02020404030301010803" pitchFamily="18" charset="0"/>
            </a:endParaRPr>
          </a:p>
        </p:txBody>
      </p:sp>
      <p:sp>
        <p:nvSpPr>
          <p:cNvPr id="10" name="TextBox 9"/>
          <p:cNvSpPr txBox="1"/>
          <p:nvPr/>
        </p:nvSpPr>
        <p:spPr>
          <a:xfrm>
            <a:off x="412566" y="1916902"/>
            <a:ext cx="5924550" cy="3577903"/>
          </a:xfrm>
          <a:prstGeom prst="rect">
            <a:avLst/>
          </a:prstGeom>
          <a:noFill/>
        </p:spPr>
        <p:txBody>
          <a:bodyPr wrap="square" lIns="38100" tIns="19050" rIns="38100" bIns="19050" rtlCol="0">
            <a:spAutoFit/>
          </a:bodyPr>
          <a:lstStyle/>
          <a:p>
            <a:pPr>
              <a:spcBef>
                <a:spcPts val="0"/>
              </a:spcBef>
              <a:spcAft>
                <a:spcPts val="400"/>
              </a:spcAft>
              <a:defRPr sz="1500">
                <a:solidFill>
                  <a:srgbClr val="232B36"/>
                </a:solidFill>
              </a:defRPr>
            </a:pPr>
            <a:r>
              <a:rPr sz="2000" b="1" i="0" dirty="0">
                <a:solidFill>
                  <a:srgbClr val="17273A"/>
                </a:solidFill>
                <a:latin typeface="Aptos"/>
              </a:rPr>
              <a:t>Problem Statement ID - </a:t>
            </a:r>
            <a:r>
              <a:rPr sz="2000" b="0" i="0" dirty="0">
                <a:solidFill>
                  <a:srgbClr val="24313F"/>
                </a:solidFill>
                <a:latin typeface="Aptos"/>
              </a:rPr>
              <a:t>SIH26175</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Problem Statement Title - </a:t>
            </a:r>
            <a:r>
              <a:rPr sz="2000" b="0" i="0" dirty="0">
                <a:solidFill>
                  <a:srgbClr val="24313F"/>
                </a:solidFill>
                <a:latin typeface="Aptos"/>
              </a:rPr>
              <a:t>Single-View Height Estimation and 3D Flythrough</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Theme - </a:t>
            </a:r>
            <a:r>
              <a:rPr sz="2000" b="0" i="0" dirty="0">
                <a:solidFill>
                  <a:srgbClr val="24313F"/>
                </a:solidFill>
                <a:latin typeface="Aptos"/>
              </a:rPr>
              <a:t>Disaster Management</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PS Category </a:t>
            </a:r>
            <a:r>
              <a:rPr lang="en-IN" sz="2000" b="1" i="0" dirty="0">
                <a:solidFill>
                  <a:srgbClr val="17273A"/>
                </a:solidFill>
                <a:latin typeface="Aptos"/>
              </a:rPr>
              <a:t>–</a:t>
            </a:r>
            <a:r>
              <a:rPr sz="2000" b="1" i="0" dirty="0">
                <a:solidFill>
                  <a:srgbClr val="17273A"/>
                </a:solidFill>
                <a:latin typeface="Aptos"/>
              </a:rPr>
              <a:t> </a:t>
            </a:r>
            <a:r>
              <a:rPr sz="2000" b="0" i="0" dirty="0">
                <a:solidFill>
                  <a:srgbClr val="24313F"/>
                </a:solidFill>
                <a:latin typeface="Aptos"/>
              </a:rPr>
              <a:t>Software</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Team ID - </a:t>
            </a:r>
            <a:r>
              <a:rPr sz="2000" b="0" i="0" dirty="0">
                <a:solidFill>
                  <a:srgbClr val="24313F"/>
                </a:solidFill>
                <a:latin typeface="Aptos"/>
              </a:rPr>
              <a:t>[Registered Team ID]</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Team Name (Registered on portal) - </a:t>
            </a:r>
            <a:r>
              <a:rPr sz="2000" b="0" i="0" dirty="0" err="1">
                <a:solidFill>
                  <a:srgbClr val="24313F"/>
                </a:solidFill>
                <a:latin typeface="Aptos"/>
              </a:rPr>
              <a:t>TerraVista_iitrpr</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Idea Title - </a:t>
            </a:r>
            <a:r>
              <a:rPr sz="2000" b="0" i="0" dirty="0" err="1">
                <a:solidFill>
                  <a:srgbClr val="24313F"/>
                </a:solidFill>
                <a:latin typeface="Aptos"/>
              </a:rPr>
              <a:t>DepthWizard</a:t>
            </a:r>
            <a:endParaRPr sz="2000" b="0" i="0" dirty="0">
              <a:solidFill>
                <a:srgbClr val="24313F"/>
              </a:solidFill>
              <a:latin typeface="Aptos"/>
            </a:endParaRPr>
          </a:p>
        </p:txBody>
      </p:sp>
      <p:pic>
        <p:nvPicPr>
          <p:cNvPr id="38" name="Picture 37" descr="image2.png"/>
          <p:cNvPicPr>
            <a:picLocks noChangeAspect="1"/>
          </p:cNvPicPr>
          <p:nvPr/>
        </p:nvPicPr>
        <p:blipFill>
          <a:blip r:embed="rId3"/>
          <a:stretch>
            <a:fillRect/>
          </a:stretch>
        </p:blipFill>
        <p:spPr>
          <a:xfrm>
            <a:off x="9841366" y="6297"/>
            <a:ext cx="2209120" cy="11228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93" name="Rounded Rectangle 15392"/>
          <p:cNvSpPr/>
          <p:nvPr/>
        </p:nvSpPr>
        <p:spPr>
          <a:xfrm>
            <a:off x="6108192" y="2724912"/>
            <a:ext cx="5440680" cy="1819656"/>
          </a:xfrm>
          <a:prstGeom prst="roundRect">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9" name="Rounded Rectangle 15388"/>
          <p:cNvSpPr/>
          <p:nvPr/>
        </p:nvSpPr>
        <p:spPr>
          <a:xfrm>
            <a:off x="594360" y="2715768"/>
            <a:ext cx="5321808" cy="1828800"/>
          </a:xfrm>
          <a:prstGeom prst="roundRect">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wrap="square" lIns="38100" tIns="19050" rIns="38100" bIns="19050" anchor="ctr"/>
          <a:lstStyle/>
          <a:p>
            <a:pPr algn="ctr" eaLnBrk="1" hangingPunct="1">
              <a:lnSpc>
                <a:spcPct val="100000"/>
              </a:lnSpc>
              <a:spcBef>
                <a:spcPts val="0"/>
              </a:spcBef>
              <a:spcAft>
                <a:spcPts val="0"/>
              </a:spcAft>
            </a:pP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lIns="38100" tIns="19050" rIns="38100" bIns="19050"/>
          <a:lstStyle/>
          <a:p>
            <a:pPr algn="r">
              <a:spcBef>
                <a:spcPts val="0"/>
              </a:spcBef>
              <a:spcAft>
                <a:spcPts val="0"/>
              </a:spcAft>
            </a:pPr>
            <a:fld id="{677C3CE7-23F7-4828-823C-E0205DF2CF97}" type="slidenum">
              <a:rPr lang="en-US" b="1" smtClean="0">
                <a:solidFill>
                  <a:schemeClr val="bg1"/>
                </a:solidFill>
              </a:rPr>
              <a:pPr/>
              <a:t>2</a:t>
            </a:fld>
            <a:endParaRPr lang="en-US" b="1" dirty="0">
              <a:solidFill>
                <a:schemeClr val="bg1"/>
              </a:solidFill>
            </a:endParaRPr>
          </a:p>
        </p:txBody>
      </p:sp>
      <p:sp>
        <p:nvSpPr>
          <p:cNvPr id="15362" name="TextBox 15361"/>
          <p:cNvSpPr txBox="1"/>
          <p:nvPr/>
        </p:nvSpPr>
        <p:spPr>
          <a:xfrm>
            <a:off x="502920" y="1087298"/>
            <a:ext cx="11064240" cy="330860"/>
          </a:xfrm>
          <a:prstGeom prst="rect">
            <a:avLst/>
          </a:prstGeom>
          <a:noFill/>
        </p:spPr>
        <p:txBody>
          <a:bodyPr wrap="square" lIns="38100" tIns="19050" rIns="38100" bIns="19050" anchor="ctr">
            <a:spAutoFit/>
          </a:bodyPr>
          <a:lstStyle/>
          <a:p>
            <a:pPr algn="l">
              <a:lnSpc>
                <a:spcPct val="100000"/>
              </a:lnSpc>
              <a:spcBef>
                <a:spcPts val="0"/>
              </a:spcBef>
              <a:spcAft>
                <a:spcPts val="0"/>
              </a:spcAft>
              <a:defRPr sz="1630" b="1">
                <a:solidFill>
                  <a:srgbClr val="152742"/>
                </a:solidFill>
              </a:defRPr>
            </a:pPr>
            <a:r>
              <a:rPr sz="1900" b="1" i="0" dirty="0" err="1">
                <a:solidFill>
                  <a:srgbClr val="17273A"/>
                </a:solidFill>
                <a:latin typeface="Aptos"/>
              </a:rPr>
              <a:t>DepthWizard: One Satellite Image → Measured 3D Heights You Can Fly Through and Verify</a:t>
            </a:r>
          </a:p>
        </p:txBody>
      </p:sp>
      <p:sp>
        <p:nvSpPr>
          <p:cNvPr id="15363" name="Rounded Rectangle 15362"/>
          <p:cNvSpPr/>
          <p:nvPr/>
        </p:nvSpPr>
        <p:spPr>
          <a:xfrm>
            <a:off x="502920" y="1572768"/>
            <a:ext cx="2157984" cy="896112"/>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64" name="Rounded Rectangle 15363"/>
          <p:cNvSpPr/>
          <p:nvPr/>
        </p:nvSpPr>
        <p:spPr>
          <a:xfrm>
            <a:off x="502920" y="1572768"/>
            <a:ext cx="2157984" cy="283464"/>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65" name="TextBox 15364"/>
          <p:cNvSpPr txBox="1"/>
          <p:nvPr/>
        </p:nvSpPr>
        <p:spPr>
          <a:xfrm>
            <a:off x="594360"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INPUT</a:t>
            </a:r>
          </a:p>
        </p:txBody>
      </p:sp>
      <p:sp>
        <p:nvSpPr>
          <p:cNvPr id="15366" name="TextBox 15365"/>
          <p:cNvSpPr txBox="1"/>
          <p:nvPr/>
        </p:nvSpPr>
        <p:spPr>
          <a:xfrm>
            <a:off x="566928"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PNG / JPG / TIFF / GeoTIFF</a:t>
            </a:r>
          </a:p>
        </p:txBody>
      </p:sp>
      <p:sp>
        <p:nvSpPr>
          <p:cNvPr id="15367" name="Right Arrow 15366"/>
          <p:cNvSpPr/>
          <p:nvPr/>
        </p:nvSpPr>
        <p:spPr>
          <a:xfrm>
            <a:off x="2688336" y="1847088"/>
            <a:ext cx="283464" cy="292608"/>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68" name="Rounded Rectangle 15367"/>
          <p:cNvSpPr/>
          <p:nvPr/>
        </p:nvSpPr>
        <p:spPr>
          <a:xfrm>
            <a:off x="2807208" y="1572768"/>
            <a:ext cx="2157984" cy="896112"/>
          </a:xfrm>
          <a:prstGeom prst="roundRect">
            <a:avLst/>
          </a:prstGeom>
          <a:solidFill>
            <a:srgbClr val="FFFFFF"/>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69" name="Rounded Rectangle 15368"/>
          <p:cNvSpPr/>
          <p:nvPr/>
        </p:nvSpPr>
        <p:spPr>
          <a:xfrm>
            <a:off x="2807208" y="1572768"/>
            <a:ext cx="2157984" cy="283464"/>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0" name="TextBox 15369"/>
          <p:cNvSpPr txBox="1"/>
          <p:nvPr/>
        </p:nvSpPr>
        <p:spPr>
          <a:xfrm>
            <a:off x="2898648"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AI HEIGHT</a:t>
            </a:r>
          </a:p>
        </p:txBody>
      </p:sp>
      <p:sp>
        <p:nvSpPr>
          <p:cNvPr id="15371" name="TextBox 15370"/>
          <p:cNvSpPr txBox="1"/>
          <p:nvPr/>
        </p:nvSpPr>
        <p:spPr>
          <a:xfrm>
            <a:off x="2871216"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Height above ground, every pixel</a:t>
            </a:r>
          </a:p>
        </p:txBody>
      </p:sp>
      <p:sp>
        <p:nvSpPr>
          <p:cNvPr id="15372" name="Right Arrow 15371"/>
          <p:cNvSpPr/>
          <p:nvPr/>
        </p:nvSpPr>
        <p:spPr>
          <a:xfrm>
            <a:off x="4992624" y="1847088"/>
            <a:ext cx="283464" cy="292608"/>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3" name="Rounded Rectangle 15372"/>
          <p:cNvSpPr/>
          <p:nvPr/>
        </p:nvSpPr>
        <p:spPr>
          <a:xfrm>
            <a:off x="5111496" y="1572768"/>
            <a:ext cx="2157984" cy="896112"/>
          </a:xfrm>
          <a:prstGeom prst="roundRect">
            <a:avLst/>
          </a:prstGeom>
          <a:solidFill>
            <a:srgbClr val="FFFFFF"/>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4" name="Rounded Rectangle 15373"/>
          <p:cNvSpPr/>
          <p:nvPr/>
        </p:nvSpPr>
        <p:spPr>
          <a:xfrm>
            <a:off x="5111496" y="1572768"/>
            <a:ext cx="2157984" cy="283464"/>
          </a:xfrm>
          <a:prstGeom prst="roundRect">
            <a:avLst/>
          </a:prstGeom>
          <a:solidFill>
            <a:srgbClr val="45885C"/>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5" name="TextBox 15374"/>
          <p:cNvSpPr txBox="1"/>
          <p:nvPr/>
        </p:nvSpPr>
        <p:spPr>
          <a:xfrm>
            <a:off x="5202936"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CALIBRATE</a:t>
            </a:r>
          </a:p>
        </p:txBody>
      </p:sp>
      <p:sp>
        <p:nvSpPr>
          <p:cNvPr id="15376" name="TextBox 15375"/>
          <p:cNvSpPr txBox="1"/>
          <p:nvPr/>
        </p:nvSpPr>
        <p:spPr>
          <a:xfrm>
            <a:off x="5175504"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Terrain DEM + ICESat-2 → real metres</a:t>
            </a:r>
          </a:p>
        </p:txBody>
      </p:sp>
      <p:sp>
        <p:nvSpPr>
          <p:cNvPr id="15377" name="Right Arrow 15376"/>
          <p:cNvSpPr/>
          <p:nvPr/>
        </p:nvSpPr>
        <p:spPr>
          <a:xfrm>
            <a:off x="7296912" y="1847088"/>
            <a:ext cx="283464" cy="292608"/>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8" name="Rounded Rectangle 15377"/>
          <p:cNvSpPr/>
          <p:nvPr/>
        </p:nvSpPr>
        <p:spPr>
          <a:xfrm>
            <a:off x="7415783" y="1572768"/>
            <a:ext cx="2157984" cy="896112"/>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9" name="Rounded Rectangle 15378"/>
          <p:cNvSpPr/>
          <p:nvPr/>
        </p:nvSpPr>
        <p:spPr>
          <a:xfrm>
            <a:off x="7415783" y="1572768"/>
            <a:ext cx="2157984" cy="283464"/>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0" name="TextBox 15379"/>
          <p:cNvSpPr txBox="1"/>
          <p:nvPr/>
        </p:nvSpPr>
        <p:spPr>
          <a:xfrm>
            <a:off x="7507223"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VERIFY</a:t>
            </a:r>
          </a:p>
        </p:txBody>
      </p:sp>
      <p:sp>
        <p:nvSpPr>
          <p:cNvPr id="15381" name="TextBox 15380"/>
          <p:cNvSpPr txBox="1"/>
          <p:nvPr/>
        </p:nvSpPr>
        <p:spPr>
          <a:xfrm>
            <a:off x="7479792"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ICESat-2 laser check + click-to-measure</a:t>
            </a:r>
          </a:p>
        </p:txBody>
      </p:sp>
      <p:sp>
        <p:nvSpPr>
          <p:cNvPr id="15382" name="Right Arrow 15381"/>
          <p:cNvSpPr/>
          <p:nvPr/>
        </p:nvSpPr>
        <p:spPr>
          <a:xfrm>
            <a:off x="9601200" y="1847088"/>
            <a:ext cx="283464" cy="292608"/>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3" name="Rounded Rectangle 15382"/>
          <p:cNvSpPr/>
          <p:nvPr/>
        </p:nvSpPr>
        <p:spPr>
          <a:xfrm>
            <a:off x="9720072" y="1572768"/>
            <a:ext cx="2157984" cy="896112"/>
          </a:xfrm>
          <a:prstGeom prst="roundRect">
            <a:avLst/>
          </a:prstGeom>
          <a:solidFill>
            <a:srgbClr val="FFFFFF"/>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4" name="Rounded Rectangle 15383"/>
          <p:cNvSpPr/>
          <p:nvPr/>
        </p:nvSpPr>
        <p:spPr>
          <a:xfrm>
            <a:off x="9720072" y="1572768"/>
            <a:ext cx="2157984" cy="283464"/>
          </a:xfrm>
          <a:prstGeom prst="roundRect">
            <a:avLst/>
          </a:prstGeom>
          <a:solidFill>
            <a:srgbClr val="D2742D"/>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5" name="TextBox 15384"/>
          <p:cNvSpPr txBox="1"/>
          <p:nvPr/>
        </p:nvSpPr>
        <p:spPr>
          <a:xfrm>
            <a:off x="9811511"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FLY &amp; ACT</a:t>
            </a:r>
          </a:p>
        </p:txBody>
      </p:sp>
      <p:sp>
        <p:nvSpPr>
          <p:cNvPr id="15386" name="TextBox 15385"/>
          <p:cNvSpPr txBox="1"/>
          <p:nvPr/>
        </p:nvSpPr>
        <p:spPr>
          <a:xfrm>
            <a:off x="9784080"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3D flythrough + flood / slope tools</a:t>
            </a:r>
          </a:p>
        </p:txBody>
      </p:sp>
      <p:sp>
        <p:nvSpPr>
          <p:cNvPr id="15387" name="Rounded Rectangle 15386"/>
          <p:cNvSpPr/>
          <p:nvPr/>
        </p:nvSpPr>
        <p:spPr>
          <a:xfrm>
            <a:off x="594360" y="2688336"/>
            <a:ext cx="5321808"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8" name="TextBox 15387"/>
          <p:cNvSpPr txBox="1"/>
          <p:nvPr/>
        </p:nvSpPr>
        <p:spPr>
          <a:xfrm>
            <a:off x="685800" y="2715768"/>
            <a:ext cx="5138928"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HOW IT MEETS THE PROBLEM STATEMENT</a:t>
            </a:r>
          </a:p>
        </p:txBody>
      </p:sp>
      <p:sp>
        <p:nvSpPr>
          <p:cNvPr id="15390" name="TextBox 15389"/>
          <p:cNvSpPr txBox="1"/>
          <p:nvPr/>
        </p:nvSpPr>
        <p:spPr>
          <a:xfrm>
            <a:off x="795528" y="3235960"/>
            <a:ext cx="4919472" cy="1005840"/>
          </a:xfrm>
          <a:prstGeom prst="rect">
            <a:avLst/>
          </a:prstGeom>
          <a:noFill/>
        </p:spPr>
        <p:txBody>
          <a:bodyPr wrap="square" lIns="38100" tIns="19050" rIns="38100" bIns="19050" anchor="ctr">
            <a:spAutoFit/>
          </a:bodyPr>
          <a:lstStyle/>
          <a:p>
            <a:pPr algn="l">
              <a:lnSpc>
                <a:spcPct val="110000"/>
              </a:lnSpc>
              <a:spcBef>
                <a:spcPts val="0"/>
              </a:spcBef>
              <a:spcAft>
                <a:spcPts val="150"/>
              </a:spcAft>
              <a:defRPr sz="1055">
                <a:solidFill>
                  <a:srgbClr val="232B36"/>
                </a:solidFill>
              </a:defRPr>
            </a:pPr>
            <a:r>
              <a:rPr sz="1190" dirty="0"/>
              <a:t>✓ One optical image in: no stereo pair, LiDAR or InSAR needed</a:t>
            </a:r>
          </a:p>
          <a:p>
            <a:pPr algn="l">
              <a:lnSpc>
                <a:spcPct val="110000"/>
              </a:lnSpc>
              <a:spcBef>
                <a:spcPts val="0"/>
              </a:spcBef>
              <a:spcAft>
                <a:spcPts val="150"/>
              </a:spcAft>
              <a:defRPr sz="1055">
                <a:solidFill>
                  <a:srgbClr val="232B36"/>
                </a:solidFill>
              </a:defRPr>
            </a:pPr>
            <a:r>
              <a:rPr sz="1190" dirty="0"/>
              <a:t>✓ PNG/JPG → relative DSM · GeoTIFF → absolute DSM in metres</a:t>
            </a:r>
          </a:p>
          <a:p>
            <a:pPr algn="l">
              <a:lnSpc>
                <a:spcPct val="110000"/>
              </a:lnSpc>
              <a:spcBef>
                <a:spcPts val="0"/>
              </a:spcBef>
              <a:spcAft>
                <a:spcPts val="150"/>
              </a:spcAft>
              <a:defRPr sz="1055">
                <a:solidFill>
                  <a:srgbClr val="232B36"/>
                </a:solidFill>
              </a:defRPr>
            </a:pPr>
            <a:r>
              <a:rPr sz="1190" dirty="0"/>
              <a:t>✓ Upload → auto-process → fly through the reconstructed 3D terrain</a:t>
            </a:r>
          </a:p>
          <a:p>
            <a:pPr algn="l">
              <a:lnSpc>
                <a:spcPct val="110000"/>
              </a:lnSpc>
              <a:spcBef>
                <a:spcPts val="0"/>
              </a:spcBef>
              <a:spcAft>
                <a:spcPts val="150"/>
              </a:spcAft>
              <a:defRPr sz="1055">
                <a:solidFill>
                  <a:srgbClr val="232B36"/>
                </a:solidFill>
              </a:defRPr>
            </a:pPr>
            <a:r>
              <a:rPr sz="1190" dirty="0"/>
              <a:t>✓ Click any building: estimated height ± uncertainty, roof level in m</a:t>
            </a:r>
          </a:p>
          <a:p>
            <a:pPr algn="l">
              <a:lnSpc>
                <a:spcPct val="110000"/>
              </a:lnSpc>
              <a:spcBef>
                <a:spcPts val="0"/>
              </a:spcBef>
              <a:spcAft>
                <a:spcPts val="150"/>
              </a:spcAft>
              <a:defRPr sz="1055">
                <a:solidFill>
                  <a:srgbClr val="232B36"/>
                </a:solidFill>
              </a:defRPr>
            </a:pPr>
            <a:r>
              <a:rPr sz="1190" dirty="0"/>
              <a:t>✓ Working prototype: runs offline on a laptop; GeoTIFF + GLB export</a:t>
            </a:r>
          </a:p>
        </p:txBody>
      </p:sp>
      <p:sp>
        <p:nvSpPr>
          <p:cNvPr id="15391" name="Rounded Rectangle 15390"/>
          <p:cNvSpPr/>
          <p:nvPr/>
        </p:nvSpPr>
        <p:spPr>
          <a:xfrm>
            <a:off x="6108192" y="2688336"/>
            <a:ext cx="5440680" cy="301752"/>
          </a:xfrm>
          <a:prstGeom prst="roundRect">
            <a:avLst/>
          </a:prstGeom>
          <a:solidFill>
            <a:srgbClr val="D2742D"/>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92" name="TextBox 15391"/>
          <p:cNvSpPr txBox="1"/>
          <p:nvPr/>
        </p:nvSpPr>
        <p:spPr>
          <a:xfrm>
            <a:off x="6199631" y="2715768"/>
            <a:ext cx="5257800"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WHY DEPTHWIZARD IS DIFFERENT</a:t>
            </a:r>
          </a:p>
        </p:txBody>
      </p:sp>
      <p:sp>
        <p:nvSpPr>
          <p:cNvPr id="15394" name="TextBox 15393"/>
          <p:cNvSpPr txBox="1"/>
          <p:nvPr/>
        </p:nvSpPr>
        <p:spPr>
          <a:xfrm>
            <a:off x="6309360" y="3205480"/>
            <a:ext cx="5029200" cy="1005840"/>
          </a:xfrm>
          <a:prstGeom prst="rect">
            <a:avLst/>
          </a:prstGeom>
          <a:noFill/>
        </p:spPr>
        <p:txBody>
          <a:bodyPr wrap="square" lIns="38100" tIns="19050" rIns="38100" bIns="19050" anchor="ctr">
            <a:spAutoFit/>
          </a:bodyPr>
          <a:lstStyle/>
          <a:p>
            <a:pPr algn="l">
              <a:lnSpc>
                <a:spcPct val="110000"/>
              </a:lnSpc>
              <a:spcBef>
                <a:spcPts val="0"/>
              </a:spcBef>
              <a:spcAft>
                <a:spcPts val="150"/>
              </a:spcAft>
              <a:defRPr sz="1055">
                <a:solidFill>
                  <a:srgbClr val="232B36"/>
                </a:solidFill>
              </a:defRPr>
            </a:pPr>
            <a:r>
              <a:rPr sz="1190" dirty="0"/>
              <a:t>• Satellite-trained height model; generic depth AI fails on top-down images</a:t>
            </a:r>
          </a:p>
          <a:p>
            <a:pPr algn="l">
              <a:lnSpc>
                <a:spcPct val="110000"/>
              </a:lnSpc>
              <a:spcBef>
                <a:spcPts val="0"/>
              </a:spcBef>
              <a:spcAft>
                <a:spcPts val="150"/>
              </a:spcAft>
              <a:defRPr sz="1055">
                <a:solidFill>
                  <a:srgbClr val="232B36"/>
                </a:solidFill>
              </a:defRPr>
            </a:pPr>
            <a:r>
              <a:rPr sz="1190" dirty="0"/>
              <a:t>• Terrain levelled with NASA ICESat-2 laser: flood map CSI 0.30 → 0.79</a:t>
            </a:r>
          </a:p>
          <a:p>
            <a:pPr algn="l">
              <a:lnSpc>
                <a:spcPct val="110000"/>
              </a:lnSpc>
              <a:spcBef>
                <a:spcPts val="0"/>
              </a:spcBef>
              <a:spcAft>
                <a:spcPts val="150"/>
              </a:spcAft>
              <a:defRPr sz="1055">
                <a:solidFill>
                  <a:srgbClr val="232B36"/>
                </a:solidFill>
              </a:defRPr>
            </a:pPr>
            <a:r>
              <a:rPr sz="1190" dirty="0"/>
              <a:t>• Trust layer: per-pixel uncertainty (± flags where the error is high)</a:t>
            </a:r>
          </a:p>
          <a:p>
            <a:pPr algn="l">
              <a:lnSpc>
                <a:spcPct val="110000"/>
              </a:lnSpc>
              <a:spcBef>
                <a:spcPts val="0"/>
              </a:spcBef>
              <a:spcAft>
                <a:spcPts val="150"/>
              </a:spcAft>
              <a:defRPr sz="1055">
                <a:solidFill>
                  <a:srgbClr val="232B36"/>
                </a:solidFill>
              </a:defRPr>
            </a:pPr>
            <a:r>
              <a:rPr sz="1190" dirty="0"/>
              <a:t>• Bird's-eye → street-level view in one click (Sat3DGen mesh next)</a:t>
            </a:r>
          </a:p>
          <a:p>
            <a:pPr algn="l">
              <a:lnSpc>
                <a:spcPct val="110000"/>
              </a:lnSpc>
              <a:spcBef>
                <a:spcPts val="0"/>
              </a:spcBef>
              <a:spcAft>
                <a:spcPts val="150"/>
              </a:spcAft>
              <a:defRPr sz="1055">
                <a:solidFill>
                  <a:srgbClr val="232B36"/>
                </a:solidFill>
              </a:defRPr>
            </a:pPr>
            <a:r>
              <a:rPr sz="1190" dirty="0"/>
              <a:t>• Disaster tools on top: flood depth, landslide slopes, affected buildings</a:t>
            </a:r>
          </a:p>
        </p:txBody>
      </p:sp>
      <p:sp>
        <p:nvSpPr>
          <p:cNvPr id="15395" name="Rounded Rectangle 15394"/>
          <p:cNvSpPr/>
          <p:nvPr/>
        </p:nvSpPr>
        <p:spPr>
          <a:xfrm>
            <a:off x="594360" y="4800600"/>
            <a:ext cx="10954512" cy="301752"/>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96" name="TextBox 15395"/>
          <p:cNvSpPr txBox="1"/>
          <p:nvPr/>
        </p:nvSpPr>
        <p:spPr>
          <a:xfrm>
            <a:off x="685800" y="4828032"/>
            <a:ext cx="10771632"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INNOVATION &amp; UNIQUENESS</a:t>
            </a:r>
          </a:p>
        </p:txBody>
      </p:sp>
      <p:sp>
        <p:nvSpPr>
          <p:cNvPr id="15397" name="Rounded Rectangle 15396"/>
          <p:cNvSpPr/>
          <p:nvPr/>
        </p:nvSpPr>
        <p:spPr>
          <a:xfrm>
            <a:off x="594360" y="5193792"/>
            <a:ext cx="2578608" cy="594360"/>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98" name="TextBox 15397"/>
          <p:cNvSpPr txBox="1"/>
          <p:nvPr/>
        </p:nvSpPr>
        <p:spPr>
          <a:xfrm>
            <a:off x="667512" y="5349240"/>
            <a:ext cx="2432304" cy="237744"/>
          </a:xfrm>
          <a:prstGeom prst="rect">
            <a:avLst/>
          </a:prstGeom>
          <a:noFill/>
        </p:spPr>
        <p:txBody>
          <a:bodyPr wrap="square" lIns="38100" tIns="19050" rIns="38100" bIns="19050" anchor="ctr">
            <a:spAutoFit/>
          </a:bodyPr>
          <a:lstStyle/>
          <a:p>
            <a:pPr>
              <a:spcBef>
                <a:spcPts val="0"/>
              </a:spcBef>
            </a:pPr>
            <a:r>
              <a:rPr sz="1230" b="1"/>
              <a:t>Satellite-native height AI</a:t>
            </a:r>
          </a:p>
        </p:txBody>
      </p:sp>
      <p:sp>
        <p:nvSpPr>
          <p:cNvPr id="15399" name="Rounded Rectangle 15398"/>
          <p:cNvSpPr/>
          <p:nvPr/>
        </p:nvSpPr>
        <p:spPr>
          <a:xfrm>
            <a:off x="3355848" y="5193792"/>
            <a:ext cx="2578608" cy="594360"/>
          </a:xfrm>
          <a:prstGeom prst="roundRect">
            <a:avLst/>
          </a:prstGeom>
          <a:solidFill>
            <a:srgbClr val="FFFFFF"/>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400" name="TextBox 15399"/>
          <p:cNvSpPr txBox="1"/>
          <p:nvPr/>
        </p:nvSpPr>
        <p:spPr>
          <a:xfrm>
            <a:off x="3429000" y="5349240"/>
            <a:ext cx="2432304" cy="237744"/>
          </a:xfrm>
          <a:prstGeom prst="rect">
            <a:avLst/>
          </a:prstGeom>
          <a:noFill/>
        </p:spPr>
        <p:txBody>
          <a:bodyPr wrap="square" lIns="38100" tIns="19050" rIns="38100" bIns="19050" anchor="ctr">
            <a:spAutoFit/>
          </a:bodyPr>
          <a:lstStyle/>
          <a:p>
            <a:pPr>
              <a:spcBef>
                <a:spcPts val="0"/>
              </a:spcBef>
            </a:pPr>
            <a:r>
              <a:rPr sz="1230" b="1"/>
              <a:t>Real metres, laser-levelled</a:t>
            </a:r>
          </a:p>
        </p:txBody>
      </p:sp>
      <p:sp>
        <p:nvSpPr>
          <p:cNvPr id="15401" name="Rounded Rectangle 15400"/>
          <p:cNvSpPr/>
          <p:nvPr/>
        </p:nvSpPr>
        <p:spPr>
          <a:xfrm>
            <a:off x="6117336" y="5193792"/>
            <a:ext cx="2578608" cy="594360"/>
          </a:xfrm>
          <a:prstGeom prst="roundRect">
            <a:avLst/>
          </a:prstGeom>
          <a:solidFill>
            <a:srgbClr val="FFFFFF"/>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402" name="TextBox 15401"/>
          <p:cNvSpPr txBox="1"/>
          <p:nvPr/>
        </p:nvSpPr>
        <p:spPr>
          <a:xfrm>
            <a:off x="6190488" y="5349240"/>
            <a:ext cx="2432304" cy="237744"/>
          </a:xfrm>
          <a:prstGeom prst="rect">
            <a:avLst/>
          </a:prstGeom>
          <a:noFill/>
        </p:spPr>
        <p:txBody>
          <a:bodyPr wrap="square" lIns="38100" tIns="19050" rIns="38100" bIns="19050" anchor="ctr">
            <a:spAutoFit/>
          </a:bodyPr>
          <a:lstStyle/>
          <a:p>
            <a:pPr>
              <a:spcBef>
                <a:spcPts val="0"/>
              </a:spcBef>
            </a:pPr>
            <a:r>
              <a:rPr sz="1230" b="1"/>
              <a:t>Laser-verified (ICESat-2)</a:t>
            </a:r>
          </a:p>
        </p:txBody>
      </p:sp>
      <p:sp>
        <p:nvSpPr>
          <p:cNvPr id="15403" name="Rounded Rectangle 15402"/>
          <p:cNvSpPr/>
          <p:nvPr/>
        </p:nvSpPr>
        <p:spPr>
          <a:xfrm>
            <a:off x="8878824" y="5193792"/>
            <a:ext cx="2578608" cy="594360"/>
          </a:xfrm>
          <a:prstGeom prst="roundRect">
            <a:avLst/>
          </a:prstGeom>
          <a:solidFill>
            <a:srgbClr val="FFFFFF"/>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404" name="TextBox 15403"/>
          <p:cNvSpPr txBox="1"/>
          <p:nvPr/>
        </p:nvSpPr>
        <p:spPr>
          <a:xfrm>
            <a:off x="8951976" y="5349240"/>
            <a:ext cx="2432304" cy="237744"/>
          </a:xfrm>
          <a:prstGeom prst="rect">
            <a:avLst/>
          </a:prstGeom>
          <a:noFill/>
        </p:spPr>
        <p:txBody>
          <a:bodyPr wrap="square" lIns="38100" tIns="19050" rIns="38100" bIns="19050" anchor="ctr">
            <a:spAutoFit/>
          </a:bodyPr>
          <a:lstStyle/>
          <a:p>
            <a:pPr>
              <a:spcBef>
                <a:spcPts val="0"/>
              </a:spcBef>
            </a:pPr>
            <a:r>
              <a:rPr sz="1230" b="1"/>
              <a:t>Bird's-eye → street flythrough</a:t>
            </a:r>
          </a:p>
        </p:txBody>
      </p:sp>
      <p:pic>
        <p:nvPicPr>
          <p:cNvPr id="15406" name="Picture 15405"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5407" name="TextBox 15406"/>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5408" name="Picture 15407" descr="image2.png"/>
          <p:cNvPicPr>
            <a:picLocks noChangeAspect="1"/>
          </p:cNvPicPr>
          <p:nvPr/>
        </p:nvPicPr>
        <p:blipFill>
          <a:blip r:embed="rId4"/>
          <a:stretch>
            <a:fillRect/>
          </a:stretch>
        </p:blipFill>
        <p:spPr>
          <a:xfrm>
            <a:off x="9841366" y="57097"/>
            <a:ext cx="2209120" cy="11228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wrap="square" lIns="38100" tIns="19050" rIns="38100" bIns="19050" anchor="ctr"/>
          <a:lstStyle/>
          <a:p>
            <a:pPr algn="ctr" eaLnBrk="1" hangingPunct="1">
              <a:lnSpc>
                <a:spcPct val="100000"/>
              </a:lnSpc>
              <a:spcBef>
                <a:spcPts val="0"/>
              </a:spcBef>
              <a:spcAft>
                <a:spcPts val="0"/>
              </a:spcAft>
            </a:pP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lIns="38100" tIns="19050" rIns="38100" bIns="19050"/>
          <a:lstStyle/>
          <a:p>
            <a:pPr algn="r">
              <a:spcBef>
                <a:spcPts val="0"/>
              </a:spcBef>
              <a:spcAft>
                <a:spcPts val="0"/>
              </a:spcAft>
            </a:pPr>
            <a:fld id="{677C3CE7-23F7-4828-823C-E0205DF2CF97}" type="slidenum">
              <a:rPr lang="en-US" b="1">
                <a:solidFill>
                  <a:schemeClr val="bg1"/>
                </a:solidFill>
              </a:rPr>
              <a:pPr/>
              <a:t>3</a:t>
            </a:fld>
            <a:endParaRPr lang="en-US" b="1" dirty="0">
              <a:solidFill>
                <a:schemeClr val="bg1"/>
              </a:solidFill>
            </a:endParaRPr>
          </a:p>
        </p:txBody>
      </p:sp>
      <p:sp>
        <p:nvSpPr>
          <p:cNvPr id="17410" name="TextBox 17409"/>
          <p:cNvSpPr txBox="1"/>
          <p:nvPr/>
        </p:nvSpPr>
        <p:spPr>
          <a:xfrm>
            <a:off x="634115" y="1078992"/>
            <a:ext cx="10972800" cy="329184"/>
          </a:xfrm>
          <a:prstGeom prst="rect">
            <a:avLst/>
          </a:prstGeom>
          <a:noFill/>
        </p:spPr>
        <p:txBody>
          <a:bodyPr wrap="square" lIns="38100" tIns="19050" rIns="38100" bIns="19050" anchor="ctr">
            <a:spAutoFit/>
          </a:bodyPr>
          <a:lstStyle/>
          <a:p>
            <a:pPr algn="l">
              <a:lnSpc>
                <a:spcPct val="100000"/>
              </a:lnSpc>
              <a:spcBef>
                <a:spcPts val="0"/>
              </a:spcBef>
              <a:spcAft>
                <a:spcPts val="0"/>
              </a:spcAft>
              <a:defRPr sz="1630" b="1">
                <a:solidFill>
                  <a:srgbClr val="152742"/>
                </a:solidFill>
              </a:defRPr>
            </a:pPr>
            <a:r>
              <a:rPr sz="1900" b="1" i="0">
                <a:solidFill>
                  <a:srgbClr val="17273A"/>
                </a:solidFill>
                <a:latin typeface="Aptos"/>
              </a:rPr>
              <a:t>Pipeline: Pixels → Height → Metres → Verified 3D</a:t>
            </a:r>
          </a:p>
        </p:txBody>
      </p:sp>
      <p:sp>
        <p:nvSpPr>
          <p:cNvPr id="17411" name="Rounded Rectangle 17410"/>
          <p:cNvSpPr/>
          <p:nvPr/>
        </p:nvSpPr>
        <p:spPr>
          <a:xfrm>
            <a:off x="594360" y="1600200"/>
            <a:ext cx="1499616" cy="914400"/>
          </a:xfrm>
          <a:prstGeom prst="roundRect">
            <a:avLst/>
          </a:prstGeom>
          <a:solidFill>
            <a:srgbClr val="FFFFFF"/>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2" name="Rounded Rectangle 17411"/>
          <p:cNvSpPr/>
          <p:nvPr/>
        </p:nvSpPr>
        <p:spPr>
          <a:xfrm>
            <a:off x="594360" y="1600200"/>
            <a:ext cx="1499616" cy="265176"/>
          </a:xfrm>
          <a:prstGeom prst="roundRect">
            <a:avLst/>
          </a:prstGeom>
          <a:solidFill>
            <a:srgbClr val="2068AA"/>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3" name="TextBox 17412"/>
          <p:cNvSpPr txBox="1"/>
          <p:nvPr/>
        </p:nvSpPr>
        <p:spPr>
          <a:xfrm>
            <a:off x="640080"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INPUT</a:t>
            </a:r>
          </a:p>
        </p:txBody>
      </p:sp>
      <p:sp>
        <p:nvSpPr>
          <p:cNvPr id="17414" name="TextBox 17413"/>
          <p:cNvSpPr txBox="1"/>
          <p:nvPr/>
        </p:nvSpPr>
        <p:spPr>
          <a:xfrm>
            <a:off x="640080"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232B36"/>
                </a:solidFill>
              </a:defRPr>
            </a:pPr>
            <a:r>
              <a:rPr sz="1000" b="1" i="0" dirty="0">
                <a:solidFill>
                  <a:srgbClr val="24313F"/>
                </a:solidFill>
                <a:latin typeface="Aptos"/>
              </a:rPr>
              <a:t>RGB image (PNG / JPG / TIFF)</a:t>
            </a:r>
          </a:p>
        </p:txBody>
      </p:sp>
      <p:sp>
        <p:nvSpPr>
          <p:cNvPr id="17415" name="Right Arrow 17414"/>
          <p:cNvSpPr/>
          <p:nvPr/>
        </p:nvSpPr>
        <p:spPr>
          <a:xfrm>
            <a:off x="2103120"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6" name="Rounded Rectangle 17415"/>
          <p:cNvSpPr/>
          <p:nvPr/>
        </p:nvSpPr>
        <p:spPr>
          <a:xfrm>
            <a:off x="2313432" y="1600200"/>
            <a:ext cx="1499616" cy="914400"/>
          </a:xfrm>
          <a:prstGeom prst="roundRect">
            <a:avLst/>
          </a:prstGeom>
          <a:solidFill>
            <a:srgbClr val="FFFFFF"/>
          </a:solidFill>
          <a:ln w="12700">
            <a:solidFill>
              <a:srgbClr val="2289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7" name="Rounded Rectangle 17416"/>
          <p:cNvSpPr/>
          <p:nvPr/>
        </p:nvSpPr>
        <p:spPr>
          <a:xfrm>
            <a:off x="2313432" y="1600200"/>
            <a:ext cx="1499616" cy="265176"/>
          </a:xfrm>
          <a:prstGeom prst="roundRect">
            <a:avLst/>
          </a:prstGeom>
          <a:solidFill>
            <a:srgbClr val="228989"/>
          </a:solidFill>
          <a:ln w="12700">
            <a:solidFill>
              <a:srgbClr val="2289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8" name="TextBox 17417"/>
          <p:cNvSpPr txBox="1"/>
          <p:nvPr/>
        </p:nvSpPr>
        <p:spPr>
          <a:xfrm>
            <a:off x="2359151"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PREPROCESS</a:t>
            </a:r>
          </a:p>
        </p:txBody>
      </p:sp>
      <p:sp>
        <p:nvSpPr>
          <p:cNvPr id="17419" name="TextBox 17418"/>
          <p:cNvSpPr txBox="1"/>
          <p:nvPr/>
        </p:nvSpPr>
        <p:spPr>
          <a:xfrm>
            <a:off x="2359151"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232B36"/>
                </a:solidFill>
              </a:defRPr>
            </a:pPr>
            <a:r>
              <a:rPr sz="1000" b="1" i="0" dirty="0">
                <a:solidFill>
                  <a:srgbClr val="24313F"/>
                </a:solidFill>
                <a:latin typeface="Aptos"/>
              </a:rPr>
              <a:t>Read GSD + CRS · overlapping 518 px tiles</a:t>
            </a:r>
          </a:p>
        </p:txBody>
      </p:sp>
      <p:sp>
        <p:nvSpPr>
          <p:cNvPr id="17420" name="Right Arrow 17419"/>
          <p:cNvSpPr/>
          <p:nvPr/>
        </p:nvSpPr>
        <p:spPr>
          <a:xfrm>
            <a:off x="3822191"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1" name="Rounded Rectangle 17420"/>
          <p:cNvSpPr/>
          <p:nvPr/>
        </p:nvSpPr>
        <p:spPr>
          <a:xfrm>
            <a:off x="4032504" y="1600200"/>
            <a:ext cx="1499616" cy="914400"/>
          </a:xfrm>
          <a:prstGeom prst="roundRect">
            <a:avLst/>
          </a:prstGeom>
          <a:solidFill>
            <a:srgbClr val="FFFFFF"/>
          </a:solidFill>
          <a:ln w="12700">
            <a:solidFill>
              <a:srgbClr val="458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2" name="Rounded Rectangle 17421"/>
          <p:cNvSpPr/>
          <p:nvPr/>
        </p:nvSpPr>
        <p:spPr>
          <a:xfrm>
            <a:off x="4032504" y="1600200"/>
            <a:ext cx="1499616" cy="265176"/>
          </a:xfrm>
          <a:prstGeom prst="roundRect">
            <a:avLst/>
          </a:prstGeom>
          <a:solidFill>
            <a:srgbClr val="45885C"/>
          </a:solidFill>
          <a:ln w="12700">
            <a:solidFill>
              <a:srgbClr val="458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3" name="TextBox 17422"/>
          <p:cNvSpPr txBox="1"/>
          <p:nvPr/>
        </p:nvSpPr>
        <p:spPr>
          <a:xfrm>
            <a:off x="4078224" y="1627632"/>
            <a:ext cx="1408175" cy="210312"/>
          </a:xfrm>
          <a:prstGeom prst="rect">
            <a:avLst/>
          </a:prstGeom>
          <a:noFill/>
        </p:spPr>
        <p:txBody>
          <a:bodyPr wrap="square" lIns="38100" tIns="19050" rIns="38100" bIns="19050" anchor="ctr">
            <a:normAutofit lnSpcReduction="10000"/>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AI MODEL</a:t>
            </a:r>
          </a:p>
        </p:txBody>
      </p:sp>
      <p:sp>
        <p:nvSpPr>
          <p:cNvPr id="17424" name="TextBox 17423"/>
          <p:cNvSpPr txBox="1"/>
          <p:nvPr/>
        </p:nvSpPr>
        <p:spPr>
          <a:xfrm>
            <a:off x="4078224" y="1901952"/>
            <a:ext cx="1408175" cy="566928"/>
          </a:xfrm>
          <a:prstGeom prst="rect">
            <a:avLst/>
          </a:prstGeom>
          <a:noFill/>
        </p:spPr>
        <p:txBody>
          <a:bodyPr wrap="square" lIns="762" tIns="381" rIns="762" bIns="381" anchor="ctr">
            <a:noAutofit/>
          </a:bodyPr>
          <a:lstStyle/>
          <a:p>
            <a:pPr algn="ctr">
              <a:lnSpc>
                <a:spcPct val="100000"/>
              </a:lnSpc>
              <a:spcBef>
                <a:spcPts val="0"/>
              </a:spcBef>
              <a:spcAft>
                <a:spcPts val="150"/>
              </a:spcAft>
              <a:defRPr sz="919" b="1">
                <a:solidFill>
                  <a:srgbClr val="232B36"/>
                </a:solidFill>
              </a:defRPr>
            </a:pPr>
            <a:r>
              <a:rPr sz="1000" b="1" i="0" dirty="0">
                <a:solidFill>
                  <a:srgbClr val="24313F"/>
                </a:solidFill>
                <a:latin typeface="+mn-lt"/>
              </a:rPr>
              <a:t>RS3DAda (ViT-L + DPT) · challenger: DINOv3-SAT</a:t>
            </a:r>
          </a:p>
        </p:txBody>
      </p:sp>
      <p:sp>
        <p:nvSpPr>
          <p:cNvPr id="17425" name="Right Arrow 17424"/>
          <p:cNvSpPr/>
          <p:nvPr/>
        </p:nvSpPr>
        <p:spPr>
          <a:xfrm>
            <a:off x="5541264"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6" name="Rounded Rectangle 17425"/>
          <p:cNvSpPr/>
          <p:nvPr/>
        </p:nvSpPr>
        <p:spPr>
          <a:xfrm>
            <a:off x="5751576" y="1600200"/>
            <a:ext cx="1499616" cy="914400"/>
          </a:xfrm>
          <a:prstGeom prst="roundRect">
            <a:avLst/>
          </a:prstGeom>
          <a:solidFill>
            <a:srgbClr val="FFFFFF"/>
          </a:solidFill>
          <a:ln w="12700">
            <a:solidFill>
              <a:srgbClr val="2289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7" name="Rounded Rectangle 17426"/>
          <p:cNvSpPr/>
          <p:nvPr/>
        </p:nvSpPr>
        <p:spPr>
          <a:xfrm>
            <a:off x="5751576" y="1600200"/>
            <a:ext cx="1499616" cy="265176"/>
          </a:xfrm>
          <a:prstGeom prst="roundRect">
            <a:avLst/>
          </a:prstGeom>
          <a:solidFill>
            <a:srgbClr val="228989"/>
          </a:solidFill>
          <a:ln w="12700">
            <a:solidFill>
              <a:srgbClr val="2289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8" name="TextBox 17427"/>
          <p:cNvSpPr txBox="1"/>
          <p:nvPr/>
        </p:nvSpPr>
        <p:spPr>
          <a:xfrm>
            <a:off x="5797296"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HEIGHT</a:t>
            </a:r>
          </a:p>
        </p:txBody>
      </p:sp>
      <p:sp>
        <p:nvSpPr>
          <p:cNvPr id="17429" name="TextBox 17428"/>
          <p:cNvSpPr txBox="1"/>
          <p:nvPr/>
        </p:nvSpPr>
        <p:spPr>
          <a:xfrm>
            <a:off x="5797296"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150"/>
              </a:spcAft>
              <a:defRPr sz="919" b="1">
                <a:solidFill>
                  <a:srgbClr val="232B36"/>
                </a:solidFill>
              </a:defRPr>
            </a:pPr>
            <a:r>
              <a:rPr sz="1000" dirty="0" err="1"/>
              <a:t>Height above ground + uncertainty map</a:t>
            </a:r>
          </a:p>
        </p:txBody>
      </p:sp>
      <p:sp>
        <p:nvSpPr>
          <p:cNvPr id="17430" name="Right Arrow 17429"/>
          <p:cNvSpPr/>
          <p:nvPr/>
        </p:nvSpPr>
        <p:spPr>
          <a:xfrm>
            <a:off x="7260336"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62" name="Right Arrow 17429"/>
          <p:cNvSpPr/>
          <p:nvPr/>
        </p:nvSpPr>
        <p:spPr>
          <a:xfrm>
            <a:off x="8979408"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1" name="Rounded Rectangle 17430"/>
          <p:cNvSpPr/>
          <p:nvPr/>
        </p:nvSpPr>
        <p:spPr>
          <a:xfrm>
            <a:off x="7470648" y="1600200"/>
            <a:ext cx="1499616" cy="914400"/>
          </a:xfrm>
          <a:prstGeom prst="roundRect">
            <a:avLst/>
          </a:prstGeom>
          <a:solidFill>
            <a:srgbClr val="FFFFFF"/>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8" name="Rounded Rectangle 17430"/>
          <p:cNvSpPr/>
          <p:nvPr/>
        </p:nvSpPr>
        <p:spPr>
          <a:xfrm>
            <a:off x="9189719" y="1600200"/>
            <a:ext cx="1499616" cy="914400"/>
          </a:xfrm>
          <a:prstGeom prst="roundRect">
            <a:avLst/>
          </a:prstGeom>
          <a:solidFill>
            <a:srgbClr val="FFFFFF"/>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2" name="Rounded Rectangle 17431"/>
          <p:cNvSpPr/>
          <p:nvPr/>
        </p:nvSpPr>
        <p:spPr>
          <a:xfrm>
            <a:off x="7470648" y="1600200"/>
            <a:ext cx="1499616" cy="265176"/>
          </a:xfrm>
          <a:prstGeom prst="roundRect">
            <a:avLst/>
          </a:prstGeom>
          <a:solidFill>
            <a:srgbClr val="2068AA"/>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9" name="Rounded Rectangle 17431"/>
          <p:cNvSpPr/>
          <p:nvPr/>
        </p:nvSpPr>
        <p:spPr>
          <a:xfrm>
            <a:off x="9189719" y="1600200"/>
            <a:ext cx="1499616" cy="265176"/>
          </a:xfrm>
          <a:prstGeom prst="roundRect">
            <a:avLst/>
          </a:prstGeom>
          <a:solidFill>
            <a:srgbClr val="D2742D"/>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3" name="TextBox 17432"/>
          <p:cNvSpPr txBox="1"/>
          <p:nvPr/>
        </p:nvSpPr>
        <p:spPr>
          <a:xfrm>
            <a:off x="7516368"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CALIBRATE</a:t>
            </a:r>
          </a:p>
        </p:txBody>
      </p:sp>
      <p:sp>
        <p:nvSpPr>
          <p:cNvPr id="17460" name="TextBox 17432"/>
          <p:cNvSpPr txBox="1"/>
          <p:nvPr/>
        </p:nvSpPr>
        <p:spPr>
          <a:xfrm>
            <a:off x="9235440"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VERIFY</a:t>
            </a:r>
          </a:p>
        </p:txBody>
      </p:sp>
      <p:sp>
        <p:nvSpPr>
          <p:cNvPr id="17434" name="TextBox 17433"/>
          <p:cNvSpPr txBox="1"/>
          <p:nvPr/>
        </p:nvSpPr>
        <p:spPr>
          <a:xfrm>
            <a:off x="7516368"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232B36"/>
                </a:solidFill>
              </a:defRPr>
            </a:pPr>
            <a:r>
              <a:rPr sz="1000" b="1" i="0">
                <a:solidFill>
                  <a:srgbClr val="24313F"/>
                </a:solidFill>
                <a:latin typeface="Aptos"/>
              </a:rPr>
              <a:t>GLO-30 / CartoDEM terrain, buildings removed → metres</a:t>
            </a:r>
          </a:p>
        </p:txBody>
      </p:sp>
      <p:sp>
        <p:nvSpPr>
          <p:cNvPr id="17461" name="TextBox 17433"/>
          <p:cNvSpPr txBox="1"/>
          <p:nvPr/>
        </p:nvSpPr>
        <p:spPr>
          <a:xfrm>
            <a:off x="9235440"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232B36"/>
                </a:solidFill>
              </a:defRPr>
            </a:pPr>
            <a:r>
              <a:rPr sz="1000" b="1" i="0">
                <a:solidFill>
                  <a:srgbClr val="24313F"/>
                </a:solidFill>
                <a:latin typeface="Aptos"/>
              </a:rPr>
              <a:t>ICESat-2 correction + error report</a:t>
            </a:r>
          </a:p>
        </p:txBody>
      </p:sp>
      <p:sp>
        <p:nvSpPr>
          <p:cNvPr id="17435" name="Rounded Rectangle 17434"/>
          <p:cNvSpPr/>
          <p:nvPr/>
        </p:nvSpPr>
        <p:spPr>
          <a:xfrm>
            <a:off x="10927080" y="1600200"/>
            <a:ext cx="621792" cy="914400"/>
          </a:xfrm>
          <a:prstGeom prst="roundRect">
            <a:avLst/>
          </a:prstGeom>
          <a:solidFill>
            <a:srgbClr val="FFFFFF"/>
          </a:solidFill>
          <a:ln w="12700">
            <a:solidFill>
              <a:srgbClr val="D274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6" name="TextBox 17435"/>
          <p:cNvSpPr txBox="1"/>
          <p:nvPr/>
        </p:nvSpPr>
        <p:spPr>
          <a:xfrm>
            <a:off x="10954512" y="1874519"/>
            <a:ext cx="566928" cy="365760"/>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D2742D"/>
                </a:solidFill>
              </a:defRPr>
            </a:pPr>
            <a:r>
              <a:rPr sz="950" b="1">
                <a:solidFill>
                  <a:srgbClr val="17273A"/>
                </a:solidFill>
                <a:latin typeface="Aptos"/>
              </a:rPr>
              <a:t>OUT
DSM + 3D</a:t>
            </a:r>
          </a:p>
        </p:txBody>
      </p:sp>
      <p:sp>
        <p:nvSpPr>
          <p:cNvPr id="17437" name="Right Arrow 17436"/>
          <p:cNvSpPr/>
          <p:nvPr/>
        </p:nvSpPr>
        <p:spPr>
          <a:xfrm>
            <a:off x="10698480" y="1929384"/>
            <a:ext cx="219456" cy="237744"/>
          </a:xfrm>
          <a:prstGeom prst="rightArrow">
            <a:avLst/>
          </a:prstGeom>
          <a:solidFill>
            <a:srgbClr val="D27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8" name="Rounded Rectangle 17437"/>
          <p:cNvSpPr/>
          <p:nvPr/>
        </p:nvSpPr>
        <p:spPr>
          <a:xfrm>
            <a:off x="594360" y="2633472"/>
            <a:ext cx="3566160" cy="1389888"/>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9" name="Rounded Rectangle 17438"/>
          <p:cNvSpPr/>
          <p:nvPr/>
        </p:nvSpPr>
        <p:spPr>
          <a:xfrm>
            <a:off x="594360" y="2633472"/>
            <a:ext cx="3566160"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0" name="TextBox 17439"/>
          <p:cNvSpPr txBox="1"/>
          <p:nvPr/>
        </p:nvSpPr>
        <p:spPr>
          <a:xfrm>
            <a:off x="685800" y="2660904"/>
            <a:ext cx="3383279"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AI / ML</a:t>
            </a:r>
          </a:p>
        </p:txBody>
      </p:sp>
      <p:sp>
        <p:nvSpPr>
          <p:cNvPr id="17441" name="TextBox 17440"/>
          <p:cNvSpPr txBox="1"/>
          <p:nvPr/>
        </p:nvSpPr>
        <p:spPr>
          <a:xfrm>
            <a:off x="704088" y="2990088"/>
            <a:ext cx="3346704" cy="1005840"/>
          </a:xfrm>
          <a:prstGeom prst="rect">
            <a:avLst/>
          </a:prstGeom>
          <a:noFill/>
        </p:spPr>
        <p:txBody>
          <a:bodyPr wrap="square" lIns="38100" tIns="19050" rIns="38100" bIns="19050" anchor="t">
            <a:noAutofit/>
          </a:bodyPr>
          <a:lstStyle/>
          <a:p>
            <a:pPr algn="l">
              <a:lnSpc>
                <a:spcPct val="105000"/>
              </a:lnSpc>
              <a:spcBef>
                <a:spcPts val="0"/>
              </a:spcBef>
              <a:spcAft>
                <a:spcPts val="150"/>
              </a:spcAft>
              <a:defRPr sz="1030">
                <a:solidFill>
                  <a:srgbClr val="232B36"/>
                </a:solidFill>
              </a:defRPr>
            </a:pPr>
            <a:r>
              <a:rPr sz="1000"/>
              <a:t>✓ RS3DAda (NeurIPS 2024, MIT) runs on an 8 GB laptop</a:t>
            </a:r>
          </a:p>
          <a:p>
            <a:pPr algn="l">
              <a:lnSpc>
                <a:spcPct val="105000"/>
              </a:lnSpc>
              <a:spcBef>
                <a:spcPts val="0"/>
              </a:spcBef>
              <a:spcAft>
                <a:spcPts val="150"/>
              </a:spcAft>
              <a:defRPr sz="1030">
                <a:solidFill>
                  <a:srgbClr val="232B36"/>
                </a:solidFill>
              </a:defRPr>
            </a:pPr>
            <a:r>
              <a:rPr sz="1000"/>
              <a:t>• Challenger: DINOv3-SAT + DPT (CHMv2 init), GAMUS-tuned</a:t>
            </a:r>
          </a:p>
          <a:p>
            <a:pPr algn="l">
              <a:lnSpc>
                <a:spcPct val="105000"/>
              </a:lnSpc>
              <a:spcBef>
                <a:spcPts val="0"/>
              </a:spcBef>
              <a:spcAft>
                <a:spcPts val="150"/>
              </a:spcAft>
              <a:defRPr sz="1030">
                <a:solidFill>
                  <a:srgbClr val="232B36"/>
                </a:solidFill>
              </a:defRPr>
            </a:pPr>
            <a:r>
              <a:rPr sz="1000"/>
              <a:t>✓ Measured on GAMUS + DFC2019 test tiles (MAE / RMSE)</a:t>
            </a:r>
          </a:p>
          <a:p>
            <a:pPr algn="l">
              <a:lnSpc>
                <a:spcPct val="105000"/>
              </a:lnSpc>
              <a:spcBef>
                <a:spcPts val="0"/>
              </a:spcBef>
              <a:spcAft>
                <a:spcPts val="150"/>
              </a:spcAft>
              <a:defRPr sz="1030">
                <a:solidFill>
                  <a:srgbClr val="232B36"/>
                </a:solidFill>
              </a:defRPr>
            </a:pPr>
            <a:r>
              <a:rPr sz="1000"/>
              <a:t>✓ 4-flip TTA → uncertainty map · blended 518 px tiles</a:t>
            </a:r>
          </a:p>
          <a:p>
            <a:pPr algn="l">
              <a:lnSpc>
                <a:spcPct val="105000"/>
              </a:lnSpc>
              <a:spcBef>
                <a:spcPts val="0"/>
              </a:spcBef>
              <a:spcAft>
                <a:spcPts val="150"/>
              </a:spcAft>
              <a:defRPr sz="1030">
                <a:solidFill>
                  <a:srgbClr val="232B36"/>
                </a:solidFill>
              </a:defRPr>
            </a:pPr>
            <a:r>
              <a:rPr sz="1000"/>
              <a:t>• Distilled small model → ONNX Runtime on CPU</a:t>
            </a:r>
          </a:p>
        </p:txBody>
      </p:sp>
      <p:sp>
        <p:nvSpPr>
          <p:cNvPr id="17442" name="Rounded Rectangle 17441"/>
          <p:cNvSpPr/>
          <p:nvPr/>
        </p:nvSpPr>
        <p:spPr>
          <a:xfrm>
            <a:off x="4407408" y="2633472"/>
            <a:ext cx="3566160" cy="1389888"/>
          </a:xfrm>
          <a:prstGeom prst="roundRect">
            <a:avLst/>
          </a:prstGeom>
          <a:solidFill>
            <a:srgbClr val="FFFFFF"/>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3" name="Rounded Rectangle 17442"/>
          <p:cNvSpPr/>
          <p:nvPr/>
        </p:nvSpPr>
        <p:spPr>
          <a:xfrm>
            <a:off x="4407408" y="2633472"/>
            <a:ext cx="3566160" cy="301752"/>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4" name="TextBox 17443"/>
          <p:cNvSpPr txBox="1"/>
          <p:nvPr/>
        </p:nvSpPr>
        <p:spPr>
          <a:xfrm>
            <a:off x="4498848" y="2660904"/>
            <a:ext cx="3383279"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GEOSPATIAL</a:t>
            </a:r>
          </a:p>
        </p:txBody>
      </p:sp>
      <p:sp>
        <p:nvSpPr>
          <p:cNvPr id="17445" name="TextBox 17444"/>
          <p:cNvSpPr txBox="1"/>
          <p:nvPr/>
        </p:nvSpPr>
        <p:spPr>
          <a:xfrm>
            <a:off x="4517136" y="2990088"/>
            <a:ext cx="3346704" cy="1005840"/>
          </a:xfrm>
          <a:prstGeom prst="rect">
            <a:avLst/>
          </a:prstGeom>
          <a:noFill/>
        </p:spPr>
        <p:txBody>
          <a:bodyPr wrap="square" lIns="38100" tIns="19050" rIns="38100" bIns="19050" anchor="t">
            <a:noAutofit/>
          </a:bodyPr>
          <a:lstStyle/>
          <a:p>
            <a:pPr algn="l">
              <a:lnSpc>
                <a:spcPct val="105000"/>
              </a:lnSpc>
              <a:spcBef>
                <a:spcPts val="0"/>
              </a:spcBef>
              <a:spcAft>
                <a:spcPts val="150"/>
              </a:spcAft>
              <a:defRPr sz="1030">
                <a:solidFill>
                  <a:srgbClr val="232B36"/>
                </a:solidFill>
              </a:defRPr>
            </a:pPr>
            <a:r>
              <a:rPr sz="1000"/>
              <a:t>✓ Rasterio · PyProj; GeoTIFF float32 in / out</a:t>
            </a:r>
          </a:p>
          <a:p>
            <a:pPr algn="l">
              <a:lnSpc>
                <a:spcPct val="105000"/>
              </a:lnSpc>
              <a:spcBef>
                <a:spcPts val="0"/>
              </a:spcBef>
              <a:spcAft>
                <a:spcPts val="150"/>
              </a:spcAft>
              <a:defRPr sz="1030">
                <a:solidFill>
                  <a:srgbClr val="232B36"/>
                </a:solidFill>
              </a:defRPr>
            </a:pPr>
            <a:r>
              <a:rPr sz="1000"/>
              <a:t>✓ DSM = terrain (GLO-30; CartoDEM drop-in) + height</a:t>
            </a:r>
          </a:p>
          <a:p>
            <a:pPr algn="l">
              <a:lnSpc>
                <a:spcPct val="105000"/>
              </a:lnSpc>
              <a:spcBef>
                <a:spcPts val="0"/>
              </a:spcBef>
              <a:spcAft>
                <a:spcPts val="150"/>
              </a:spcAft>
              <a:defRPr sz="1030">
                <a:solidFill>
                  <a:srgbClr val="232B36"/>
                </a:solidFill>
              </a:defRPr>
            </a:pPr>
            <a:r>
              <a:rPr sz="1000"/>
              <a:t>• Prompt2DEM (2025): 30 m DEM + RGB → 30 cm heights</a:t>
            </a:r>
          </a:p>
          <a:p>
            <a:pPr algn="l">
              <a:lnSpc>
                <a:spcPct val="105000"/>
              </a:lnSpc>
              <a:spcBef>
                <a:spcPts val="0"/>
              </a:spcBef>
              <a:spcAft>
                <a:spcPts val="150"/>
              </a:spcAft>
              <a:defRPr sz="1030">
                <a:solidFill>
                  <a:srgbClr val="232B36"/>
                </a:solidFill>
              </a:defRPr>
            </a:pPr>
            <a:r>
              <a:rPr sz="1000"/>
              <a:t>✓ ICESat-2 ATL03 / ATL08: level terrain + report error</a:t>
            </a:r>
          </a:p>
          <a:p>
            <a:pPr algn="l">
              <a:lnSpc>
                <a:spcPct val="105000"/>
              </a:lnSpc>
              <a:spcBef>
                <a:spcPts val="0"/>
              </a:spcBef>
              <a:spcAft>
                <a:spcPts val="150"/>
              </a:spcAft>
              <a:defRPr sz="1030">
                <a:solidFill>
                  <a:srgbClr val="232B36"/>
                </a:solidFill>
              </a:defRPr>
            </a:pPr>
            <a:r>
              <a:rPr sz="1000"/>
              <a:t>✓ One vertical datum (EGM2008; ICESat-2 converted)</a:t>
            </a:r>
          </a:p>
        </p:txBody>
      </p:sp>
      <p:sp>
        <p:nvSpPr>
          <p:cNvPr id="17446" name="Rounded Rectangle 17445"/>
          <p:cNvSpPr/>
          <p:nvPr/>
        </p:nvSpPr>
        <p:spPr>
          <a:xfrm>
            <a:off x="8220456" y="2633472"/>
            <a:ext cx="3328416" cy="1389888"/>
          </a:xfrm>
          <a:prstGeom prst="roundRect">
            <a:avLst/>
          </a:prstGeom>
          <a:solidFill>
            <a:srgbClr val="FFFFFF"/>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7" name="Rounded Rectangle 17446"/>
          <p:cNvSpPr/>
          <p:nvPr/>
        </p:nvSpPr>
        <p:spPr>
          <a:xfrm>
            <a:off x="8220456" y="2633472"/>
            <a:ext cx="3328416" cy="301752"/>
          </a:xfrm>
          <a:prstGeom prst="roundRect">
            <a:avLst/>
          </a:prstGeom>
          <a:solidFill>
            <a:srgbClr val="45885C"/>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8" name="TextBox 17447"/>
          <p:cNvSpPr txBox="1"/>
          <p:nvPr/>
        </p:nvSpPr>
        <p:spPr>
          <a:xfrm>
            <a:off x="8311896" y="2660904"/>
            <a:ext cx="3145536"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APPLICATION &amp; 3D VIEWER</a:t>
            </a:r>
          </a:p>
        </p:txBody>
      </p:sp>
      <p:sp>
        <p:nvSpPr>
          <p:cNvPr id="17449" name="TextBox 17448"/>
          <p:cNvSpPr txBox="1"/>
          <p:nvPr/>
        </p:nvSpPr>
        <p:spPr>
          <a:xfrm>
            <a:off x="8330183" y="2990088"/>
            <a:ext cx="3108960" cy="1005840"/>
          </a:xfrm>
          <a:prstGeom prst="rect">
            <a:avLst/>
          </a:prstGeom>
          <a:noFill/>
        </p:spPr>
        <p:txBody>
          <a:bodyPr wrap="square" lIns="38100" tIns="19050" rIns="38100" bIns="19050" anchor="t">
            <a:noAutofit/>
          </a:bodyPr>
          <a:lstStyle/>
          <a:p>
            <a:pPr algn="l">
              <a:lnSpc>
                <a:spcPct val="105000"/>
              </a:lnSpc>
              <a:spcBef>
                <a:spcPts val="0"/>
              </a:spcBef>
              <a:spcAft>
                <a:spcPts val="150"/>
              </a:spcAft>
              <a:defRPr sz="1030">
                <a:solidFill>
                  <a:srgbClr val="232B36"/>
                </a:solidFill>
              </a:defRPr>
            </a:pPr>
            <a:r>
              <a:rPr sz="1000"/>
              <a:t>✓ Three.js viewer; GLB + GeoTIFF export</a:t>
            </a:r>
          </a:p>
          <a:p>
            <a:pPr algn="l">
              <a:lnSpc>
                <a:spcPct val="105000"/>
              </a:lnSpc>
              <a:spcBef>
                <a:spcPts val="0"/>
              </a:spcBef>
              <a:spcAft>
                <a:spcPts val="150"/>
              </a:spcAft>
              <a:defRPr sz="1030">
                <a:solidFill>
                  <a:srgbClr val="232B36"/>
                </a:solidFill>
              </a:defRPr>
            </a:pPr>
            <a:r>
              <a:rPr sz="1000"/>
              <a:t>✓ Free-fly (WASD), draw-a-path auto-fly, MP4 export</a:t>
            </a:r>
          </a:p>
          <a:p>
            <a:pPr algn="l">
              <a:lnSpc>
                <a:spcPct val="105000"/>
              </a:lnSpc>
              <a:spcBef>
                <a:spcPts val="0"/>
              </a:spcBef>
              <a:spcAft>
                <a:spcPts val="150"/>
              </a:spcAft>
              <a:defRPr sz="1030">
                <a:solidFill>
                  <a:srgbClr val="232B36"/>
                </a:solidFill>
              </a:defRPr>
            </a:pPr>
            <a:r>
              <a:rPr sz="1000"/>
              <a:t>• Street mode: Sat3DGen (ICLR 2026) street mesh</a:t>
            </a:r>
          </a:p>
          <a:p>
            <a:pPr algn="l">
              <a:lnSpc>
                <a:spcPct val="105000"/>
              </a:lnSpc>
              <a:spcBef>
                <a:spcPts val="0"/>
              </a:spcBef>
              <a:spcAft>
                <a:spcPts val="150"/>
              </a:spcAft>
              <a:defRPr sz="1030">
                <a:solidFill>
                  <a:srgbClr val="232B36"/>
                </a:solidFill>
              </a:defRPr>
            </a:pPr>
            <a:r>
              <a:rPr sz="1000"/>
              <a:t>✓ Click-to-measure; flood + landslide-slope tools</a:t>
            </a:r>
          </a:p>
          <a:p>
            <a:pPr algn="l">
              <a:lnSpc>
                <a:spcPct val="105000"/>
              </a:lnSpc>
              <a:spcBef>
                <a:spcPts val="0"/>
              </a:spcBef>
              <a:spcAft>
                <a:spcPts val="150"/>
              </a:spcAft>
              <a:defRPr sz="1030">
                <a:solidFill>
                  <a:srgbClr val="232B36"/>
                </a:solidFill>
              </a:defRPr>
            </a:pPr>
            <a:r>
              <a:rPr sz="1000"/>
              <a:t>✓ Runs offline on a laptop · • Tauri desktop app</a:t>
            </a:r>
          </a:p>
        </p:txBody>
      </p:sp>
      <p:sp>
        <p:nvSpPr>
          <p:cNvPr id="17450" name="TextBox 17449"/>
          <p:cNvSpPr txBox="1"/>
          <p:nvPr/>
        </p:nvSpPr>
        <p:spPr>
          <a:xfrm>
            <a:off x="731520" y="5870448"/>
            <a:ext cx="10835640" cy="292608"/>
          </a:xfrm>
          <a:prstGeom prst="rect">
            <a:avLst/>
          </a:prstGeom>
          <a:noFill/>
        </p:spPr>
        <p:txBody>
          <a:bodyPr wrap="square" lIns="38100" tIns="19050" rIns="38100" bIns="19050" anchor="ctr">
            <a:spAutoFit/>
          </a:bodyPr>
          <a:lstStyle/>
          <a:p>
            <a:pPr algn="ctr">
              <a:lnSpc>
                <a:spcPct val="100000"/>
              </a:lnSpc>
              <a:spcBef>
                <a:spcPts val="0"/>
              </a:spcBef>
              <a:spcAft>
                <a:spcPts val="200"/>
              </a:spcAft>
              <a:defRPr sz="1000" b="1">
                <a:solidFill>
                  <a:srgbClr val="152742"/>
                </a:solidFill>
              </a:defRPr>
            </a:pPr>
            <a:r>
              <a:rPr sz="1600" b="1"/>
              <a:t>✓ working in our prototype today   • planned (TARGET)   |   built for both halves of the score: DSM accuracy + Rendering &amp; UX</a:t>
            </a:r>
          </a:p>
        </p:txBody>
      </p:sp>
      <p:pic>
        <p:nvPicPr>
          <p:cNvPr id="17452" name="Picture 17451"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7453" name="TextBox 17452"/>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7454" name="Picture 17453" descr="image2.png"/>
          <p:cNvPicPr>
            <a:picLocks noChangeAspect="1"/>
          </p:cNvPicPr>
          <p:nvPr/>
        </p:nvPicPr>
        <p:blipFill>
          <a:blip r:embed="rId4"/>
          <a:stretch>
            <a:fillRect/>
          </a:stretch>
        </p:blipFill>
        <p:spPr>
          <a:xfrm>
            <a:off x="9841366" y="57097"/>
            <a:ext cx="2209120" cy="1122868"/>
          </a:xfrm>
          <a:prstGeom prst="rect">
            <a:avLst/>
          </a:prstGeom>
        </p:spPr>
      </p:pic>
      <p:graphicFrame>
        <p:nvGraphicFramePr>
          <p:cNvPr id="17463" name="Chart 17462"/>
          <p:cNvGraphicFramePr>
            <a:graphicFrameLocks noGrp="1"/>
          </p:cNvGraphicFramePr>
          <p:nvPr/>
        </p:nvGraphicFramePr>
        <p:xfrm>
          <a:off x="594360" y="4114800"/>
          <a:ext cx="3520440" cy="1408175"/>
        </p:xfrm>
        <a:graphic>
          <a:graphicData uri="http://schemas.openxmlformats.org/drawingml/2006/chart">
            <c:chart xmlns:c="http://schemas.openxmlformats.org/drawingml/2006/chart" r:id="rId5"/>
          </a:graphicData>
        </a:graphic>
      </p:graphicFrame>
      <p:sp>
        <p:nvSpPr>
          <p:cNvPr id="17464" name="TextBox 17463"/>
          <p:cNvSpPr txBox="1"/>
          <p:nvPr/>
        </p:nvSpPr>
        <p:spPr>
          <a:xfrm>
            <a:off x="594360" y="5541264"/>
            <a:ext cx="3520440" cy="292608"/>
          </a:xfrm>
          <a:prstGeom prst="rect">
            <a:avLst/>
          </a:prstGeom>
          <a:noFill/>
        </p:spPr>
        <p:txBody>
          <a:bodyPr wrap="square" lIns="0" rIns="0" tIns="0" bIns="0">
            <a:spAutoFit/>
          </a:bodyPr>
          <a:lstStyle/>
          <a:p>
            <a:r>
              <a:rPr sz="800">
                <a:solidFill>
                  <a:srgbClr val="5C6878"/>
                </a:solidFill>
                <a:latin typeface="Aptos"/>
              </a:rPr>
              <a:t>Our run: flood predicted from pre-flood images in 4 test areas vs the IPH-UFRGS LiDAR flood map. CSI 1 = perfect</a:t>
            </a:r>
          </a:p>
        </p:txBody>
      </p:sp>
      <p:sp>
        <p:nvSpPr>
          <p:cNvPr id="17465" name="TextBox 17464"/>
          <p:cNvSpPr txBox="1"/>
          <p:nvPr/>
        </p:nvSpPr>
        <p:spPr>
          <a:xfrm>
            <a:off x="4315968" y="4114800"/>
            <a:ext cx="3520440" cy="237744"/>
          </a:xfrm>
          <a:prstGeom prst="rect">
            <a:avLst/>
          </a:prstGeom>
          <a:noFill/>
        </p:spPr>
        <p:txBody>
          <a:bodyPr wrap="none" lIns="0" rIns="0" tIns="0" bIns="0">
            <a:spAutoFit/>
          </a:bodyPr>
          <a:lstStyle/>
          <a:p>
            <a:pPr algn="ctr"/>
            <a:r>
              <a:rPr sz="1000" b="1">
                <a:solidFill>
                  <a:srgbClr val="17273A"/>
                </a:solidFill>
                <a:latin typeface="Aptos"/>
              </a:rPr>
              <a:t>PROTOTYPE: flood fly-through, saved as MP4</a:t>
            </a:r>
          </a:p>
        </p:txBody>
      </p:sp>
      <p:pic>
        <p:nvPicPr>
          <p:cNvPr id="17466" name="Picture 17465" descr="flythrough_canoas_wide.png"/>
          <p:cNvPicPr>
            <a:picLocks noChangeAspect="1"/>
          </p:cNvPicPr>
          <p:nvPr/>
        </p:nvPicPr>
        <p:blipFill>
          <a:blip r:embed="rId6"/>
          <a:stretch>
            <a:fillRect/>
          </a:stretch>
        </p:blipFill>
        <p:spPr>
          <a:xfrm>
            <a:off x="4589730" y="4370832"/>
            <a:ext cx="2972915" cy="1133855"/>
          </a:xfrm>
          <a:prstGeom prst="rect">
            <a:avLst/>
          </a:prstGeom>
        </p:spPr>
      </p:pic>
      <p:sp>
        <p:nvSpPr>
          <p:cNvPr id="17467" name="TextBox 17466"/>
          <p:cNvSpPr txBox="1"/>
          <p:nvPr/>
        </p:nvSpPr>
        <p:spPr>
          <a:xfrm>
            <a:off x="4315968" y="5522975"/>
            <a:ext cx="3520440" cy="292608"/>
          </a:xfrm>
          <a:prstGeom prst="rect">
            <a:avLst/>
          </a:prstGeom>
          <a:noFill/>
        </p:spPr>
        <p:txBody>
          <a:bodyPr wrap="square" lIns="0" rIns="0" tIns="0" bIns="0">
            <a:spAutoFit/>
          </a:bodyPr>
          <a:lstStyle/>
          <a:p>
            <a:r>
              <a:rPr sz="800">
                <a:solidFill>
                  <a:srgbClr val="5C6878"/>
                </a:solidFill>
                <a:latin typeface="Aptos"/>
              </a:rPr>
              <a:t>Our viewer: drone path over Canoas (Brazil) at the May 2024 flood level; orange = roofs still above water</a:t>
            </a:r>
          </a:p>
        </p:txBody>
      </p:sp>
      <p:graphicFrame>
        <p:nvGraphicFramePr>
          <p:cNvPr id="17468" name="Chart 17467"/>
          <p:cNvGraphicFramePr>
            <a:graphicFrameLocks noGrp="1"/>
          </p:cNvGraphicFramePr>
          <p:nvPr/>
        </p:nvGraphicFramePr>
        <p:xfrm>
          <a:off x="8037575" y="4114800"/>
          <a:ext cx="3520440" cy="1408175"/>
        </p:xfrm>
        <a:graphic>
          <a:graphicData uri="http://schemas.openxmlformats.org/drawingml/2006/chart">
            <c:chart xmlns:c="http://schemas.openxmlformats.org/drawingml/2006/chart" r:id="rId7"/>
          </a:graphicData>
        </a:graphic>
      </p:graphicFrame>
      <p:sp>
        <p:nvSpPr>
          <p:cNvPr id="17469" name="TextBox 17468"/>
          <p:cNvSpPr txBox="1"/>
          <p:nvPr/>
        </p:nvSpPr>
        <p:spPr>
          <a:xfrm>
            <a:off x="8037575" y="5541264"/>
            <a:ext cx="3520440" cy="292608"/>
          </a:xfrm>
          <a:prstGeom prst="rect">
            <a:avLst/>
          </a:prstGeom>
          <a:noFill/>
        </p:spPr>
        <p:txBody>
          <a:bodyPr wrap="square" lIns="0" rIns="0" tIns="0" bIns="0">
            <a:spAutoFit/>
          </a:bodyPr>
          <a:lstStyle/>
          <a:p>
            <a:r>
              <a:rPr sz="800">
                <a:solidFill>
                  <a:srgbClr val="5C6878"/>
                </a:solidFill>
                <a:latin typeface="Aptos"/>
              </a:rPr>
              <a:t>Our run: released RS3DAda, 150 GAMUS test tiles vs LiDAR; official MAE 3.88 / RMSE 5.56 m. Trees: next fix (GAMUS fine-tuning)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lIns="38100" tIns="19050" rIns="38100" bIns="19050" anchor="ctr"/>
          <a:lstStyle/>
          <a:p>
            <a:pPr algn="ctr" eaLnBrk="1" hangingPunct="1">
              <a:lnSpc>
                <a:spcPct val="100000"/>
              </a:lnSpc>
              <a:spcBef>
                <a:spcPts val="0"/>
              </a:spcBef>
              <a:spcAft>
                <a:spcPts val="0"/>
              </a:spcAft>
            </a:pP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lIns="38100" tIns="19050" rIns="38100" bIns="19050"/>
          <a:lstStyle/>
          <a:p>
            <a:pPr marL="0" marR="0" lvl="0" indent="0" algn="r" defTabSz="457200" rtl="0" eaLnBrk="1" fontAlgn="base" latinLnBrk="0" hangingPunct="1">
              <a:lnSpc>
                <a:spcPct val="100000"/>
              </a:lnSpc>
              <a:spcBef>
                <a:spcPts val="0"/>
              </a:spcBef>
              <a:spcAft>
                <a:spcPts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TextBox 17409"/>
          <p:cNvSpPr txBox="1"/>
          <p:nvPr/>
        </p:nvSpPr>
        <p:spPr>
          <a:xfrm>
            <a:off x="594360" y="1078992"/>
            <a:ext cx="10972800" cy="329184"/>
          </a:xfrm>
          <a:prstGeom prst="rect">
            <a:avLst/>
          </a:prstGeom>
          <a:noFill/>
        </p:spPr>
        <p:txBody>
          <a:bodyPr wrap="square" lIns="38100" tIns="19050" rIns="38100" bIns="19050" anchor="ctr">
            <a:spAutoFit/>
          </a:bodyPr>
          <a:lstStyle/>
          <a:p>
            <a:pPr algn="l">
              <a:lnSpc>
                <a:spcPct val="100000"/>
              </a:lnSpc>
              <a:spcBef>
                <a:spcPts val="0"/>
              </a:spcBef>
              <a:spcAft>
                <a:spcPts val="0"/>
              </a:spcAft>
              <a:defRPr sz="1580" b="1">
                <a:solidFill>
                  <a:srgbClr val="152742"/>
                </a:solidFill>
              </a:defRPr>
            </a:pPr>
            <a:r>
              <a:rPr sz="1900" b="1" i="0">
                <a:solidFill>
                  <a:srgbClr val="17273A"/>
                </a:solidFill>
                <a:latin typeface="Aptos"/>
              </a:rPr>
              <a:t>Built on Released Models, Free Data and Offline-Ready Software</a:t>
            </a:r>
          </a:p>
        </p:txBody>
      </p:sp>
      <p:sp>
        <p:nvSpPr>
          <p:cNvPr id="17411" name="Rounded Rectangle 17410"/>
          <p:cNvSpPr/>
          <p:nvPr/>
        </p:nvSpPr>
        <p:spPr>
          <a:xfrm>
            <a:off x="594360" y="1536192"/>
            <a:ext cx="5303520"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2" name="TextBox 17411"/>
          <p:cNvSpPr txBox="1"/>
          <p:nvPr/>
        </p:nvSpPr>
        <p:spPr>
          <a:xfrm>
            <a:off x="685800" y="1563624"/>
            <a:ext cx="5120640"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FEASIBILITY</a:t>
            </a:r>
          </a:p>
        </p:txBody>
      </p:sp>
      <p:sp>
        <p:nvSpPr>
          <p:cNvPr id="17413" name="Rounded Rectangle 17412"/>
          <p:cNvSpPr/>
          <p:nvPr/>
        </p:nvSpPr>
        <p:spPr>
          <a:xfrm>
            <a:off x="594360" y="1874519"/>
            <a:ext cx="5303520" cy="1353312"/>
          </a:xfrm>
          <a:prstGeom prst="roundRect">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4" name="TextBox 17413"/>
          <p:cNvSpPr txBox="1"/>
          <p:nvPr/>
        </p:nvSpPr>
        <p:spPr>
          <a:xfrm>
            <a:off x="795528" y="2112264"/>
            <a:ext cx="4919472" cy="960120"/>
          </a:xfrm>
          <a:prstGeom prst="rect">
            <a:avLst/>
          </a:prstGeom>
          <a:noFill/>
        </p:spPr>
        <p:txBody>
          <a:bodyPr wrap="square" lIns="38100" tIns="19050" rIns="38100" bIns="19050" anchor="ctr">
            <a:spAutoFit/>
          </a:bodyPr>
          <a:lstStyle/>
          <a:p>
            <a:pPr algn="l">
              <a:lnSpc>
                <a:spcPct val="108000"/>
              </a:lnSpc>
              <a:spcBef>
                <a:spcPts val="0"/>
              </a:spcBef>
              <a:spcAft>
                <a:spcPts val="150"/>
              </a:spcAft>
              <a:defRPr sz="1045">
                <a:solidFill>
                  <a:srgbClr val="232B36"/>
                </a:solidFill>
              </a:defRPr>
            </a:pPr>
            <a:r>
              <a:rPr sz="1090"/>
              <a:t>• Working baseline on day 1: RS3DAda weights + inference script are public (MIT)</a:t>
            </a:r>
          </a:p>
          <a:p>
            <a:pPr algn="l">
              <a:lnSpc>
                <a:spcPct val="108000"/>
              </a:lnSpc>
              <a:spcBef>
                <a:spcPts val="0"/>
              </a:spcBef>
              <a:spcAft>
                <a:spcPts val="150"/>
              </a:spcAft>
              <a:defRPr sz="1045">
                <a:solidFill>
                  <a:srgbClr val="232B36"/>
                </a:solidFill>
              </a:defRPr>
            </a:pPr>
            <a:r>
              <a:rPr sz="1090"/>
              <a:t>• Training data ready: GAMUS (PS-recommended), DFC2019/US3D, SynRS3D (69k synthetic images)</a:t>
            </a:r>
          </a:p>
          <a:p>
            <a:pPr algn="l">
              <a:lnSpc>
                <a:spcPct val="108000"/>
              </a:lnSpc>
              <a:spcBef>
                <a:spcPts val="0"/>
              </a:spcBef>
              <a:spcAft>
                <a:spcPts val="150"/>
              </a:spcAft>
              <a:defRPr sz="1045">
                <a:solidFill>
                  <a:srgbClr val="232B36"/>
                </a:solidFill>
              </a:defRPr>
            </a:pPr>
            <a:r>
              <a:rPr sz="1090"/>
              <a:t>• Free terrain + truth data: CartoDEM (Bhuvan), SRTM, Copernicus GLO-30, ICESat-2</a:t>
            </a:r>
          </a:p>
          <a:p>
            <a:pPr algn="l">
              <a:lnSpc>
                <a:spcPct val="108000"/>
              </a:lnSpc>
              <a:spcBef>
                <a:spcPts val="0"/>
              </a:spcBef>
              <a:spcAft>
                <a:spcPts val="150"/>
              </a:spcAft>
              <a:defRPr sz="1045">
                <a:solidFill>
                  <a:srgbClr val="232B36"/>
                </a:solidFill>
              </a:defRPr>
            </a:pPr>
            <a:r>
              <a:rPr sz="1090"/>
              <a:t>• Fine-tuning fits one cloud GPU; frozen-backbone option for low budgets</a:t>
            </a:r>
          </a:p>
        </p:txBody>
      </p:sp>
      <p:sp>
        <p:nvSpPr>
          <p:cNvPr id="17415" name="Rounded Rectangle 17414"/>
          <p:cNvSpPr/>
          <p:nvPr/>
        </p:nvSpPr>
        <p:spPr>
          <a:xfrm>
            <a:off x="6099048" y="1536192"/>
            <a:ext cx="5449824" cy="301752"/>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6" name="TextBox 17415"/>
          <p:cNvSpPr txBox="1"/>
          <p:nvPr/>
        </p:nvSpPr>
        <p:spPr>
          <a:xfrm>
            <a:off x="6190488" y="1563624"/>
            <a:ext cx="526694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VIABILITY</a:t>
            </a:r>
          </a:p>
        </p:txBody>
      </p:sp>
      <p:sp>
        <p:nvSpPr>
          <p:cNvPr id="17417" name="Rounded Rectangle 17416"/>
          <p:cNvSpPr/>
          <p:nvPr/>
        </p:nvSpPr>
        <p:spPr>
          <a:xfrm>
            <a:off x="6099048" y="1874519"/>
            <a:ext cx="5449824" cy="1353312"/>
          </a:xfrm>
          <a:prstGeom prst="roundRect">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8" name="TextBox 17417"/>
          <p:cNvSpPr txBox="1"/>
          <p:nvPr/>
        </p:nvSpPr>
        <p:spPr>
          <a:xfrm>
            <a:off x="6300216" y="2112264"/>
            <a:ext cx="5029200" cy="960120"/>
          </a:xfrm>
          <a:prstGeom prst="rect">
            <a:avLst/>
          </a:prstGeom>
          <a:noFill/>
        </p:spPr>
        <p:txBody>
          <a:bodyPr wrap="square" lIns="38100" tIns="19050" rIns="38100" bIns="19050" anchor="ctr">
            <a:spAutoFit/>
          </a:bodyPr>
          <a:lstStyle/>
          <a:p>
            <a:pPr algn="l">
              <a:lnSpc>
                <a:spcPct val="108000"/>
              </a:lnSpc>
              <a:spcBef>
                <a:spcPts val="0"/>
              </a:spcBef>
              <a:spcAft>
                <a:spcPts val="150"/>
              </a:spcAft>
              <a:defRPr sz="1045">
                <a:solidFill>
                  <a:srgbClr val="232B36"/>
                </a:solidFill>
              </a:defRPr>
            </a:pPr>
            <a:r>
              <a:rPr sz="1090"/>
              <a:t>• Modular: swap the height model without touching calibration or the viewer</a:t>
            </a:r>
          </a:p>
          <a:p>
            <a:pPr algn="l">
              <a:lnSpc>
                <a:spcPct val="108000"/>
              </a:lnSpc>
              <a:spcBef>
                <a:spcPts val="0"/>
              </a:spcBef>
              <a:spcAft>
                <a:spcPts val="150"/>
              </a:spcAft>
              <a:defRPr sz="1045">
                <a:solidFill>
                  <a:srgbClr val="232B36"/>
                </a:solidFill>
              </a:defRPr>
            </a:pPr>
            <a:r>
              <a:rPr sz="1090"/>
              <a:t>• Standard outputs (GeoTIFF DSM, GLB) open in QGIS, ArcGIS and Bhuvan workflows</a:t>
            </a:r>
          </a:p>
          <a:p>
            <a:pPr algn="l">
              <a:lnSpc>
                <a:spcPct val="108000"/>
              </a:lnSpc>
              <a:spcBef>
                <a:spcPts val="0"/>
              </a:spcBef>
              <a:spcAft>
                <a:spcPts val="150"/>
              </a:spcAft>
              <a:defRPr sz="1045">
                <a:solidFill>
                  <a:srgbClr val="232B36"/>
                </a:solidFill>
              </a:defRPr>
            </a:pPr>
            <a:r>
              <a:rPr sz="1090"/>
              <a:t>• Offline today on a laptop; next: ONNX CPU model + Tauri desktop app</a:t>
            </a:r>
          </a:p>
          <a:p>
            <a:pPr algn="l">
              <a:lnSpc>
                <a:spcPct val="108000"/>
              </a:lnSpc>
              <a:spcBef>
                <a:spcPts val="0"/>
              </a:spcBef>
              <a:spcAft>
                <a:spcPts val="150"/>
              </a:spcAft>
              <a:defRPr sz="1045">
                <a:solidFill>
                  <a:srgbClr val="232B36"/>
                </a:solidFill>
              </a:defRPr>
            </a:pPr>
            <a:r>
              <a:rPr sz="1090"/>
              <a:t>• License-clean: MIT / Apache / DINOv3 license; no non-commercial weights</a:t>
            </a:r>
          </a:p>
        </p:txBody>
      </p:sp>
      <p:sp>
        <p:nvSpPr>
          <p:cNvPr id="17419" name="TextBox 17418"/>
          <p:cNvSpPr txBox="1"/>
          <p:nvPr/>
        </p:nvSpPr>
        <p:spPr>
          <a:xfrm>
            <a:off x="594360" y="3456432"/>
            <a:ext cx="4572000" cy="256032"/>
          </a:xfrm>
          <a:prstGeom prst="rect">
            <a:avLst/>
          </a:prstGeom>
          <a:noFill/>
        </p:spPr>
        <p:txBody>
          <a:bodyPr wrap="square" lIns="38100" tIns="19050" rIns="38100" bIns="19050" anchor="ctr">
            <a:spAutoFit/>
          </a:bodyPr>
          <a:lstStyle/>
          <a:p>
            <a:pPr algn="l">
              <a:lnSpc>
                <a:spcPct val="100000"/>
              </a:lnSpc>
              <a:spcBef>
                <a:spcPts val="0"/>
              </a:spcBef>
              <a:spcAft>
                <a:spcPts val="0"/>
              </a:spcAft>
              <a:defRPr sz="1200" b="1">
                <a:solidFill>
                  <a:srgbClr val="152742"/>
                </a:solidFill>
              </a:defRPr>
            </a:pPr>
            <a:r>
              <a:rPr sz="1180" b="1" i="0">
                <a:solidFill>
                  <a:srgbClr val="17273A"/>
                </a:solidFill>
                <a:latin typeface="Aptos"/>
              </a:rPr>
              <a:t>CHALLENGE → RISK → MITIGATION</a:t>
            </a:r>
          </a:p>
        </p:txBody>
      </p:sp>
      <p:sp>
        <p:nvSpPr>
          <p:cNvPr id="17420" name="Rounded Rectangle 17419"/>
          <p:cNvSpPr/>
          <p:nvPr/>
        </p:nvSpPr>
        <p:spPr>
          <a:xfrm>
            <a:off x="594360" y="3776472"/>
            <a:ext cx="1874519"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1" name="TextBox 17420"/>
          <p:cNvSpPr txBox="1"/>
          <p:nvPr/>
        </p:nvSpPr>
        <p:spPr>
          <a:xfrm>
            <a:off x="685800" y="3803904"/>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CHALLENGE</a:t>
            </a:r>
          </a:p>
        </p:txBody>
      </p:sp>
      <p:sp>
        <p:nvSpPr>
          <p:cNvPr id="17422" name="Rounded Rectangle 17421"/>
          <p:cNvSpPr/>
          <p:nvPr/>
        </p:nvSpPr>
        <p:spPr>
          <a:xfrm>
            <a:off x="2514600" y="3776472"/>
            <a:ext cx="2011680" cy="301752"/>
          </a:xfrm>
          <a:prstGeom prst="roundRect">
            <a:avLst/>
          </a:prstGeom>
          <a:solidFill>
            <a:srgbClr val="5C6878"/>
          </a:solidFill>
          <a:ln w="12700">
            <a:solidFill>
              <a:srgbClr val="5C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3" name="TextBox 17422"/>
          <p:cNvSpPr txBox="1"/>
          <p:nvPr/>
        </p:nvSpPr>
        <p:spPr>
          <a:xfrm>
            <a:off x="2606040" y="3803904"/>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RISK</a:t>
            </a:r>
          </a:p>
        </p:txBody>
      </p:sp>
      <p:sp>
        <p:nvSpPr>
          <p:cNvPr id="17424" name="Rounded Rectangle 17423"/>
          <p:cNvSpPr/>
          <p:nvPr/>
        </p:nvSpPr>
        <p:spPr>
          <a:xfrm>
            <a:off x="4572000" y="3776472"/>
            <a:ext cx="3154680" cy="301752"/>
          </a:xfrm>
          <a:prstGeom prst="roundRect">
            <a:avLst/>
          </a:prstGeom>
          <a:solidFill>
            <a:srgbClr val="45885C"/>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5" name="TextBox 17424"/>
          <p:cNvSpPr txBox="1"/>
          <p:nvPr/>
        </p:nvSpPr>
        <p:spPr>
          <a:xfrm>
            <a:off x="4663440" y="3803904"/>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MITIGATION</a:t>
            </a:r>
          </a:p>
        </p:txBody>
      </p:sp>
      <p:sp>
        <p:nvSpPr>
          <p:cNvPr id="17426" name="Rounded Rectangle 17425"/>
          <p:cNvSpPr/>
          <p:nvPr/>
        </p:nvSpPr>
        <p:spPr>
          <a:xfrm>
            <a:off x="594360" y="4114800"/>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7" name="TextBox 17426"/>
          <p:cNvSpPr txBox="1"/>
          <p:nvPr/>
        </p:nvSpPr>
        <p:spPr>
          <a:xfrm>
            <a:off x="658368" y="4137659"/>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New image resolution (GSD)</a:t>
            </a:r>
          </a:p>
        </p:txBody>
      </p:sp>
      <p:sp>
        <p:nvSpPr>
          <p:cNvPr id="17428" name="Rounded Rectangle 17427"/>
          <p:cNvSpPr/>
          <p:nvPr/>
        </p:nvSpPr>
        <p:spPr>
          <a:xfrm>
            <a:off x="2514600" y="4114800"/>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9" name="TextBox 17428"/>
          <p:cNvSpPr txBox="1"/>
          <p:nvPr/>
        </p:nvSpPr>
        <p:spPr>
          <a:xfrm>
            <a:off x="2578608" y="4137659"/>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Wrong height scale</a:t>
            </a:r>
          </a:p>
        </p:txBody>
      </p:sp>
      <p:sp>
        <p:nvSpPr>
          <p:cNvPr id="17430" name="Rounded Rectangle 17429"/>
          <p:cNvSpPr/>
          <p:nvPr/>
        </p:nvSpPr>
        <p:spPr>
          <a:xfrm>
            <a:off x="4572000" y="4114800"/>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1" name="TextBox 17430"/>
          <p:cNvSpPr txBox="1"/>
          <p:nvPr/>
        </p:nvSpPr>
        <p:spPr>
          <a:xfrm>
            <a:off x="4636008" y="4137659"/>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Read GSD from metadata · resample · multi-resolution fine-tuning</a:t>
            </a:r>
          </a:p>
        </p:txBody>
      </p:sp>
      <p:sp>
        <p:nvSpPr>
          <p:cNvPr id="17432" name="Rounded Rectangle 17431"/>
          <p:cNvSpPr/>
          <p:nvPr/>
        </p:nvSpPr>
        <p:spPr>
          <a:xfrm>
            <a:off x="594360" y="4498848"/>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3" name="TextBox 17432"/>
          <p:cNvSpPr txBox="1"/>
          <p:nvPr/>
        </p:nvSpPr>
        <p:spPr>
          <a:xfrm>
            <a:off x="658368" y="4521708"/>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One image can't see ground level</a:t>
            </a:r>
          </a:p>
        </p:txBody>
      </p:sp>
      <p:sp>
        <p:nvSpPr>
          <p:cNvPr id="17434" name="Rounded Rectangle 17433"/>
          <p:cNvSpPr/>
          <p:nvPr/>
        </p:nvSpPr>
        <p:spPr>
          <a:xfrm>
            <a:off x="2514600" y="4498848"/>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5" name="TextBox 17434"/>
          <p:cNvSpPr txBox="1"/>
          <p:nvPr/>
        </p:nvSpPr>
        <p:spPr>
          <a:xfrm>
            <a:off x="2578608" y="4521708"/>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Heights off in metres</a:t>
            </a:r>
          </a:p>
        </p:txBody>
      </p:sp>
      <p:sp>
        <p:nvSpPr>
          <p:cNvPr id="17436" name="Rounded Rectangle 17435"/>
          <p:cNvSpPr/>
          <p:nvPr/>
        </p:nvSpPr>
        <p:spPr>
          <a:xfrm>
            <a:off x="4572000" y="4498848"/>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7" name="TextBox 17436"/>
          <p:cNvSpPr txBox="1"/>
          <p:nvPr/>
        </p:nvSpPr>
        <p:spPr>
          <a:xfrm>
            <a:off x="4636008" y="4521708"/>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Remove buildings from terrain · ICESat-2 laser levelling (built)</a:t>
            </a:r>
          </a:p>
        </p:txBody>
      </p:sp>
      <p:sp>
        <p:nvSpPr>
          <p:cNvPr id="17438" name="Rounded Rectangle 17437"/>
          <p:cNvSpPr/>
          <p:nvPr/>
        </p:nvSpPr>
        <p:spPr>
          <a:xfrm>
            <a:off x="594360" y="4882896"/>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9" name="TextBox 17438"/>
          <p:cNvSpPr txBox="1"/>
          <p:nvPr/>
        </p:nvSpPr>
        <p:spPr>
          <a:xfrm>
            <a:off x="658368" y="4905756"/>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Few tall buildings in training data</a:t>
            </a:r>
          </a:p>
        </p:txBody>
      </p:sp>
      <p:sp>
        <p:nvSpPr>
          <p:cNvPr id="17440" name="Rounded Rectangle 17439"/>
          <p:cNvSpPr/>
          <p:nvPr/>
        </p:nvSpPr>
        <p:spPr>
          <a:xfrm>
            <a:off x="2514600" y="4882896"/>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1" name="TextBox 17440"/>
          <p:cNvSpPr txBox="1"/>
          <p:nvPr/>
        </p:nvSpPr>
        <p:spPr>
          <a:xfrm>
            <a:off x="2578608" y="4905756"/>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Tall buildings under-estimated</a:t>
            </a:r>
          </a:p>
        </p:txBody>
      </p:sp>
      <p:sp>
        <p:nvSpPr>
          <p:cNvPr id="17442" name="Rounded Rectangle 17441"/>
          <p:cNvSpPr/>
          <p:nvPr/>
        </p:nvSpPr>
        <p:spPr>
          <a:xfrm>
            <a:off x="4572000" y="4882896"/>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3" name="TextBox 17442"/>
          <p:cNvSpPr txBox="1"/>
          <p:nvPr/>
        </p:nvSpPr>
        <p:spPr>
          <a:xfrm>
            <a:off x="4636008" y="4905756"/>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Oversample tall buildings · report error by height band</a:t>
            </a:r>
          </a:p>
        </p:txBody>
      </p:sp>
      <p:sp>
        <p:nvSpPr>
          <p:cNvPr id="17444" name="Rounded Rectangle 17443"/>
          <p:cNvSpPr/>
          <p:nvPr/>
        </p:nvSpPr>
        <p:spPr>
          <a:xfrm>
            <a:off x="594360" y="5266944"/>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5" name="TextBox 17444"/>
          <p:cNvSpPr txBox="1"/>
          <p:nvPr/>
        </p:nvSpPr>
        <p:spPr>
          <a:xfrm>
            <a:off x="658368" y="5289804"/>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Tilted (off-nadir) images</a:t>
            </a:r>
          </a:p>
        </p:txBody>
      </p:sp>
      <p:sp>
        <p:nvSpPr>
          <p:cNvPr id="17446" name="Rounded Rectangle 17445"/>
          <p:cNvSpPr/>
          <p:nvPr/>
        </p:nvSpPr>
        <p:spPr>
          <a:xfrm>
            <a:off x="2514600" y="5266944"/>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7" name="TextBox 17446"/>
          <p:cNvSpPr txBox="1"/>
          <p:nvPr/>
        </p:nvSpPr>
        <p:spPr>
          <a:xfrm>
            <a:off x="2578608" y="5289804"/>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Leaning buildings, shifted roofs</a:t>
            </a:r>
          </a:p>
        </p:txBody>
      </p:sp>
      <p:sp>
        <p:nvSpPr>
          <p:cNvPr id="17448" name="Rounded Rectangle 17447"/>
          <p:cNvSpPr/>
          <p:nvPr/>
        </p:nvSpPr>
        <p:spPr>
          <a:xfrm>
            <a:off x="4572000" y="5266944"/>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9" name="TextBox 17448"/>
          <p:cNvSpPr txBox="1"/>
          <p:nvPr/>
        </p:nvSpPr>
        <p:spPr>
          <a:xfrm>
            <a:off x="4636008" y="5289804"/>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Off-nadir training data (US3D) · warning in UI</a:t>
            </a:r>
          </a:p>
        </p:txBody>
      </p:sp>
      <p:sp>
        <p:nvSpPr>
          <p:cNvPr id="17450" name="Rounded Rectangle 17449"/>
          <p:cNvSpPr/>
          <p:nvPr/>
        </p:nvSpPr>
        <p:spPr>
          <a:xfrm>
            <a:off x="594360" y="5650992"/>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1" name="TextBox 17450"/>
          <p:cNvSpPr txBox="1"/>
          <p:nvPr/>
        </p:nvSpPr>
        <p:spPr>
          <a:xfrm>
            <a:off x="658368" y="5673851"/>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No GPU / no internet in the field</a:t>
            </a:r>
          </a:p>
        </p:txBody>
      </p:sp>
      <p:sp>
        <p:nvSpPr>
          <p:cNvPr id="17452" name="Rounded Rectangle 17451"/>
          <p:cNvSpPr/>
          <p:nvPr/>
        </p:nvSpPr>
        <p:spPr>
          <a:xfrm>
            <a:off x="2514600" y="5650992"/>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3" name="TextBox 17452"/>
          <p:cNvSpPr txBox="1"/>
          <p:nvPr/>
        </p:nvSpPr>
        <p:spPr>
          <a:xfrm>
            <a:off x="2578608" y="5673851"/>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Tool unusable</a:t>
            </a:r>
          </a:p>
        </p:txBody>
      </p:sp>
      <p:sp>
        <p:nvSpPr>
          <p:cNvPr id="17454" name="Rounded Rectangle 17453"/>
          <p:cNvSpPr/>
          <p:nvPr/>
        </p:nvSpPr>
        <p:spPr>
          <a:xfrm>
            <a:off x="4572000" y="5650992"/>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5" name="TextBox 17454"/>
          <p:cNvSpPr txBox="1"/>
          <p:nvPr/>
        </p:nvSpPr>
        <p:spPr>
          <a:xfrm>
            <a:off x="4636008" y="5673851"/>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Offline laptop app (built) · ONNX CPU model next</a:t>
            </a:r>
          </a:p>
        </p:txBody>
      </p:sp>
      <p:pic>
        <p:nvPicPr>
          <p:cNvPr id="17457" name="Picture 17456"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7458" name="TextBox 17457"/>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7459" name="Picture 17458" descr="image2.png"/>
          <p:cNvPicPr>
            <a:picLocks noChangeAspect="1"/>
          </p:cNvPicPr>
          <p:nvPr/>
        </p:nvPicPr>
        <p:blipFill>
          <a:blip r:embed="rId4"/>
          <a:stretch>
            <a:fillRect/>
          </a:stretch>
        </p:blipFill>
        <p:spPr>
          <a:xfrm>
            <a:off x="9841366" y="57097"/>
            <a:ext cx="2209120" cy="1122868"/>
          </a:xfrm>
          <a:prstGeom prst="rect">
            <a:avLst/>
          </a:prstGeom>
        </p:spPr>
      </p:pic>
      <p:graphicFrame>
        <p:nvGraphicFramePr>
          <p:cNvPr id="17460" name="Chart 17459"/>
          <p:cNvGraphicFramePr>
            <a:graphicFrameLocks noGrp="1"/>
          </p:cNvGraphicFramePr>
          <p:nvPr/>
        </p:nvGraphicFramePr>
        <p:xfrm>
          <a:off x="8028431" y="3703320"/>
          <a:ext cx="3566160" cy="2020824"/>
        </p:xfrm>
        <a:graphic>
          <a:graphicData uri="http://schemas.openxmlformats.org/drawingml/2006/chart">
            <c:chart xmlns:c="http://schemas.openxmlformats.org/drawingml/2006/chart" r:id="rId5"/>
          </a:graphicData>
        </a:graphic>
      </p:graphicFrame>
      <p:sp>
        <p:nvSpPr>
          <p:cNvPr id="17461" name="TextBox 17460"/>
          <p:cNvSpPr txBox="1"/>
          <p:nvPr/>
        </p:nvSpPr>
        <p:spPr>
          <a:xfrm>
            <a:off x="8028431" y="5742431"/>
            <a:ext cx="3566160" cy="292608"/>
          </a:xfrm>
          <a:prstGeom prst="rect">
            <a:avLst/>
          </a:prstGeom>
          <a:noFill/>
        </p:spPr>
        <p:txBody>
          <a:bodyPr wrap="square" lIns="0" rIns="0" tIns="0" bIns="0">
            <a:spAutoFit/>
          </a:bodyPr>
          <a:lstStyle/>
          <a:p>
            <a:r>
              <a:rPr sz="800">
                <a:solidFill>
                  <a:srgbClr val="5C6878"/>
                </a:solidFill>
                <a:latin typeface="Aptos"/>
              </a:rPr>
              <a:t>Score = fit to PS + public weights + reported accuracy + effort. Multi-view models (need several images) excluded.</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lIns="38100" tIns="19050" rIns="38100" bIns="19050" anchor="ctr"/>
          <a:lstStyle/>
          <a:p>
            <a:pPr algn="ctr" eaLnBrk="1" hangingPunct="1">
              <a:lnSpc>
                <a:spcPct val="100000"/>
              </a:lnSpc>
              <a:spcBef>
                <a:spcPts val="0"/>
              </a:spcBef>
              <a:spcAft>
                <a:spcPts val="0"/>
              </a:spcAft>
            </a:pP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lIns="38100" tIns="19050" rIns="38100" bIns="19050"/>
          <a:lstStyle/>
          <a:p>
            <a:pPr marL="0" marR="0" lvl="0" indent="0" algn="r" defTabSz="457200" rtl="0" eaLnBrk="1" fontAlgn="base" latinLnBrk="0" hangingPunct="1">
              <a:lnSpc>
                <a:spcPct val="100000"/>
              </a:lnSpc>
              <a:spcBef>
                <a:spcPts val="0"/>
              </a:spcBef>
              <a:spcAft>
                <a:spcPts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TextBox 17409"/>
          <p:cNvSpPr txBox="1"/>
          <p:nvPr/>
        </p:nvSpPr>
        <p:spPr>
          <a:xfrm>
            <a:off x="594360" y="1078992"/>
            <a:ext cx="10972800" cy="329184"/>
          </a:xfrm>
          <a:prstGeom prst="rect">
            <a:avLst/>
          </a:prstGeom>
          <a:noFill/>
        </p:spPr>
        <p:txBody>
          <a:bodyPr wrap="square" lIns="38100" tIns="19050" rIns="38100" bIns="19050" anchor="ctr">
            <a:spAutoFit/>
          </a:bodyPr>
          <a:lstStyle/>
          <a:p>
            <a:pPr algn="l">
              <a:lnSpc>
                <a:spcPct val="100000"/>
              </a:lnSpc>
              <a:spcBef>
                <a:spcPts val="0"/>
              </a:spcBef>
              <a:spcAft>
                <a:spcPts val="0"/>
              </a:spcAft>
              <a:defRPr sz="1630" b="1">
                <a:solidFill>
                  <a:srgbClr val="152742"/>
                </a:solidFill>
              </a:defRPr>
            </a:pPr>
            <a:r>
              <a:rPr sz="1900" b="1" i="0">
                <a:solidFill>
                  <a:srgbClr val="17273A"/>
                </a:solidFill>
                <a:latin typeface="Aptos"/>
              </a:rPr>
              <a:t>From One Image to Faster, Verifiable Disaster Decisions</a:t>
            </a:r>
          </a:p>
        </p:txBody>
      </p:sp>
      <p:sp>
        <p:nvSpPr>
          <p:cNvPr id="17411" name="Rounded Rectangle 17410"/>
          <p:cNvSpPr/>
          <p:nvPr/>
        </p:nvSpPr>
        <p:spPr>
          <a:xfrm>
            <a:off x="4628254" y="1571575"/>
            <a:ext cx="2834640" cy="987552"/>
          </a:xfrm>
          <a:prstGeom prst="roundRect">
            <a:avLst/>
          </a:prstGeom>
          <a:solidFill>
            <a:srgbClr val="152742"/>
          </a:solidFill>
          <a:ln w="12700">
            <a:solidFill>
              <a:srgbClr val="152742"/>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2" name="TextBox 17411"/>
          <p:cNvSpPr txBox="1"/>
          <p:nvPr/>
        </p:nvSpPr>
        <p:spPr>
          <a:xfrm>
            <a:off x="4747126" y="1781887"/>
            <a:ext cx="2596896" cy="25603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1650" b="1">
                <a:solidFill>
                  <a:srgbClr val="FFFFFF"/>
                </a:solidFill>
              </a:defRPr>
            </a:pPr>
            <a:r>
              <a:rPr sz="1160" b="1" i="0" dirty="0">
                <a:solidFill>
                  <a:srgbClr val="FFFFFF"/>
                </a:solidFill>
                <a:latin typeface="Aptos"/>
              </a:rPr>
              <a:t>DEPTHWIZARD</a:t>
            </a:r>
          </a:p>
        </p:txBody>
      </p:sp>
      <p:sp>
        <p:nvSpPr>
          <p:cNvPr id="17413" name="TextBox 17412"/>
          <p:cNvSpPr txBox="1"/>
          <p:nvPr/>
        </p:nvSpPr>
        <p:spPr>
          <a:xfrm>
            <a:off x="4747126" y="2138503"/>
            <a:ext cx="2596896" cy="20116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40" b="0">
                <a:solidFill>
                  <a:srgbClr val="FFFFFF"/>
                </a:solidFill>
              </a:defRPr>
            </a:pPr>
            <a:r>
              <a:rPr sz="1040" b="0" i="0">
                <a:solidFill>
                  <a:srgbClr val="FFFFFF"/>
                </a:solidFill>
                <a:latin typeface="Aptos"/>
              </a:rPr>
              <a:t>Measured 3D from one image</a:t>
            </a:r>
          </a:p>
        </p:txBody>
      </p:sp>
      <p:sp>
        <p:nvSpPr>
          <p:cNvPr id="17414" name="Rounded Rectangle 17413"/>
          <p:cNvSpPr/>
          <p:nvPr/>
        </p:nvSpPr>
        <p:spPr>
          <a:xfrm>
            <a:off x="640080" y="1554480"/>
            <a:ext cx="3364992" cy="1170432"/>
          </a:xfrm>
          <a:prstGeom prst="roundRect">
            <a:avLst/>
          </a:prstGeom>
          <a:solidFill>
            <a:srgbClr val="FFFFFF"/>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5" name="Rounded Rectangle 17414"/>
          <p:cNvSpPr/>
          <p:nvPr/>
        </p:nvSpPr>
        <p:spPr>
          <a:xfrm>
            <a:off x="640080" y="1554480"/>
            <a:ext cx="3364992" cy="283464"/>
          </a:xfrm>
          <a:prstGeom prst="roundRect">
            <a:avLst/>
          </a:prstGeom>
          <a:solidFill>
            <a:srgbClr val="D2742D"/>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6" name="TextBox 17415"/>
          <p:cNvSpPr txBox="1"/>
          <p:nvPr/>
        </p:nvSpPr>
        <p:spPr>
          <a:xfrm>
            <a:off x="731519" y="1581912"/>
            <a:ext cx="3182112"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60" b="1" i="0">
                <a:solidFill>
                  <a:srgbClr val="FFFFFF"/>
                </a:solidFill>
                <a:latin typeface="Aptos"/>
              </a:rPr>
              <a:t>DISASTER MANAGEMENT</a:t>
            </a:r>
          </a:p>
        </p:txBody>
      </p:sp>
      <p:sp>
        <p:nvSpPr>
          <p:cNvPr id="17417" name="TextBox 17416"/>
          <p:cNvSpPr txBox="1"/>
          <p:nvPr/>
        </p:nvSpPr>
        <p:spPr>
          <a:xfrm>
            <a:off x="768096" y="2002536"/>
            <a:ext cx="3108960" cy="502920"/>
          </a:xfrm>
          <a:prstGeom prst="rect">
            <a:avLst/>
          </a:prstGeom>
          <a:noFill/>
        </p:spPr>
        <p:txBody>
          <a:bodyPr wrap="square" lIns="38100" tIns="19050" rIns="38100" bIns="19050" anchor="ctr">
            <a:spAutoFit/>
          </a:bodyPr>
          <a:lstStyle/>
          <a:p>
            <a:pPr>
              <a:spcBef>
                <a:spcPts val="0"/>
              </a:spcBef>
            </a:pPr>
            <a:r>
              <a:rPr sz="1000"/>
              <a:t>Flood-depth simulation · landslide-prone slopes · affected-building counts</a:t>
            </a:r>
          </a:p>
          <a:p>
            <a:pPr>
              <a:spcBef>
                <a:spcPts val="0"/>
              </a:spcBef>
            </a:pPr>
            <a:r>
              <a:rPr sz="1000" i="1" b="0"/>
              <a:t>Tested on the 2024 Porto Alegre flood: overlap with the LiDAR flood map, CSI 0.79</a:t>
            </a:r>
          </a:p>
        </p:txBody>
      </p:sp>
      <p:sp>
        <p:nvSpPr>
          <p:cNvPr id="17418" name="Rounded Rectangle 17417"/>
          <p:cNvSpPr/>
          <p:nvPr/>
        </p:nvSpPr>
        <p:spPr>
          <a:xfrm>
            <a:off x="8183879" y="1554480"/>
            <a:ext cx="3364992" cy="1170432"/>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9" name="Rounded Rectangle 17418"/>
          <p:cNvSpPr/>
          <p:nvPr/>
        </p:nvSpPr>
        <p:spPr>
          <a:xfrm>
            <a:off x="8183879" y="1554480"/>
            <a:ext cx="3364992" cy="283464"/>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0" name="TextBox 17419"/>
          <p:cNvSpPr txBox="1"/>
          <p:nvPr/>
        </p:nvSpPr>
        <p:spPr>
          <a:xfrm>
            <a:off x="8275319" y="1581912"/>
            <a:ext cx="3182112"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60" b="1" i="0">
                <a:solidFill>
                  <a:srgbClr val="FFFFFF"/>
                </a:solidFill>
                <a:latin typeface="Aptos"/>
              </a:rPr>
              <a:t>URBAN PLANNING</a:t>
            </a:r>
          </a:p>
        </p:txBody>
      </p:sp>
      <p:sp>
        <p:nvSpPr>
          <p:cNvPr id="17421" name="TextBox 17420"/>
          <p:cNvSpPr txBox="1"/>
          <p:nvPr/>
        </p:nvSpPr>
        <p:spPr>
          <a:xfrm>
            <a:off x="8311896" y="2002536"/>
            <a:ext cx="3108960" cy="502920"/>
          </a:xfrm>
          <a:prstGeom prst="rect">
            <a:avLst/>
          </a:prstGeom>
          <a:noFill/>
        </p:spPr>
        <p:txBody>
          <a:bodyPr wrap="square" lIns="38100" tIns="19050" rIns="38100" bIns="19050" anchor="ctr">
            <a:spAutoFit/>
          </a:bodyPr>
          <a:lstStyle/>
          <a:p>
            <a:pPr algn="l">
              <a:lnSpc>
                <a:spcPct val="108000"/>
              </a:lnSpc>
              <a:spcBef>
                <a:spcPts val="0"/>
              </a:spcBef>
              <a:spcAft>
                <a:spcPts val="0"/>
              </a:spcAft>
              <a:defRPr sz="990" b="0">
                <a:solidFill>
                  <a:srgbClr val="232B36"/>
                </a:solidFill>
              </a:defRPr>
            </a:pPr>
            <a:r>
              <a:rPr sz="1040" b="0" i="0">
                <a:solidFill>
                  <a:srgbClr val="24313F"/>
                </a:solidFill>
                <a:latin typeface="Aptos"/>
              </a:rPr>
              <a:t>Building heights and volumes · 3D base maps where no LiDAR exists</a:t>
            </a:r>
          </a:p>
        </p:txBody>
      </p:sp>
      <p:sp>
        <p:nvSpPr>
          <p:cNvPr id="17422" name="Rounded Rectangle 17421"/>
          <p:cNvSpPr/>
          <p:nvPr/>
        </p:nvSpPr>
        <p:spPr>
          <a:xfrm>
            <a:off x="640080" y="3273552"/>
            <a:ext cx="3246120" cy="1170432"/>
          </a:xfrm>
          <a:prstGeom prst="roundRect">
            <a:avLst/>
          </a:prstGeom>
          <a:solidFill>
            <a:srgbClr val="FFFFFF"/>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3" name="Rounded Rectangle 17422"/>
          <p:cNvSpPr/>
          <p:nvPr/>
        </p:nvSpPr>
        <p:spPr>
          <a:xfrm>
            <a:off x="640080" y="3273552"/>
            <a:ext cx="3246120" cy="283464"/>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4" name="TextBox 17423"/>
          <p:cNvSpPr txBox="1"/>
          <p:nvPr/>
        </p:nvSpPr>
        <p:spPr>
          <a:xfrm>
            <a:off x="731519" y="3306793"/>
            <a:ext cx="3069700" cy="21698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60" b="1" i="0">
                <a:solidFill>
                  <a:srgbClr val="FFFFFF"/>
                </a:solidFill>
                <a:latin typeface="Aptos"/>
              </a:rPr>
              <a:t>REMOTE SENSING (ISRO)</a:t>
            </a:r>
          </a:p>
        </p:txBody>
      </p:sp>
      <p:sp>
        <p:nvSpPr>
          <p:cNvPr id="17425" name="TextBox 17424"/>
          <p:cNvSpPr txBox="1"/>
          <p:nvPr/>
        </p:nvSpPr>
        <p:spPr>
          <a:xfrm>
            <a:off x="768096" y="3803021"/>
            <a:ext cx="2999133" cy="340093"/>
          </a:xfrm>
          <a:prstGeom prst="rect">
            <a:avLst/>
          </a:prstGeom>
          <a:noFill/>
        </p:spPr>
        <p:txBody>
          <a:bodyPr wrap="square" lIns="38100" tIns="19050" rIns="38100" bIns="19050" anchor="ctr">
            <a:spAutoFit/>
          </a:bodyPr>
          <a:lstStyle/>
          <a:p>
            <a:pPr>
              <a:spcBef>
                <a:spcPts val="0"/>
              </a:spcBef>
            </a:pPr>
            <a:r>
              <a:rPr sz="980" dirty="0"/>
              <a:t>More value from existing optical archives · fresh 3D from every new image, no stereo tasking</a:t>
            </a:r>
          </a:p>
        </p:txBody>
      </p:sp>
      <p:sp>
        <p:nvSpPr>
          <p:cNvPr id="17426" name="Rounded Rectangle 17425"/>
          <p:cNvSpPr/>
          <p:nvPr/>
        </p:nvSpPr>
        <p:spPr>
          <a:xfrm>
            <a:off x="8330183" y="3273552"/>
            <a:ext cx="3218687" cy="1170432"/>
          </a:xfrm>
          <a:prstGeom prst="roundRect">
            <a:avLst/>
          </a:prstGeom>
          <a:solidFill>
            <a:srgbClr val="FFFFFF"/>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7" name="Rounded Rectangle 17426"/>
          <p:cNvSpPr/>
          <p:nvPr/>
        </p:nvSpPr>
        <p:spPr>
          <a:xfrm>
            <a:off x="8330183" y="3273552"/>
            <a:ext cx="3218687" cy="283464"/>
          </a:xfrm>
          <a:prstGeom prst="roundRect">
            <a:avLst/>
          </a:prstGeom>
          <a:solidFill>
            <a:srgbClr val="45885C"/>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8" name="TextBox 17427"/>
          <p:cNvSpPr txBox="1"/>
          <p:nvPr/>
        </p:nvSpPr>
        <p:spPr>
          <a:xfrm>
            <a:off x="8413673" y="3306793"/>
            <a:ext cx="3043758" cy="21698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60" b="1" i="0">
                <a:solidFill>
                  <a:srgbClr val="FFFFFF"/>
                </a:solidFill>
                <a:latin typeface="Aptos"/>
              </a:rPr>
              <a:t>FIELD RESPONSE</a:t>
            </a:r>
          </a:p>
        </p:txBody>
      </p:sp>
      <p:sp>
        <p:nvSpPr>
          <p:cNvPr id="17429" name="TextBox 17428"/>
          <p:cNvSpPr txBox="1"/>
          <p:nvPr/>
        </p:nvSpPr>
        <p:spPr>
          <a:xfrm>
            <a:off x="8447068" y="3870540"/>
            <a:ext cx="2973787" cy="205056"/>
          </a:xfrm>
          <a:prstGeom prst="rect">
            <a:avLst/>
          </a:prstGeom>
          <a:noFill/>
        </p:spPr>
        <p:txBody>
          <a:bodyPr wrap="square" lIns="38100" tIns="19050" rIns="38100" bIns="19050" anchor="ctr">
            <a:spAutoFit/>
          </a:bodyPr>
          <a:lstStyle/>
          <a:p>
            <a:pPr algn="l">
              <a:lnSpc>
                <a:spcPct val="108000"/>
              </a:lnSpc>
              <a:spcBef>
                <a:spcPts val="0"/>
              </a:spcBef>
              <a:spcAft>
                <a:spcPts val="0"/>
              </a:spcAft>
              <a:defRPr sz="990" b="0">
                <a:solidFill>
                  <a:srgbClr val="232B36"/>
                </a:solidFill>
              </a:defRPr>
            </a:pPr>
            <a:r>
              <a:rPr sz="1040" b="0" i="0">
                <a:solidFill>
                  <a:srgbClr val="24313F"/>
                </a:solidFill>
                <a:latin typeface="Aptos"/>
              </a:rPr>
              <a:t>Fly-through + street view for team briefings · line-of-sight / viewshed for relief staging</a:t>
            </a:r>
          </a:p>
        </p:txBody>
      </p:sp>
      <p:sp>
        <p:nvSpPr>
          <p:cNvPr id="17430" name="Right Arrow 17429"/>
          <p:cNvSpPr/>
          <p:nvPr/>
        </p:nvSpPr>
        <p:spPr>
          <a:xfrm>
            <a:off x="4119172" y="1901952"/>
            <a:ext cx="384048" cy="256032"/>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1" name="Right Arrow 17430"/>
          <p:cNvSpPr/>
          <p:nvPr/>
        </p:nvSpPr>
        <p:spPr>
          <a:xfrm>
            <a:off x="7622516" y="1892967"/>
            <a:ext cx="384048" cy="256032"/>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2" name="Right Arrow 17431"/>
          <p:cNvSpPr/>
          <p:nvPr/>
        </p:nvSpPr>
        <p:spPr>
          <a:xfrm>
            <a:off x="4087368" y="3621024"/>
            <a:ext cx="384048" cy="256032"/>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3" name="Right Arrow 17432"/>
          <p:cNvSpPr/>
          <p:nvPr/>
        </p:nvSpPr>
        <p:spPr>
          <a:xfrm>
            <a:off x="7543800" y="3621024"/>
            <a:ext cx="384048" cy="256032"/>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4" name="Rounded Rectangle 17433"/>
          <p:cNvSpPr/>
          <p:nvPr/>
        </p:nvSpPr>
        <p:spPr>
          <a:xfrm>
            <a:off x="640080" y="4846320"/>
            <a:ext cx="3520440" cy="804672"/>
          </a:xfrm>
          <a:prstGeom prst="roundRect">
            <a:avLst/>
          </a:prstGeom>
          <a:solidFill>
            <a:srgbClr val="F4F7FB"/>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5" name="TextBox 17434"/>
          <p:cNvSpPr txBox="1"/>
          <p:nvPr/>
        </p:nvSpPr>
        <p:spPr>
          <a:xfrm>
            <a:off x="731519" y="4956048"/>
            <a:ext cx="3337560" cy="192024"/>
          </a:xfrm>
          <a:prstGeom prst="rect">
            <a:avLst/>
          </a:prstGeom>
          <a:noFill/>
        </p:spPr>
        <p:txBody>
          <a:bodyPr wrap="square" lIns="38100" tIns="19050" rIns="38100" bIns="19050" anchor="ctr">
            <a:spAutoFit/>
          </a:bodyPr>
          <a:lstStyle/>
          <a:p>
            <a:pPr algn="l">
              <a:lnSpc>
                <a:spcPct val="100000"/>
              </a:lnSpc>
              <a:spcBef>
                <a:spcPts val="0"/>
              </a:spcBef>
              <a:spcAft>
                <a:spcPts val="0"/>
              </a:spcAft>
              <a:defRPr sz="1050" b="1">
                <a:solidFill>
                  <a:srgbClr val="D2742D"/>
                </a:solidFill>
              </a:defRPr>
            </a:pPr>
            <a:r>
              <a:rPr sz="1040" b="1" i="0">
                <a:solidFill>
                  <a:srgbClr val="17273A"/>
                </a:solidFill>
                <a:latin typeface="Aptos"/>
              </a:rPr>
              <a:t>ECONOMIC</a:t>
            </a:r>
          </a:p>
        </p:txBody>
      </p:sp>
      <p:sp>
        <p:nvSpPr>
          <p:cNvPr id="17436" name="TextBox 17435"/>
          <p:cNvSpPr txBox="1"/>
          <p:nvPr/>
        </p:nvSpPr>
        <p:spPr>
          <a:xfrm>
            <a:off x="777240" y="5212080"/>
            <a:ext cx="3246120" cy="283464"/>
          </a:xfrm>
          <a:prstGeom prst="rect">
            <a:avLst/>
          </a:prstGeom>
          <a:noFill/>
        </p:spPr>
        <p:txBody>
          <a:bodyPr wrap="square" lIns="38100" tIns="19050" rIns="38100" bIns="19050" anchor="ctr">
            <a:spAutoFit/>
          </a:bodyPr>
          <a:lstStyle/>
          <a:p>
            <a:pPr algn="l">
              <a:lnSpc>
                <a:spcPct val="105000"/>
              </a:lnSpc>
              <a:spcBef>
                <a:spcPts val="0"/>
              </a:spcBef>
              <a:spcAft>
                <a:spcPts val="0"/>
              </a:spcAft>
              <a:defRPr sz="900" b="0">
                <a:solidFill>
                  <a:srgbClr val="232B36"/>
                </a:solidFill>
              </a:defRPr>
            </a:pPr>
            <a:r>
              <a:rPr sz="1050" b="0" i="0">
                <a:solidFill>
                  <a:srgbClr val="24313F"/>
                </a:solidFill>
                <a:latin typeface="Aptos"/>
              </a:rPr>
              <a:t>Reuse existing images instead of new LiDAR/stereo surveys for every event</a:t>
            </a:r>
          </a:p>
        </p:txBody>
      </p:sp>
      <p:sp>
        <p:nvSpPr>
          <p:cNvPr id="17437" name="Rounded Rectangle 17436"/>
          <p:cNvSpPr/>
          <p:nvPr/>
        </p:nvSpPr>
        <p:spPr>
          <a:xfrm>
            <a:off x="4343400" y="4846320"/>
            <a:ext cx="3520440" cy="804672"/>
          </a:xfrm>
          <a:prstGeom prst="roundRect">
            <a:avLst/>
          </a:prstGeom>
          <a:solidFill>
            <a:srgbClr val="F4F7FB"/>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8" name="TextBox 17437"/>
          <p:cNvSpPr txBox="1"/>
          <p:nvPr/>
        </p:nvSpPr>
        <p:spPr>
          <a:xfrm>
            <a:off x="4434840" y="4956048"/>
            <a:ext cx="3337560" cy="192024"/>
          </a:xfrm>
          <a:prstGeom prst="rect">
            <a:avLst/>
          </a:prstGeom>
          <a:noFill/>
        </p:spPr>
        <p:txBody>
          <a:bodyPr wrap="square" lIns="38100" tIns="19050" rIns="38100" bIns="19050" anchor="ctr">
            <a:spAutoFit/>
          </a:bodyPr>
          <a:lstStyle/>
          <a:p>
            <a:pPr algn="l">
              <a:lnSpc>
                <a:spcPct val="100000"/>
              </a:lnSpc>
              <a:spcBef>
                <a:spcPts val="0"/>
              </a:spcBef>
              <a:spcAft>
                <a:spcPts val="0"/>
              </a:spcAft>
              <a:defRPr sz="1050" b="1">
                <a:solidFill>
                  <a:srgbClr val="228989"/>
                </a:solidFill>
              </a:defRPr>
            </a:pPr>
            <a:r>
              <a:rPr sz="1040" b="1" i="0">
                <a:solidFill>
                  <a:srgbClr val="17273A"/>
                </a:solidFill>
                <a:latin typeface="Aptos"/>
              </a:rPr>
              <a:t>SOCIAL</a:t>
            </a:r>
          </a:p>
        </p:txBody>
      </p:sp>
      <p:sp>
        <p:nvSpPr>
          <p:cNvPr id="17439" name="TextBox 17438"/>
          <p:cNvSpPr txBox="1"/>
          <p:nvPr/>
        </p:nvSpPr>
        <p:spPr>
          <a:xfrm>
            <a:off x="4480560" y="5212080"/>
            <a:ext cx="3246120" cy="283464"/>
          </a:xfrm>
          <a:prstGeom prst="rect">
            <a:avLst/>
          </a:prstGeom>
          <a:noFill/>
        </p:spPr>
        <p:txBody>
          <a:bodyPr wrap="square" lIns="38100" tIns="19050" rIns="38100" bIns="19050" anchor="ctr">
            <a:spAutoFit/>
          </a:bodyPr>
          <a:lstStyle/>
          <a:p>
            <a:pPr algn="l">
              <a:lnSpc>
                <a:spcPct val="105000"/>
              </a:lnSpc>
              <a:spcBef>
                <a:spcPts val="0"/>
              </a:spcBef>
              <a:spcAft>
                <a:spcPts val="0"/>
              </a:spcAft>
              <a:defRPr sz="900" b="0">
                <a:solidFill>
                  <a:srgbClr val="232B36"/>
                </a:solidFill>
              </a:defRPr>
            </a:pPr>
            <a:r>
              <a:rPr sz="1050" b="0" i="0">
                <a:solidFill>
                  <a:srgbClr val="24313F"/>
                </a:solidFill>
                <a:latin typeface="Aptos"/>
              </a:rPr>
              <a:t>Faster 3D damage picture; works offline in the field</a:t>
            </a:r>
          </a:p>
        </p:txBody>
      </p:sp>
      <p:sp>
        <p:nvSpPr>
          <p:cNvPr id="17440" name="Rounded Rectangle 17439"/>
          <p:cNvSpPr/>
          <p:nvPr/>
        </p:nvSpPr>
        <p:spPr>
          <a:xfrm>
            <a:off x="8046719" y="4846320"/>
            <a:ext cx="3520440" cy="804672"/>
          </a:xfrm>
          <a:prstGeom prst="roundRect">
            <a:avLst/>
          </a:prstGeom>
          <a:solidFill>
            <a:srgbClr val="F4F7FB"/>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1" name="TextBox 17440"/>
          <p:cNvSpPr txBox="1"/>
          <p:nvPr/>
        </p:nvSpPr>
        <p:spPr>
          <a:xfrm>
            <a:off x="8138159" y="4956048"/>
            <a:ext cx="3337560" cy="192024"/>
          </a:xfrm>
          <a:prstGeom prst="rect">
            <a:avLst/>
          </a:prstGeom>
          <a:noFill/>
        </p:spPr>
        <p:txBody>
          <a:bodyPr wrap="square" lIns="38100" tIns="19050" rIns="38100" bIns="19050" anchor="ctr">
            <a:spAutoFit/>
          </a:bodyPr>
          <a:lstStyle/>
          <a:p>
            <a:pPr algn="l">
              <a:lnSpc>
                <a:spcPct val="100000"/>
              </a:lnSpc>
              <a:spcBef>
                <a:spcPts val="0"/>
              </a:spcBef>
              <a:spcAft>
                <a:spcPts val="0"/>
              </a:spcAft>
              <a:defRPr sz="1050" b="1">
                <a:solidFill>
                  <a:srgbClr val="45885C"/>
                </a:solidFill>
              </a:defRPr>
            </a:pPr>
            <a:r>
              <a:rPr sz="1040" b="1" i="0">
                <a:solidFill>
                  <a:srgbClr val="17273A"/>
                </a:solidFill>
                <a:latin typeface="Aptos"/>
              </a:rPr>
              <a:t>ENVIRONMENTAL</a:t>
            </a:r>
          </a:p>
        </p:txBody>
      </p:sp>
      <p:sp>
        <p:nvSpPr>
          <p:cNvPr id="17442" name="TextBox 17441"/>
          <p:cNvSpPr txBox="1"/>
          <p:nvPr/>
        </p:nvSpPr>
        <p:spPr>
          <a:xfrm>
            <a:off x="8183879" y="5212080"/>
            <a:ext cx="3246120" cy="283464"/>
          </a:xfrm>
          <a:prstGeom prst="rect">
            <a:avLst/>
          </a:prstGeom>
          <a:noFill/>
        </p:spPr>
        <p:txBody>
          <a:bodyPr wrap="square" lIns="38100" tIns="19050" rIns="38100" bIns="19050" anchor="ctr">
            <a:spAutoFit/>
          </a:bodyPr>
          <a:lstStyle/>
          <a:p>
            <a:pPr algn="l">
              <a:lnSpc>
                <a:spcPct val="105000"/>
              </a:lnSpc>
              <a:spcBef>
                <a:spcPts val="0"/>
              </a:spcBef>
              <a:spcAft>
                <a:spcPts val="0"/>
              </a:spcAft>
              <a:defRPr sz="900" b="0">
                <a:solidFill>
                  <a:srgbClr val="232B36"/>
                </a:solidFill>
              </a:defRPr>
            </a:pPr>
            <a:r>
              <a:rPr sz="1050" b="0" i="0">
                <a:solidFill>
                  <a:srgbClr val="24313F"/>
                </a:solidFill>
                <a:latin typeface="Aptos"/>
              </a:rPr>
              <a:t>Terrain, slope and canopy context for flood, landslide and forest monitoring</a:t>
            </a:r>
          </a:p>
        </p:txBody>
      </p:sp>
      <p:sp>
        <p:nvSpPr>
          <p:cNvPr id="17443" name="TextBox 17442"/>
          <p:cNvSpPr txBox="1"/>
          <p:nvPr/>
        </p:nvSpPr>
        <p:spPr>
          <a:xfrm>
            <a:off x="3611880" y="5907024"/>
            <a:ext cx="4983480" cy="219456"/>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00" b="1">
                <a:solidFill>
                  <a:srgbClr val="152742"/>
                </a:solidFill>
              </a:defRPr>
            </a:pPr>
            <a:r>
              <a:rPr sz="1040" b="1" i="0">
                <a:solidFill>
                  <a:srgbClr val="FFFFFF"/>
                </a:solidFill>
                <a:latin typeface="Aptos"/>
              </a:rPr>
              <a:t>ONE SATELLITE IMAGE → VERIFIED 3D → FASTER DECISIONS</a:t>
            </a:r>
          </a:p>
        </p:txBody>
      </p:sp>
      <p:pic>
        <p:nvPicPr>
          <p:cNvPr id="17445" name="Picture 17444"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7446" name="TextBox 17445"/>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7447" name="Picture 17446" descr="image2.png"/>
          <p:cNvPicPr>
            <a:picLocks noChangeAspect="1"/>
          </p:cNvPicPr>
          <p:nvPr/>
        </p:nvPicPr>
        <p:blipFill>
          <a:blip r:embed="rId4"/>
          <a:stretch>
            <a:fillRect/>
          </a:stretch>
        </p:blipFill>
        <p:spPr>
          <a:xfrm>
            <a:off x="9841366" y="57097"/>
            <a:ext cx="2209120" cy="1122868"/>
          </a:xfrm>
          <a:prstGeom prst="rect">
            <a:avLst/>
          </a:prstGeom>
        </p:spPr>
      </p:pic>
      <p:sp>
        <p:nvSpPr>
          <p:cNvPr id="17448" name="TextBox 17447"/>
          <p:cNvSpPr txBox="1"/>
          <p:nvPr/>
        </p:nvSpPr>
        <p:spPr>
          <a:xfrm>
            <a:off x="4061459" y="2568271"/>
            <a:ext cx="4069080" cy="219456"/>
          </a:xfrm>
          <a:prstGeom prst="rect">
            <a:avLst/>
          </a:prstGeom>
          <a:noFill/>
        </p:spPr>
        <p:txBody>
          <a:bodyPr wrap="square" lIns="45720" rIns="45720" anchor="ctr">
            <a:spAutoFit/>
          </a:bodyPr>
          <a:lstStyle/>
          <a:p>
            <a:pPr algn="ctr"/>
            <a:r>
              <a:rPr sz="850" b="1" dirty="0">
                <a:solidFill>
                  <a:srgbClr val="5C6874"/>
                </a:solidFill>
                <a:latin typeface="Aptos"/>
              </a:rPr>
              <a:t>FROM TERRAIN DATA TO ACTIONABLE INTELLIGENCE</a:t>
            </a:r>
          </a:p>
        </p:txBody>
      </p:sp>
      <p:sp>
        <p:nvSpPr>
          <p:cNvPr id="17449" name="Rounded Rectangle 17448"/>
          <p:cNvSpPr/>
          <p:nvPr/>
        </p:nvSpPr>
        <p:spPr>
          <a:xfrm>
            <a:off x="4069080" y="3127248"/>
            <a:ext cx="1170432" cy="841248"/>
          </a:xfrm>
          <a:prstGeom prst="roundRect">
            <a:avLst/>
          </a:prstGeom>
          <a:solidFill>
            <a:srgbClr val="E8F2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50" name="TextBox 17449"/>
          <p:cNvSpPr txBox="1"/>
          <p:nvPr/>
        </p:nvSpPr>
        <p:spPr>
          <a:xfrm>
            <a:off x="4114800" y="3182112"/>
            <a:ext cx="1078992" cy="182880"/>
          </a:xfrm>
          <a:prstGeom prst="rect">
            <a:avLst/>
          </a:prstGeom>
          <a:noFill/>
        </p:spPr>
        <p:txBody>
          <a:bodyPr wrap="square" lIns="45720" rIns="45720" anchor="ctr">
            <a:spAutoFit/>
          </a:bodyPr>
          <a:lstStyle/>
          <a:p>
            <a:pPr algn="ctr"/>
            <a:r>
              <a:rPr sz="850" b="1">
                <a:solidFill>
                  <a:srgbClr val="0E63DC"/>
                </a:solidFill>
                <a:latin typeface="Aptos"/>
              </a:rPr>
              <a:t>1</a:t>
            </a:r>
          </a:p>
        </p:txBody>
      </p:sp>
      <p:sp>
        <p:nvSpPr>
          <p:cNvPr id="17451" name="TextBox 17450"/>
          <p:cNvSpPr txBox="1"/>
          <p:nvPr/>
        </p:nvSpPr>
        <p:spPr>
          <a:xfrm>
            <a:off x="4114800" y="3374136"/>
            <a:ext cx="1078992" cy="210312"/>
          </a:xfrm>
          <a:prstGeom prst="rect">
            <a:avLst/>
          </a:prstGeom>
          <a:noFill/>
        </p:spPr>
        <p:txBody>
          <a:bodyPr wrap="square" lIns="45720" rIns="45720" anchor="ctr">
            <a:spAutoFit/>
          </a:bodyPr>
          <a:lstStyle/>
          <a:p>
            <a:pPr algn="ctr"/>
            <a:r>
              <a:rPr sz="950" b="1">
                <a:solidFill>
                  <a:srgbClr val="17273A"/>
                </a:solidFill>
                <a:latin typeface="Aptos"/>
              </a:rPr>
              <a:t>HEIGHT MAP</a:t>
            </a:r>
          </a:p>
        </p:txBody>
      </p:sp>
      <p:sp>
        <p:nvSpPr>
          <p:cNvPr id="17452" name="TextBox 17451"/>
          <p:cNvSpPr txBox="1"/>
          <p:nvPr/>
        </p:nvSpPr>
        <p:spPr>
          <a:xfrm>
            <a:off x="4114800" y="3602736"/>
            <a:ext cx="1078992" cy="237744"/>
          </a:xfrm>
          <a:prstGeom prst="rect">
            <a:avLst/>
          </a:prstGeom>
          <a:noFill/>
        </p:spPr>
        <p:txBody>
          <a:bodyPr wrap="square" lIns="45720" rIns="45720" anchor="ctr">
            <a:spAutoFit/>
          </a:bodyPr>
          <a:lstStyle/>
          <a:p>
            <a:pPr algn="ctr"/>
            <a:r>
              <a:rPr sz="770" b="0">
                <a:solidFill>
                  <a:srgbClr val="5C6874"/>
                </a:solidFill>
                <a:latin typeface="Aptos"/>
              </a:rPr>
              <a:t>per pixel</a:t>
            </a:r>
          </a:p>
        </p:txBody>
      </p:sp>
      <p:sp>
        <p:nvSpPr>
          <p:cNvPr id="17453" name="Rounded Rectangle 17452"/>
          <p:cNvSpPr/>
          <p:nvPr/>
        </p:nvSpPr>
        <p:spPr>
          <a:xfrm>
            <a:off x="5440680" y="3127248"/>
            <a:ext cx="1417320" cy="841248"/>
          </a:xfrm>
          <a:prstGeom prst="roundRect">
            <a:avLst/>
          </a:prstGeom>
          <a:solidFill>
            <a:srgbClr val="E8F9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54" name="TextBox 17453"/>
          <p:cNvSpPr txBox="1"/>
          <p:nvPr/>
        </p:nvSpPr>
        <p:spPr>
          <a:xfrm>
            <a:off x="5486400" y="3182112"/>
            <a:ext cx="1325880" cy="182880"/>
          </a:xfrm>
          <a:prstGeom prst="rect">
            <a:avLst/>
          </a:prstGeom>
          <a:noFill/>
        </p:spPr>
        <p:txBody>
          <a:bodyPr wrap="square" lIns="45720" rIns="45720" anchor="ctr">
            <a:spAutoFit/>
          </a:bodyPr>
          <a:lstStyle/>
          <a:p>
            <a:pPr algn="ctr"/>
            <a:r>
              <a:rPr sz="850" b="1">
                <a:solidFill>
                  <a:srgbClr val="0E63DC"/>
                </a:solidFill>
                <a:latin typeface="Aptos"/>
              </a:rPr>
              <a:t>2</a:t>
            </a:r>
          </a:p>
        </p:txBody>
      </p:sp>
      <p:sp>
        <p:nvSpPr>
          <p:cNvPr id="17455" name="TextBox 17454"/>
          <p:cNvSpPr txBox="1"/>
          <p:nvPr/>
        </p:nvSpPr>
        <p:spPr>
          <a:xfrm>
            <a:off x="5486400" y="3374136"/>
            <a:ext cx="1325880" cy="210312"/>
          </a:xfrm>
          <a:prstGeom prst="rect">
            <a:avLst/>
          </a:prstGeom>
          <a:noFill/>
        </p:spPr>
        <p:txBody>
          <a:bodyPr wrap="square" lIns="45720" rIns="45720" anchor="ctr">
            <a:spAutoFit/>
          </a:bodyPr>
          <a:lstStyle/>
          <a:p>
            <a:pPr algn="ctr"/>
            <a:r>
              <a:rPr sz="950" b="1">
                <a:solidFill>
                  <a:srgbClr val="17273A"/>
                </a:solidFill>
                <a:latin typeface="Aptos"/>
              </a:rPr>
              <a:t>VERIFIED 3D</a:t>
            </a:r>
          </a:p>
        </p:txBody>
      </p:sp>
      <p:sp>
        <p:nvSpPr>
          <p:cNvPr id="17456" name="TextBox 17455"/>
          <p:cNvSpPr txBox="1"/>
          <p:nvPr/>
        </p:nvSpPr>
        <p:spPr>
          <a:xfrm>
            <a:off x="5486400" y="3602736"/>
            <a:ext cx="1325880" cy="237744"/>
          </a:xfrm>
          <a:prstGeom prst="rect">
            <a:avLst/>
          </a:prstGeom>
          <a:noFill/>
        </p:spPr>
        <p:txBody>
          <a:bodyPr wrap="square" lIns="45720" rIns="45720" anchor="ctr">
            <a:spAutoFit/>
          </a:bodyPr>
          <a:lstStyle/>
          <a:p>
            <a:pPr algn="ctr"/>
            <a:r>
              <a:rPr sz="770" b="0">
                <a:solidFill>
                  <a:srgbClr val="5C6874"/>
                </a:solidFill>
                <a:latin typeface="Aptos"/>
              </a:rPr>
              <a:t>metres + ICESat-2</a:t>
            </a:r>
          </a:p>
        </p:txBody>
      </p:sp>
      <p:sp>
        <p:nvSpPr>
          <p:cNvPr id="17457" name="Rounded Rectangle 17456"/>
          <p:cNvSpPr/>
          <p:nvPr/>
        </p:nvSpPr>
        <p:spPr>
          <a:xfrm>
            <a:off x="7059168" y="3127248"/>
            <a:ext cx="1115568" cy="841248"/>
          </a:xfrm>
          <a:prstGeom prst="roundRect">
            <a:avLst/>
          </a:prstGeom>
          <a:solidFill>
            <a:srgbClr val="F1E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58" name="TextBox 17457"/>
          <p:cNvSpPr txBox="1"/>
          <p:nvPr/>
        </p:nvSpPr>
        <p:spPr>
          <a:xfrm>
            <a:off x="7104888" y="3182112"/>
            <a:ext cx="1024127" cy="182880"/>
          </a:xfrm>
          <a:prstGeom prst="rect">
            <a:avLst/>
          </a:prstGeom>
          <a:noFill/>
        </p:spPr>
        <p:txBody>
          <a:bodyPr wrap="square" lIns="45720" rIns="45720" anchor="ctr">
            <a:spAutoFit/>
          </a:bodyPr>
          <a:lstStyle/>
          <a:p>
            <a:pPr algn="ctr"/>
            <a:r>
              <a:rPr sz="850" b="1">
                <a:solidFill>
                  <a:srgbClr val="0E63DC"/>
                </a:solidFill>
                <a:latin typeface="Aptos"/>
              </a:rPr>
              <a:t>3</a:t>
            </a:r>
          </a:p>
        </p:txBody>
      </p:sp>
      <p:sp>
        <p:nvSpPr>
          <p:cNvPr id="17459" name="TextBox 17458"/>
          <p:cNvSpPr txBox="1"/>
          <p:nvPr/>
        </p:nvSpPr>
        <p:spPr>
          <a:xfrm>
            <a:off x="7104888" y="3374136"/>
            <a:ext cx="1024127" cy="210312"/>
          </a:xfrm>
          <a:prstGeom prst="rect">
            <a:avLst/>
          </a:prstGeom>
          <a:noFill/>
        </p:spPr>
        <p:txBody>
          <a:bodyPr wrap="square" lIns="45720" rIns="45720" anchor="ctr">
            <a:spAutoFit/>
          </a:bodyPr>
          <a:lstStyle/>
          <a:p>
            <a:pPr algn="ctr"/>
            <a:r>
              <a:rPr sz="950" b="1">
                <a:solidFill>
                  <a:srgbClr val="17273A"/>
                </a:solidFill>
                <a:latin typeface="Aptos"/>
              </a:rPr>
              <a:t>DECISION</a:t>
            </a:r>
          </a:p>
        </p:txBody>
      </p:sp>
      <p:sp>
        <p:nvSpPr>
          <p:cNvPr id="17460" name="TextBox 17459"/>
          <p:cNvSpPr txBox="1"/>
          <p:nvPr/>
        </p:nvSpPr>
        <p:spPr>
          <a:xfrm>
            <a:off x="7104888" y="3602736"/>
            <a:ext cx="1024127" cy="237744"/>
          </a:xfrm>
          <a:prstGeom prst="rect">
            <a:avLst/>
          </a:prstGeom>
          <a:noFill/>
        </p:spPr>
        <p:txBody>
          <a:bodyPr wrap="square" lIns="45720" rIns="45720" anchor="ctr">
            <a:spAutoFit/>
          </a:bodyPr>
          <a:lstStyle/>
          <a:p>
            <a:pPr algn="ctr"/>
            <a:r>
              <a:rPr sz="770" b="0">
                <a:solidFill>
                  <a:srgbClr val="5C6874"/>
                </a:solidFill>
                <a:latin typeface="Aptos"/>
              </a:rPr>
              <a:t>flood / slope</a:t>
            </a:r>
          </a:p>
        </p:txBody>
      </p:sp>
      <p:cxnSp>
        <p:nvCxnSpPr>
          <p:cNvPr id="17461" name="Connector 17460"/>
          <p:cNvCxnSpPr/>
          <p:nvPr/>
        </p:nvCxnSpPr>
        <p:spPr>
          <a:xfrm>
            <a:off x="5257800" y="3547872"/>
            <a:ext cx="155448" cy="0"/>
          </a:xfrm>
          <a:prstGeom prst="line">
            <a:avLst/>
          </a:prstGeom>
          <a:ln w="19050">
            <a:solidFill>
              <a:srgbClr val="0E63DC"/>
            </a:solidFill>
          </a:ln>
        </p:spPr>
        <p:style>
          <a:lnRef idx="2">
            <a:schemeClr val="accent1"/>
          </a:lnRef>
          <a:fillRef idx="0">
            <a:schemeClr val="accent1"/>
          </a:fillRef>
          <a:effectRef idx="1">
            <a:schemeClr val="accent1"/>
          </a:effectRef>
          <a:fontRef idx="minor">
            <a:schemeClr val="tx1"/>
          </a:fontRef>
        </p:style>
      </p:cxnSp>
      <p:cxnSp>
        <p:nvCxnSpPr>
          <p:cNvPr id="17462" name="Connector 17461"/>
          <p:cNvCxnSpPr/>
          <p:nvPr/>
        </p:nvCxnSpPr>
        <p:spPr>
          <a:xfrm>
            <a:off x="6894576" y="3547872"/>
            <a:ext cx="146304" cy="0"/>
          </a:xfrm>
          <a:prstGeom prst="line">
            <a:avLst/>
          </a:prstGeom>
          <a:ln w="19050">
            <a:solidFill>
              <a:srgbClr val="009688"/>
            </a:solidFill>
          </a:ln>
        </p:spPr>
        <p:style>
          <a:lnRef idx="2">
            <a:schemeClr val="accent1"/>
          </a:lnRef>
          <a:fillRef idx="0">
            <a:schemeClr val="accent1"/>
          </a:fillRef>
          <a:effectRef idx="1">
            <a:schemeClr val="accent1"/>
          </a:effectRef>
          <a:fontRef idx="minor">
            <a:schemeClr val="tx1"/>
          </a:fontRef>
        </p:style>
      </p:cxnSp>
      <p:sp>
        <p:nvSpPr>
          <p:cNvPr id="17463" name="Rounded Rectangle 17462"/>
          <p:cNvSpPr/>
          <p:nvPr/>
        </p:nvSpPr>
        <p:spPr>
          <a:xfrm>
            <a:off x="4160520" y="4096512"/>
            <a:ext cx="3822191" cy="393192"/>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64" name="TextBox 17463"/>
          <p:cNvSpPr txBox="1"/>
          <p:nvPr/>
        </p:nvSpPr>
        <p:spPr>
          <a:xfrm>
            <a:off x="4251960" y="4160853"/>
            <a:ext cx="3639312" cy="246221"/>
          </a:xfrm>
          <a:prstGeom prst="rect">
            <a:avLst/>
          </a:prstGeom>
          <a:noFill/>
        </p:spPr>
        <p:txBody>
          <a:bodyPr wrap="square" lIns="45720" rIns="45720" anchor="ctr">
            <a:spAutoFit/>
          </a:bodyPr>
          <a:lstStyle/>
          <a:p>
            <a:pPr algn="ctr"/>
            <a:r>
              <a:rPr sz="1000" b="1" dirty="0">
                <a:solidFill>
                  <a:srgbClr val="17273A"/>
                </a:solidFill>
                <a:latin typeface="Aptos"/>
              </a:rPr>
              <a:t>One optical image → measured, checked terrain context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7" name="Rounded Rectangle 17416"/>
          <p:cNvSpPr/>
          <p:nvPr/>
        </p:nvSpPr>
        <p:spPr>
          <a:xfrm>
            <a:off x="6099048" y="1625727"/>
            <a:ext cx="5449824" cy="1691640"/>
          </a:xfrm>
          <a:prstGeom prst="roundRect">
            <a:avLst>
              <a:gd name="adj" fmla="val 5734"/>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3" name="Rounded Rectangle 17412"/>
          <p:cNvSpPr/>
          <p:nvPr/>
        </p:nvSpPr>
        <p:spPr>
          <a:xfrm>
            <a:off x="594360" y="1581912"/>
            <a:ext cx="5303520" cy="1737360"/>
          </a:xfrm>
          <a:prstGeom prst="roundRect">
            <a:avLst>
              <a:gd name="adj" fmla="val 5988"/>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lIns="38100" tIns="19050" rIns="38100" bIns="19050" anchor="ctr"/>
          <a:lstStyle/>
          <a:p>
            <a:pPr algn="ctr" eaLnBrk="1" hangingPunct="1">
              <a:lnSpc>
                <a:spcPct val="100000"/>
              </a:lnSpc>
              <a:spcBef>
                <a:spcPts val="0"/>
              </a:spcBef>
              <a:spcAft>
                <a:spcPts val="0"/>
              </a:spcAft>
            </a:pP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lIns="38100" tIns="19050" rIns="38100" bIns="19050"/>
          <a:lstStyle/>
          <a:p>
            <a:pPr marL="0" marR="0" lvl="0" indent="0" algn="r" defTabSz="457200" rtl="0" eaLnBrk="1" fontAlgn="base" latinLnBrk="0" hangingPunct="1">
              <a:lnSpc>
                <a:spcPct val="100000"/>
              </a:lnSpc>
              <a:spcBef>
                <a:spcPts val="0"/>
              </a:spcBef>
              <a:spcAft>
                <a:spcPts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TextBox 17409"/>
          <p:cNvSpPr txBox="1"/>
          <p:nvPr/>
        </p:nvSpPr>
        <p:spPr>
          <a:xfrm>
            <a:off x="594360" y="1078992"/>
            <a:ext cx="10972800" cy="329184"/>
          </a:xfrm>
          <a:prstGeom prst="rect">
            <a:avLst/>
          </a:prstGeom>
          <a:noFill/>
        </p:spPr>
        <p:txBody>
          <a:bodyPr wrap="square" lIns="38100" tIns="19050" rIns="38100" bIns="19050" anchor="ctr">
            <a:spAutoFit/>
          </a:bodyPr>
          <a:lstStyle/>
          <a:p>
            <a:pPr algn="l">
              <a:lnSpc>
                <a:spcPct val="100000"/>
              </a:lnSpc>
              <a:spcBef>
                <a:spcPts val="0"/>
              </a:spcBef>
              <a:spcAft>
                <a:spcPts val="0"/>
              </a:spcAft>
              <a:defRPr sz="1630" b="1">
                <a:solidFill>
                  <a:srgbClr val="152742"/>
                </a:solidFill>
              </a:defRPr>
            </a:pPr>
            <a:r>
              <a:rPr sz="1900" b="1" i="0">
                <a:solidFill>
                  <a:srgbClr val="17273A"/>
                </a:solidFill>
                <a:latin typeface="Aptos"/>
              </a:rPr>
              <a:t>Research Foundation: 2024–2026 Models, Open Data, Independent Validation</a:t>
            </a:r>
          </a:p>
        </p:txBody>
      </p:sp>
      <p:sp>
        <p:nvSpPr>
          <p:cNvPr id="17411" name="Rounded Rectangle 17410"/>
          <p:cNvSpPr/>
          <p:nvPr/>
        </p:nvSpPr>
        <p:spPr>
          <a:xfrm>
            <a:off x="594360" y="1554480"/>
            <a:ext cx="5303520"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2" name="TextBox 17411"/>
          <p:cNvSpPr txBox="1"/>
          <p:nvPr/>
        </p:nvSpPr>
        <p:spPr>
          <a:xfrm>
            <a:off x="685800" y="1581912"/>
            <a:ext cx="5120640"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20" b="1" i="0">
                <a:solidFill>
                  <a:srgbClr val="FFFFFF"/>
                </a:solidFill>
                <a:latin typeface="Aptos"/>
              </a:rPr>
              <a:t>MODELS &amp; METHODS</a:t>
            </a:r>
          </a:p>
        </p:txBody>
      </p:sp>
      <p:sp>
        <p:nvSpPr>
          <p:cNvPr id="17414" name="TextBox 17413"/>
          <p:cNvSpPr txBox="1"/>
          <p:nvPr/>
        </p:nvSpPr>
        <p:spPr>
          <a:xfrm>
            <a:off x="795528" y="1871731"/>
            <a:ext cx="4882896" cy="1417320"/>
          </a:xfrm>
          <a:prstGeom prst="rect">
            <a:avLst/>
          </a:prstGeom>
          <a:noFill/>
        </p:spPr>
        <p:txBody>
          <a:bodyPr wrap="square" lIns="38100" tIns="19050" rIns="38100" bIns="19050" anchor="ctr">
            <a:spAutoFit/>
          </a:bodyPr>
          <a:lstStyle/>
          <a:p>
            <a:pPr algn="l">
              <a:lnSpc>
                <a:spcPct val="106000"/>
              </a:lnSpc>
              <a:spcBef>
                <a:spcPts val="0"/>
              </a:spcBef>
              <a:spcAft>
                <a:spcPts val="150"/>
              </a:spcAft>
              <a:defRPr sz="1010">
                <a:solidFill>
                  <a:srgbClr val="232B36"/>
                </a:solidFill>
              </a:defRPr>
            </a:pPr>
            <a:r>
              <a:rPr sz="1120" b="0" i="0" dirty="0">
                <a:solidFill>
                  <a:srgbClr val="24313F"/>
                </a:solidFill>
                <a:latin typeface="Aptos"/>
              </a:rPr>
              <a:t>• RS3DAda / SynRS3D: Song et al., NeurIPS 2024 (primary model)</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DINOv3 (Meta, 2025) + CHMv2 (Scientific Data, 2026): satellite backbone</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Prompt2DEM: Rafaeli et al., 2025, SRTM-prior metric heights (30 m → 30 cm)</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ICESat-2-guided correction: Song, Chen &amp; Yokoya, ISPRS J. 2026</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Sat3DGen (ICLR 2026) · Benchmarks: BuildMamba 2026, Depth2Elevation (TGRS 2025), HTC-DC Net</a:t>
            </a:r>
          </a:p>
        </p:txBody>
      </p:sp>
      <p:sp>
        <p:nvSpPr>
          <p:cNvPr id="17415" name="Rounded Rectangle 17414"/>
          <p:cNvSpPr/>
          <p:nvPr/>
        </p:nvSpPr>
        <p:spPr>
          <a:xfrm>
            <a:off x="6099048" y="1554480"/>
            <a:ext cx="5449824" cy="301752"/>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6" name="TextBox 17415"/>
          <p:cNvSpPr txBox="1"/>
          <p:nvPr/>
        </p:nvSpPr>
        <p:spPr>
          <a:xfrm>
            <a:off x="6190488" y="1581912"/>
            <a:ext cx="526694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20" b="1" i="0">
                <a:solidFill>
                  <a:srgbClr val="FFFFFF"/>
                </a:solidFill>
                <a:latin typeface="Aptos"/>
              </a:rPr>
              <a:t>DATASETS / VALIDATION / OFFICIAL SOURCES</a:t>
            </a:r>
          </a:p>
        </p:txBody>
      </p:sp>
      <p:sp>
        <p:nvSpPr>
          <p:cNvPr id="17418" name="TextBox 17417"/>
          <p:cNvSpPr txBox="1"/>
          <p:nvPr/>
        </p:nvSpPr>
        <p:spPr>
          <a:xfrm>
            <a:off x="6300216" y="1863788"/>
            <a:ext cx="5029200" cy="1417320"/>
          </a:xfrm>
          <a:prstGeom prst="rect">
            <a:avLst/>
          </a:prstGeom>
          <a:noFill/>
        </p:spPr>
        <p:txBody>
          <a:bodyPr wrap="square" lIns="38100" tIns="19050" rIns="38100" bIns="19050" anchor="ctr">
            <a:spAutoFit/>
          </a:bodyPr>
          <a:lstStyle/>
          <a:p>
            <a:pPr algn="l">
              <a:lnSpc>
                <a:spcPct val="106000"/>
              </a:lnSpc>
              <a:spcBef>
                <a:spcPts val="0"/>
              </a:spcBef>
              <a:spcAft>
                <a:spcPts val="150"/>
              </a:spcAft>
              <a:defRPr sz="1010">
                <a:solidFill>
                  <a:srgbClr val="232B36"/>
                </a:solidFill>
              </a:defRPr>
            </a:pPr>
            <a:r>
              <a:rPr sz="1120" b="0" i="0" dirty="0">
                <a:solidFill>
                  <a:srgbClr val="24313F"/>
                </a:solidFill>
                <a:latin typeface="Aptos"/>
              </a:rPr>
              <a:t>• GAMUS (recommended in PS) · DFC2019 / US3D · SynRS3D</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CartoDEM (ISRO Bhuvan) · SRTM 30 m · Copernicus DEM GLO-30</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ICESat-2 ATL03 / ATL08 (NASA) · IPH-UFRGS 2024 flood map</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ISRO Bhoonidhi / Bhuvan imagery · ISPRS Potsdam / Vaihingen</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Metrics: RMSE and MAE per terrain type and per height band</a:t>
            </a:r>
          </a:p>
        </p:txBody>
      </p:sp>
      <p:sp>
        <p:nvSpPr>
          <p:cNvPr id="17419" name="TextBox 17418"/>
          <p:cNvSpPr txBox="1"/>
          <p:nvPr/>
        </p:nvSpPr>
        <p:spPr>
          <a:xfrm>
            <a:off x="713232" y="5886896"/>
            <a:ext cx="10835640" cy="223138"/>
          </a:xfrm>
          <a:prstGeom prst="rect">
            <a:avLst/>
          </a:prstGeom>
          <a:noFill/>
        </p:spPr>
        <p:txBody>
          <a:bodyPr wrap="square" lIns="38100" tIns="19050" rIns="38100" bIns="19050" anchor="ctr">
            <a:spAutoFit/>
          </a:bodyPr>
          <a:lstStyle/>
          <a:p>
            <a:pPr algn="ctr">
              <a:lnSpc>
                <a:spcPct val="100000"/>
              </a:lnSpc>
              <a:spcBef>
                <a:spcPts val="0"/>
              </a:spcBef>
              <a:spcAft>
                <a:spcPts val="200"/>
              </a:spcAft>
              <a:defRPr sz="950" b="0">
                <a:solidFill>
                  <a:srgbClr val="5C6878"/>
                </a:solidFill>
              </a:defRPr>
            </a:pPr>
            <a:r>
              <a:rPr sz="1200" b="1" dirty="0"/>
              <a:t>Research basis: monocular height estimation • DSM generation • geospatial calibration • ICESat-2 validation • terrain rendering  |  Evaluation: RMSE / MAE</a:t>
            </a:r>
          </a:p>
        </p:txBody>
      </p:sp>
      <p:pic>
        <p:nvPicPr>
          <p:cNvPr id="17421" name="Picture 17420"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7422" name="TextBox 17421"/>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7423" name="Picture 17422" descr="image2.png"/>
          <p:cNvPicPr>
            <a:picLocks noChangeAspect="1"/>
          </p:cNvPicPr>
          <p:nvPr/>
        </p:nvPicPr>
        <p:blipFill>
          <a:blip r:embed="rId4"/>
          <a:stretch>
            <a:fillRect/>
          </a:stretch>
        </p:blipFill>
        <p:spPr>
          <a:xfrm>
            <a:off x="9841366" y="57097"/>
            <a:ext cx="2209120" cy="1122868"/>
          </a:xfrm>
          <a:prstGeom prst="rect">
            <a:avLst/>
          </a:prstGeom>
        </p:spPr>
      </p:pic>
      <p:sp>
        <p:nvSpPr>
          <p:cNvPr id="17425" name="Rounded Rectangle 17424"/>
          <p:cNvSpPr/>
          <p:nvPr/>
        </p:nvSpPr>
        <p:spPr>
          <a:xfrm>
            <a:off x="646045" y="5146415"/>
            <a:ext cx="2573322" cy="570570"/>
          </a:xfrm>
          <a:prstGeom prst="roundRect">
            <a:avLst/>
          </a:prstGeom>
          <a:solidFill>
            <a:srgbClr val="E8F2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6" name="TextBox 17425"/>
          <p:cNvSpPr txBox="1"/>
          <p:nvPr/>
        </p:nvSpPr>
        <p:spPr>
          <a:xfrm>
            <a:off x="743049" y="5346980"/>
            <a:ext cx="918543" cy="212366"/>
          </a:xfrm>
          <a:prstGeom prst="rect">
            <a:avLst/>
          </a:prstGeom>
          <a:noFill/>
        </p:spPr>
        <p:txBody>
          <a:bodyPr wrap="square" lIns="45720" rIns="45720" anchor="ctr">
            <a:spAutoFit/>
          </a:bodyPr>
          <a:lstStyle/>
          <a:p>
            <a:pPr algn="l"/>
            <a:r>
              <a:rPr sz="780" b="1" dirty="0">
                <a:solidFill>
                  <a:srgbClr val="17273A"/>
                </a:solidFill>
                <a:latin typeface="Aptos"/>
              </a:rPr>
              <a:t>MODELS</a:t>
            </a:r>
          </a:p>
        </p:txBody>
      </p:sp>
      <p:sp>
        <p:nvSpPr>
          <p:cNvPr id="17427" name="TextBox 17426"/>
          <p:cNvSpPr txBox="1"/>
          <p:nvPr/>
        </p:nvSpPr>
        <p:spPr>
          <a:xfrm>
            <a:off x="1470097" y="5356460"/>
            <a:ext cx="1620958" cy="206210"/>
          </a:xfrm>
          <a:prstGeom prst="rect">
            <a:avLst/>
          </a:prstGeom>
          <a:noFill/>
        </p:spPr>
        <p:txBody>
          <a:bodyPr wrap="square" lIns="45720" rIns="45720" anchor="ctr">
            <a:spAutoFit/>
          </a:bodyPr>
          <a:lstStyle/>
          <a:p>
            <a:pPr algn="l"/>
            <a:r>
              <a:rPr sz="740" b="0" dirty="0">
                <a:solidFill>
                  <a:srgbClr val="5C6874"/>
                </a:solidFill>
                <a:latin typeface="Aptos"/>
              </a:rPr>
              <a:t>RS3DAda + DINOv3</a:t>
            </a:r>
          </a:p>
        </p:txBody>
      </p:sp>
      <p:sp>
        <p:nvSpPr>
          <p:cNvPr id="17428" name="Rounded Rectangle 17427"/>
          <p:cNvSpPr/>
          <p:nvPr/>
        </p:nvSpPr>
        <p:spPr>
          <a:xfrm>
            <a:off x="3371850" y="5146415"/>
            <a:ext cx="2557815" cy="570570"/>
          </a:xfrm>
          <a:prstGeom prst="roundRect">
            <a:avLst/>
          </a:prstGeom>
          <a:solidFill>
            <a:srgbClr val="E8F9F5"/>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9" name="TextBox 17428"/>
          <p:cNvSpPr txBox="1"/>
          <p:nvPr/>
        </p:nvSpPr>
        <p:spPr>
          <a:xfrm>
            <a:off x="3553832" y="5354931"/>
            <a:ext cx="918543" cy="212366"/>
          </a:xfrm>
          <a:prstGeom prst="rect">
            <a:avLst/>
          </a:prstGeom>
          <a:noFill/>
        </p:spPr>
        <p:txBody>
          <a:bodyPr wrap="square" lIns="45720" rIns="45720" anchor="ctr">
            <a:spAutoFit/>
          </a:bodyPr>
          <a:lstStyle/>
          <a:p>
            <a:pPr algn="l"/>
            <a:r>
              <a:rPr sz="780" b="1" dirty="0">
                <a:solidFill>
                  <a:srgbClr val="17273A"/>
                </a:solidFill>
                <a:latin typeface="Aptos"/>
              </a:rPr>
              <a:t>DATASETS</a:t>
            </a:r>
          </a:p>
        </p:txBody>
      </p:sp>
      <p:sp>
        <p:nvSpPr>
          <p:cNvPr id="17430" name="TextBox 17429"/>
          <p:cNvSpPr txBox="1"/>
          <p:nvPr/>
        </p:nvSpPr>
        <p:spPr>
          <a:xfrm>
            <a:off x="4495569" y="5348510"/>
            <a:ext cx="1620958" cy="206210"/>
          </a:xfrm>
          <a:prstGeom prst="rect">
            <a:avLst/>
          </a:prstGeom>
          <a:noFill/>
        </p:spPr>
        <p:txBody>
          <a:bodyPr wrap="square" lIns="45720" rIns="45720" anchor="ctr">
            <a:spAutoFit/>
          </a:bodyPr>
          <a:lstStyle/>
          <a:p>
            <a:pPr algn="l"/>
            <a:r>
              <a:rPr sz="740" b="0" dirty="0">
                <a:solidFill>
                  <a:srgbClr val="5C6874"/>
                </a:solidFill>
                <a:latin typeface="Aptos"/>
              </a:rPr>
              <a:t>GAMUS + SynRS3D</a:t>
            </a:r>
          </a:p>
        </p:txBody>
      </p:sp>
      <p:sp>
        <p:nvSpPr>
          <p:cNvPr id="17431" name="Rounded Rectangle 17430"/>
          <p:cNvSpPr/>
          <p:nvPr/>
        </p:nvSpPr>
        <p:spPr>
          <a:xfrm>
            <a:off x="6082148" y="5146415"/>
            <a:ext cx="2700069" cy="570570"/>
          </a:xfrm>
          <a:prstGeom prst="roundRect">
            <a:avLst/>
          </a:prstGeom>
          <a:solidFill>
            <a:srgbClr val="F1E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32" name="TextBox 17431"/>
          <p:cNvSpPr txBox="1"/>
          <p:nvPr/>
        </p:nvSpPr>
        <p:spPr>
          <a:xfrm>
            <a:off x="6132710" y="5283463"/>
            <a:ext cx="918543" cy="332399"/>
          </a:xfrm>
          <a:prstGeom prst="rect">
            <a:avLst/>
          </a:prstGeom>
          <a:noFill/>
        </p:spPr>
        <p:txBody>
          <a:bodyPr wrap="square" lIns="45720" rIns="45720" anchor="ctr">
            <a:spAutoFit/>
          </a:bodyPr>
          <a:lstStyle/>
          <a:p>
            <a:pPr algn="ctr"/>
            <a:r>
              <a:rPr sz="780" b="1" dirty="0">
                <a:solidFill>
                  <a:srgbClr val="17273A"/>
                </a:solidFill>
                <a:latin typeface="Aptos"/>
              </a:rPr>
              <a:t>TERRAIN REFERENCE</a:t>
            </a:r>
          </a:p>
        </p:txBody>
      </p:sp>
      <p:sp>
        <p:nvSpPr>
          <p:cNvPr id="17433" name="TextBox 17432"/>
          <p:cNvSpPr txBox="1"/>
          <p:nvPr/>
        </p:nvSpPr>
        <p:spPr>
          <a:xfrm>
            <a:off x="7107572" y="5348509"/>
            <a:ext cx="1620958" cy="206210"/>
          </a:xfrm>
          <a:prstGeom prst="rect">
            <a:avLst/>
          </a:prstGeom>
          <a:noFill/>
        </p:spPr>
        <p:txBody>
          <a:bodyPr wrap="square" lIns="45720" rIns="45720" anchor="ctr">
            <a:spAutoFit/>
          </a:bodyPr>
          <a:lstStyle/>
          <a:p>
            <a:pPr algn="l"/>
            <a:r>
              <a:rPr sz="740" b="0" dirty="0" err="1">
                <a:solidFill>
                  <a:srgbClr val="5C6874"/>
                </a:solidFill>
                <a:latin typeface="Aptos"/>
              </a:rPr>
              <a:t>CartoDEM / SRTM / GLO-30</a:t>
            </a:r>
          </a:p>
        </p:txBody>
      </p:sp>
      <p:sp>
        <p:nvSpPr>
          <p:cNvPr id="17434" name="Rounded Rectangle 17433"/>
          <p:cNvSpPr/>
          <p:nvPr/>
        </p:nvSpPr>
        <p:spPr>
          <a:xfrm>
            <a:off x="8929315" y="5146415"/>
            <a:ext cx="2619556" cy="570570"/>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35" name="TextBox 17434"/>
          <p:cNvSpPr txBox="1"/>
          <p:nvPr/>
        </p:nvSpPr>
        <p:spPr>
          <a:xfrm>
            <a:off x="9067044" y="5339140"/>
            <a:ext cx="1188703" cy="212366"/>
          </a:xfrm>
          <a:prstGeom prst="rect">
            <a:avLst/>
          </a:prstGeom>
          <a:noFill/>
        </p:spPr>
        <p:txBody>
          <a:bodyPr wrap="square" lIns="45720" rIns="45720" anchor="ctr">
            <a:spAutoFit/>
          </a:bodyPr>
          <a:lstStyle/>
          <a:p>
            <a:pPr algn="l"/>
            <a:r>
              <a:rPr sz="780" b="1" dirty="0">
                <a:solidFill>
                  <a:srgbClr val="17273A"/>
                </a:solidFill>
                <a:latin typeface="Aptos"/>
              </a:rPr>
              <a:t>VALIDATION</a:t>
            </a:r>
          </a:p>
        </p:txBody>
      </p:sp>
      <p:sp>
        <p:nvSpPr>
          <p:cNvPr id="17436" name="TextBox 17435"/>
          <p:cNvSpPr txBox="1"/>
          <p:nvPr/>
        </p:nvSpPr>
        <p:spPr>
          <a:xfrm>
            <a:off x="9816985" y="5348509"/>
            <a:ext cx="2097711" cy="206210"/>
          </a:xfrm>
          <a:prstGeom prst="rect">
            <a:avLst/>
          </a:prstGeom>
          <a:noFill/>
        </p:spPr>
        <p:txBody>
          <a:bodyPr wrap="square" lIns="45720" rIns="45720" anchor="ctr">
            <a:spAutoFit/>
          </a:bodyPr>
          <a:lstStyle/>
          <a:p>
            <a:pPr algn="l"/>
            <a:r>
              <a:rPr sz="740" b="0" dirty="0">
                <a:solidFill>
                  <a:srgbClr val="5C6874"/>
                </a:solidFill>
                <a:latin typeface="Aptos"/>
              </a:rPr>
              <a:t>RMSE / MAE + ICESat-2</a:t>
            </a:r>
          </a:p>
        </p:txBody>
      </p:sp>
      <p:cxnSp>
        <p:nvCxnSpPr>
          <p:cNvPr id="17437" name="Connector 17436"/>
          <p:cNvCxnSpPr>
            <a:cxnSpLocks/>
          </p:cNvCxnSpPr>
          <p:nvPr/>
        </p:nvCxnSpPr>
        <p:spPr>
          <a:xfrm>
            <a:off x="3219367" y="5460953"/>
            <a:ext cx="137729" cy="0"/>
          </a:xfrm>
          <a:prstGeom prst="line">
            <a:avLst/>
          </a:prstGeom>
          <a:ln w="17780">
            <a:solidFill>
              <a:srgbClr val="0E63DC"/>
            </a:solidFill>
          </a:ln>
        </p:spPr>
        <p:style>
          <a:lnRef idx="2">
            <a:schemeClr val="accent1"/>
          </a:lnRef>
          <a:fillRef idx="0">
            <a:schemeClr val="accent1"/>
          </a:fillRef>
          <a:effectRef idx="1">
            <a:schemeClr val="accent1"/>
          </a:effectRef>
          <a:fontRef idx="minor">
            <a:schemeClr val="tx1"/>
          </a:fontRef>
        </p:style>
      </p:cxnSp>
      <p:cxnSp>
        <p:nvCxnSpPr>
          <p:cNvPr id="17438" name="Connector 17437"/>
          <p:cNvCxnSpPr>
            <a:cxnSpLocks/>
          </p:cNvCxnSpPr>
          <p:nvPr/>
        </p:nvCxnSpPr>
        <p:spPr>
          <a:xfrm>
            <a:off x="5947570" y="5460953"/>
            <a:ext cx="137729" cy="0"/>
          </a:xfrm>
          <a:prstGeom prst="line">
            <a:avLst/>
          </a:prstGeom>
          <a:ln w="17780">
            <a:solidFill>
              <a:srgbClr val="009688"/>
            </a:solidFill>
          </a:ln>
        </p:spPr>
        <p:style>
          <a:lnRef idx="2">
            <a:schemeClr val="accent1"/>
          </a:lnRef>
          <a:fillRef idx="0">
            <a:schemeClr val="accent1"/>
          </a:fillRef>
          <a:effectRef idx="1">
            <a:schemeClr val="accent1"/>
          </a:effectRef>
          <a:fontRef idx="minor">
            <a:schemeClr val="tx1"/>
          </a:fontRef>
        </p:style>
      </p:cxnSp>
      <p:cxnSp>
        <p:nvCxnSpPr>
          <p:cNvPr id="17439" name="Connector 17438"/>
          <p:cNvCxnSpPr>
            <a:cxnSpLocks/>
          </p:cNvCxnSpPr>
          <p:nvPr/>
        </p:nvCxnSpPr>
        <p:spPr>
          <a:xfrm>
            <a:off x="8782219" y="5497529"/>
            <a:ext cx="137730" cy="0"/>
          </a:xfrm>
          <a:prstGeom prst="line">
            <a:avLst/>
          </a:prstGeom>
          <a:ln w="17780">
            <a:solidFill>
              <a:srgbClr val="EDAA36"/>
            </a:solidFill>
          </a:ln>
        </p:spPr>
        <p:style>
          <a:lnRef idx="2">
            <a:schemeClr val="accent1"/>
          </a:lnRef>
          <a:fillRef idx="0">
            <a:schemeClr val="accent1"/>
          </a:fillRef>
          <a:effectRef idx="1">
            <a:schemeClr val="accent1"/>
          </a:effectRef>
          <a:fontRef idx="minor">
            <a:schemeClr val="tx1"/>
          </a:fontRef>
        </p:style>
      </p:cxnSp>
      <p:graphicFrame>
        <p:nvGraphicFramePr>
          <p:cNvPr id="17440" name="Chart 17439"/>
          <p:cNvGraphicFramePr>
            <a:graphicFrameLocks noGrp="1"/>
          </p:cNvGraphicFramePr>
          <p:nvPr/>
        </p:nvGraphicFramePr>
        <p:xfrm>
          <a:off x="594360" y="3383280"/>
          <a:ext cx="5394960" cy="1508760"/>
        </p:xfrm>
        <a:graphic>
          <a:graphicData uri="http://schemas.openxmlformats.org/drawingml/2006/chart">
            <c:chart xmlns:c="http://schemas.openxmlformats.org/drawingml/2006/chart" r:id="rId5"/>
          </a:graphicData>
        </a:graphic>
      </p:graphicFrame>
      <p:sp>
        <p:nvSpPr>
          <p:cNvPr id="17441" name="TextBox 17440"/>
          <p:cNvSpPr txBox="1"/>
          <p:nvPr/>
        </p:nvSpPr>
        <p:spPr>
          <a:xfrm>
            <a:off x="594360" y="4910328"/>
            <a:ext cx="5394960" cy="164592"/>
          </a:xfrm>
          <a:prstGeom prst="rect">
            <a:avLst/>
          </a:prstGeom>
          <a:noFill/>
        </p:spPr>
        <p:txBody>
          <a:bodyPr wrap="square" lIns="0" rIns="0" tIns="0" bIns="0">
            <a:spAutoFit/>
          </a:bodyPr>
          <a:lstStyle/>
          <a:p>
            <a:r>
              <a:rPr sz="800">
                <a:solidFill>
                  <a:srgbClr val="5C6878"/>
                </a:solidFill>
                <a:latin typeface="Aptos"/>
              </a:rPr>
              <a:t>Our run: released RS3DAda, 200 DFC2019 test tiles (Jacksonville + Omaha). Official metric MAE 2.22 m / RMSE 3.83 m.</a:t>
            </a:r>
          </a:p>
        </p:txBody>
      </p:sp>
      <p:graphicFrame>
        <p:nvGraphicFramePr>
          <p:cNvPr id="17442" name="Chart 17441"/>
          <p:cNvGraphicFramePr>
            <a:graphicFrameLocks noGrp="1"/>
          </p:cNvGraphicFramePr>
          <p:nvPr/>
        </p:nvGraphicFramePr>
        <p:xfrm>
          <a:off x="6153912" y="3383280"/>
          <a:ext cx="5394960" cy="1380744"/>
        </p:xfrm>
        <a:graphic>
          <a:graphicData uri="http://schemas.openxmlformats.org/drawingml/2006/chart">
            <c:chart xmlns:c="http://schemas.openxmlformats.org/drawingml/2006/chart" r:id="rId6"/>
          </a:graphicData>
        </a:graphic>
      </p:graphicFrame>
      <p:sp>
        <p:nvSpPr>
          <p:cNvPr id="17443" name="TextBox 17442"/>
          <p:cNvSpPr txBox="1"/>
          <p:nvPr/>
        </p:nvSpPr>
        <p:spPr>
          <a:xfrm>
            <a:off x="6153912" y="4782312"/>
            <a:ext cx="5394960" cy="292608"/>
          </a:xfrm>
          <a:prstGeom prst="rect">
            <a:avLst/>
          </a:prstGeom>
          <a:noFill/>
        </p:spPr>
        <p:txBody>
          <a:bodyPr wrap="square" lIns="0" rIns="0" tIns="0" bIns="0">
            <a:spAutoFit/>
          </a:bodyPr>
          <a:lstStyle/>
          <a:p>
            <a:r>
              <a:rPr sz="800">
                <a:solidFill>
                  <a:srgbClr val="5C6878"/>
                </a:solidFill>
                <a:latin typeface="Aptos"/>
              </a:rPr>
              <a:t>Same 200 test tiles; pixels split into 5 equal groups by predicted ± (spread of 4 flipped predictions). Rank correlation 0.62.</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7624</TotalTime>
  <Words>854</Words>
  <Application>Microsoft Office PowerPoint</Application>
  <PresentationFormat>Widescreen</PresentationFormat>
  <Paragraphs>174</Paragraphs>
  <Slides>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ＭＳ Ｐゴシック</vt:lpstr>
      <vt:lpstr>Aptos</vt:lpstr>
      <vt:lpstr>Aptos Display</vt:lpstr>
      <vt:lpstr>Arial</vt:lpstr>
      <vt:lpstr>Calibri</vt:lpstr>
      <vt:lpstr>Garamond</vt:lpstr>
      <vt:lpstr>Times New Roman</vt:lpstr>
      <vt:lpstr>TradeGothic</vt:lpstr>
      <vt:lpstr>Office Theme</vt:lpstr>
      <vt:lpstr>SMART INDIA HACKATHON 2026</vt:lpstr>
      <vt:lpstr> IDEA TITLE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Agampreet Singh</cp:lastModifiedBy>
  <cp:revision>148</cp:revision>
  <dcterms:created xsi:type="dcterms:W3CDTF">2013-12-12T18:46:50Z</dcterms:created>
  <dcterms:modified xsi:type="dcterms:W3CDTF">2026-08-28T06:28:01Z</dcterms:modified>
  <cp:category/>
</cp:coreProperties>
</file>