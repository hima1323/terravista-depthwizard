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59" autoAdjust="0"/>
    <p:restoredTop sz="94660"/>
  </p:normalViewPr>
  <p:slideViewPr>
    <p:cSldViewPr snapToGrid="0" snapToObjects="1">
      <p:cViewPr>
        <p:scale>
          <a:sx n="75" d="100"/>
          <a:sy n="75" d="100"/>
        </p:scale>
        <p:origin x="1013" y="52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00" b="1">
                <a:solidFill>
                  <a:srgbClr val="17273A"/>
                </a:solidFill>
              </a:rPr>
              <a:t>SCENARIO TEST: Porto Alegre 2024 flood (CSI)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CSI</c:v>
                </c:pt>
              </c:strCache>
            </c:strRef>
          </c:tx>
          <c:spPr>
            <a:solidFill>
              <a:srgbClr val="228989"/>
            </a:solidFill>
          </c:spPr>
          <c:cat>
            <c:strRef>
              <c:f>Sheet1!$A$2:$A$5</c:f>
              <c:strCache>
                <c:ptCount val="4"/>
                <c:pt idx="0">
                  <c:v>Raw 30 m DEM
(GLO-30)</c:v>
                </c:pt>
                <c:pt idx="1">
                  <c:v>+ our building
removal</c:v>
                </c:pt>
                <c:pt idx="2">
                  <c:v>+ ICESat-2
laser levelling</c:v>
                </c:pt>
                <c:pt idx="3">
                  <c:v>FABDEM
(reference)</c:v>
                </c:pt>
              </c:strCache>
            </c:strRef>
          </c:cat>
          <c:val>
            <c:numRef>
              <c:f>Sheet1!$B$2:$B$5</c:f>
              <c:numCache>
                <c:formatCode>0.00</c:formatCode>
                <c:ptCount val="4"/>
                <c:pt idx="0">
                  <c:v>0.2</c:v>
                </c:pt>
                <c:pt idx="1">
                  <c:v>0.3</c:v>
                </c:pt>
                <c:pt idx="2">
                  <c:v>0.79</c:v>
                </c:pt>
                <c:pt idx="3">
                  <c:v>0.32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/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/>
        <c:axPos val="l"/>
        <c:numFmt formatCode="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</a:p>
        </c:txPr>
        <c:crossAx val="-2068027336"/>
        <c:crosses val="autoZero"/>
        <c:majorUnit val="0.5"/>
      </c:valAx>
    </c:plotArea>
    <c:dispBlanksAs val="gap"/>
  </c:chart>
  <c:txPr>
    <a:bodyPr/>
    <a:lstStyle/>
    <a:p>
      <a:pPr>
        <a:defRPr sz="800">
          <a:latin typeface="Aptos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00" b="1">
                <a:solidFill>
                  <a:srgbClr val="17273A"/>
                </a:solidFill>
              </a:rPr>
              <a:t>MEASURED: Indian scenes vs NASA lasers (8; GEDI 7), MAE (m): ours blue, baseline grey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Ours</c:v>
                </c:pt>
              </c:strCache>
            </c:strRef>
          </c:tx>
          <c:spPr>
            <a:solidFill>
              <a:srgbClr val="2068AA"/>
            </a:solidFill>
          </c:spPr>
          <c:cat>
            <c:strRef>
              <c:f>Sheet1!$A$2:$A$5</c:f>
              <c:strCache>
                <c:ptCount val="4"/>
                <c:pt idx="0">
                  <c:v>Height vs
ICESat-2</c:v>
                </c:pt>
                <c:pt idx="1">
                  <c:v>Height vs
GEDI</c:v>
                </c:pt>
                <c:pt idx="2">
                  <c:v>DSM vs
GEDI tops</c:v>
                </c:pt>
                <c:pt idx="3">
                  <c:v>DSM vs
ICESat-2</c:v>
                </c:pt>
              </c:strCache>
            </c:strRef>
          </c:cat>
          <c:val>
            <c:numRef>
              <c:f>Sheet1!$B$2:$B$5</c:f>
              <c:numCache>
                <c:formatCode>0.00</c:formatCode>
                <c:ptCount val="4"/>
                <c:pt idx="0">
                  <c:v>4.85</c:v>
                </c:pt>
                <c:pt idx="1">
                  <c:v>9.93</c:v>
                </c:pt>
                <c:pt idx="2">
                  <c:v>5.97</c:v>
                </c:pt>
                <c:pt idx="3">
                  <c:v>9.14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5C6878"/>
            </a:solidFill>
          </c:spPr>
          <c:cat>
            <c:strRef>
              <c:f>Sheet1!$A$2:$A$5</c:f>
              <c:strCache>
                <c:ptCount val="4"/>
                <c:pt idx="0">
                  <c:v>Height vs
ICESat-2</c:v>
                </c:pt>
                <c:pt idx="1">
                  <c:v>Height vs
GEDI</c:v>
                </c:pt>
                <c:pt idx="2">
                  <c:v>DSM vs
GEDI tops</c:v>
                </c:pt>
                <c:pt idx="3">
                  <c:v>DSM vs
ICESat-2</c:v>
                </c:pt>
              </c:strCache>
            </c:strRef>
          </c:cat>
          <c:val>
            <c:numRef>
              <c:f>Sheet1!$C$2:$C$5</c:f>
              <c:numCache>
                <c:formatCode>0.00</c:formatCode>
                <c:ptCount val="4"/>
                <c:pt idx="0">
                  <c:v>8.25</c:v>
                </c:pt>
                <c:pt idx="1">
                  <c:v>16.89</c:v>
                </c:pt>
                <c:pt idx="2">
                  <c:v>8.39</c:v>
                </c:pt>
                <c:pt idx="3">
                  <c:v>8.06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/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0.0"/>
          <c:min val="0.0"/>
        </c:scaling>
        <c:delete/>
        <c:axPos val="l"/>
        <c:numFmt formatCode="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</a:p>
        </c:txPr>
        <c:crossAx val="-2068027336"/>
        <c:crosses val="autoZero"/>
        <c:majorUnit val="5.0"/>
      </c:valAx>
    </c:plotArea>
    <c:dispBlanksAs val="gap"/>
  </c:chart>
  <c:txPr>
    <a:bodyPr/>
    <a:lstStyle/>
    <a:p>
      <a:pPr>
        <a:defRPr sz="800">
          <a:latin typeface="Aptos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00" b="1">
                <a:solidFill>
                  <a:srgbClr val="17273A"/>
                </a:solidFill>
              </a:rPr>
              <a:t>GAMUS MAE per tile (m): ours blue, flat ground grey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Ours</c:v>
                </c:pt>
              </c:strCache>
            </c:strRef>
          </c:tx>
          <c:spPr>
            <a:solidFill>
              <a:srgbClr val="2068AA"/>
            </a:solidFill>
          </c:spPr>
          <c:cat>
            <c:strRef>
              <c:f>Sheet1!$A$2:$A$5</c:f>
              <c:strCache>
                <c:ptCount val="4"/>
                <c:pt idx="0">
                  <c:v>Buildings</c:v>
                </c:pt>
                <c:pt idx="1">
                  <c:v>Trees</c:v>
                </c:pt>
                <c:pt idx="2">
                  <c:v>Road</c:v>
                </c:pt>
                <c:pt idx="3">
                  <c:v>Ground</c:v>
                </c:pt>
              </c:strCache>
            </c:strRef>
          </c:cat>
          <c:val>
            <c:numRef>
              <c:f>Sheet1!$B$2:$B$5</c:f>
              <c:numCache>
                <c:formatCode>0.00</c:formatCode>
                <c:ptCount val="4"/>
                <c:pt idx="0">
                  <c:v>3.55</c:v>
                </c:pt>
                <c:pt idx="1">
                  <c:v>6.67</c:v>
                </c:pt>
                <c:pt idx="2">
                  <c:v>1.82</c:v>
                </c:pt>
                <c:pt idx="3">
                  <c:v>0.86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Flat ground (0 m)</c:v>
                </c:pt>
              </c:strCache>
            </c:strRef>
          </c:tx>
          <c:spPr>
            <a:solidFill>
              <a:srgbClr val="5C6878"/>
            </a:solidFill>
          </c:spPr>
          <c:cat>
            <c:strRef>
              <c:f>Sheet1!$A$2:$A$5</c:f>
              <c:strCache>
                <c:ptCount val="4"/>
                <c:pt idx="0">
                  <c:v>Buildings</c:v>
                </c:pt>
                <c:pt idx="1">
                  <c:v>Trees</c:v>
                </c:pt>
                <c:pt idx="2">
                  <c:v>Road</c:v>
                </c:pt>
                <c:pt idx="3">
                  <c:v>Ground</c:v>
                </c:pt>
              </c:strCache>
            </c:strRef>
          </c:cat>
          <c:val>
            <c:numRef>
              <c:f>Sheet1!$C$2:$C$5</c:f>
              <c:numCache>
                <c:formatCode>0.00</c:formatCode>
                <c:ptCount val="4"/>
                <c:pt idx="0">
                  <c:v>9.08</c:v>
                </c:pt>
                <c:pt idx="1">
                  <c:v>8.7</c:v>
                </c:pt>
                <c:pt idx="2">
                  <c:v>1.72</c:v>
                </c:pt>
                <c:pt idx="3">
                  <c:v>0.46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/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2.0"/>
          <c:min val="0.0"/>
        </c:scaling>
        <c:delete/>
        <c:axPos val="l"/>
        <c:numFmt formatCode="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</a:p>
        </c:txPr>
        <c:crossAx val="-2068027336"/>
        <c:crosses val="autoZero"/>
        <c:majorUnit val="4.0"/>
      </c:valAx>
    </c:plotArea>
    <c:dispBlanksAs val="gap"/>
  </c:chart>
  <c:txPr>
    <a:bodyPr/>
    <a:lstStyle/>
    <a:p>
      <a:pPr>
        <a:defRPr sz="800">
          <a:latin typeface="Aptos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00" b="1">
                <a:solidFill>
                  <a:srgbClr val="17273A"/>
                </a:solidFill>
              </a:rPr>
              <a:t>MEASURED: published RS3DAda reproduced (MAE, m)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MAE</c:v>
                </c:pt>
              </c:strCache>
            </c:strRef>
          </c:tx>
          <c:spPr>
            <a:solidFill>
              <a:srgbClr val="2068AA"/>
            </a:solidFill>
          </c:spPr>
          <c:dPt>
            <c:idx val="0"/>
            <c:spPr>
              <a:solidFill>
                <a:srgbClr val="5C6878"/>
              </a:solidFill>
            </c:spPr>
          </c:dPt>
          <c:dPt>
            <c:idx val="1"/>
            <c:spPr>
              <a:solidFill>
                <a:srgbClr val="2068AA"/>
              </a:solidFill>
            </c:spPr>
          </c:dPt>
          <c:dPt>
            <c:idx val="2"/>
            <c:spPr>
              <a:solidFill>
                <a:srgbClr val="45885C"/>
              </a:solidFill>
            </c:spPr>
          </c:dPt>
          <c:dPt>
            <c:idx val="3"/>
            <c:spPr>
              <a:solidFill>
                <a:srgbClr val="5C6878"/>
              </a:solidFill>
            </c:spPr>
          </c:dPt>
          <c:dPt>
            <c:idx val="4"/>
            <c:spPr>
              <a:solidFill>
                <a:srgbClr val="2068AA"/>
              </a:solidFill>
            </c:spPr>
          </c:dPt>
          <c:dPt>
            <c:idx val="5"/>
            <c:spPr>
              <a:solidFill>
                <a:srgbClr val="45885C"/>
              </a:solidFill>
            </c:spPr>
          </c:dPt>
          <c:cat>
            <c:strRef>
              <c:f>Sheet1!$A$2:$A$7</c:f>
              <c:strCache>
                <c:ptCount val="6"/>
                <c:pt idx="0">
                  <c:v>ATL: source-only</c:v>
                </c:pt>
                <c:pt idx="1">
                  <c:v>ATL: paper</c:v>
                </c:pt>
                <c:pt idx="2">
                  <c:v>ATL: ours</c:v>
                </c:pt>
                <c:pt idx="3">
                  <c:v>ARG: source-only</c:v>
                </c:pt>
                <c:pt idx="4">
                  <c:v>ARG: paper</c:v>
                </c:pt>
                <c:pt idx="5">
                  <c:v>ARG: ours</c:v>
                </c:pt>
              </c:strCache>
            </c:strRef>
          </c:cat>
          <c:val>
            <c:numRef>
              <c:f>Sheet1!$B$2:$B$7</c:f>
              <c:numCache>
                <c:formatCode>0.00</c:formatCode>
                <c:ptCount val="6"/>
                <c:pt idx="0">
                  <c:v>7.26</c:v>
                </c:pt>
                <c:pt idx="1">
                  <c:v>5.67</c:v>
                </c:pt>
                <c:pt idx="2">
                  <c:v>5.99</c:v>
                </c:pt>
                <c:pt idx="3">
                  <c:v>2.65</c:v>
                </c:pt>
                <c:pt idx="4">
                  <c:v>2.01</c:v>
                </c:pt>
                <c:pt idx="5">
                  <c:v>1.94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.0"/>
          <c:min val="0.0"/>
        </c:scaling>
        <c:delete val="0"/>
        <c:axPos val="b"/>
        <c:majorGridlines>
          <c:spPr>
            <a:ln>
              <a:solidFill>
                <a:srgbClr val="D5DCE7"/>
              </a:solidFill>
            </a:ln>
          </c:spPr>
        </c:majorGridlines>
        <c:numFmt formatCode="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</a:p>
        </c:txPr>
        <c:crossAx val="-2068027336"/>
        <c:crosses val="autoZero"/>
        <c:majorUnit val="3.0"/>
      </c:valAx>
    </c:plotArea>
    <c:dispBlanksAs val="gap"/>
  </c:chart>
  <c:txPr>
    <a:bodyPr/>
    <a:lstStyle/>
    <a:p>
      <a:pPr>
        <a:defRPr sz="800">
          <a:latin typeface="Aptos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00" b="1">
                <a:solidFill>
                  <a:srgbClr val="17273A"/>
                </a:solidFill>
              </a:rPr>
              <a:t>MEASURED: 90% interval coverage, held-out city (%): DC blue, NYC teal, PHL orange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DC</c:v>
                </c:pt>
              </c:strCache>
            </c:strRef>
          </c:tx>
          <c:spPr>
            <a:solidFill>
              <a:srgbClr val="2068AA"/>
            </a:solidFill>
          </c:spPr>
          <c:cat>
            <c:strRef>
              <c:f>Sheet1!$A$2:$A$4</c:f>
              <c:strCache>
                <c:ptCount val="3"/>
                <c:pt idx="0">
                  <c:v>LiDAR 3–10 m</c:v>
                </c:pt>
                <c:pt idx="1">
                  <c:v>LiDAR 10–20 m</c:v>
                </c:pt>
                <c:pt idx="2">
                  <c:v>LiDAR &gt; 20 m</c:v>
                </c:pt>
              </c:strCache>
            </c:strRef>
          </c:cat>
          <c:val>
            <c:numRef>
              <c:f>Sheet1!$B$2:$B$4</c:f>
              <c:numCache>
                <c:formatCode>0.0</c:formatCode>
                <c:ptCount val="3"/>
                <c:pt idx="0">
                  <c:v>99.63</c:v>
                </c:pt>
                <c:pt idx="1">
                  <c:v>67.33</c:v>
                </c:pt>
                <c:pt idx="2">
                  <c:v>13.64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NYC</c:v>
                </c:pt>
              </c:strCache>
            </c:strRef>
          </c:tx>
          <c:spPr>
            <a:solidFill>
              <a:srgbClr val="228989"/>
            </a:solidFill>
          </c:spPr>
          <c:cat>
            <c:strRef>
              <c:f>Sheet1!$A$2:$A$4</c:f>
              <c:strCache>
                <c:ptCount val="3"/>
                <c:pt idx="0">
                  <c:v>LiDAR 3–10 m</c:v>
                </c:pt>
                <c:pt idx="1">
                  <c:v>LiDAR 10–20 m</c:v>
                </c:pt>
                <c:pt idx="2">
                  <c:v>LiDAR &gt; 20 m</c:v>
                </c:pt>
              </c:strCache>
            </c:strRef>
          </c:cat>
          <c:val>
            <c:numRef>
              <c:f>Sheet1!$C$2:$C$4</c:f>
              <c:numCache>
                <c:formatCode>0.0</c:formatCode>
                <c:ptCount val="3"/>
                <c:pt idx="0">
                  <c:v>99.33</c:v>
                </c:pt>
                <c:pt idx="1">
                  <c:v>49.12</c:v>
                </c:pt>
                <c:pt idx="2">
                  <c:v>30.0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PHL</c:v>
                </c:pt>
              </c:strCache>
            </c:strRef>
          </c:tx>
          <c:spPr>
            <a:solidFill>
              <a:srgbClr val="D2742D"/>
            </a:solidFill>
          </c:spPr>
          <c:cat>
            <c:strRef>
              <c:f>Sheet1!$A$2:$A$4</c:f>
              <c:strCache>
                <c:ptCount val="3"/>
                <c:pt idx="0">
                  <c:v>LiDAR 3–10 m</c:v>
                </c:pt>
                <c:pt idx="1">
                  <c:v>LiDAR 10–20 m</c:v>
                </c:pt>
                <c:pt idx="2">
                  <c:v>LiDAR &gt; 20 m</c:v>
                </c:pt>
              </c:strCache>
            </c:strRef>
          </c:cat>
          <c:val>
            <c:numRef>
              <c:f>Sheet1!$D$2:$D$4</c:f>
              <c:numCache>
                <c:formatCode>0.0</c:formatCode>
                <c:ptCount val="3"/>
                <c:pt idx="0">
                  <c:v>100.0</c:v>
                </c:pt>
                <c:pt idx="1">
                  <c:v>95.7</c:v>
                </c:pt>
                <c:pt idx="2">
                  <c:v>25.0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/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/>
        <c:axPos val="l"/>
        <c:numFmt formatCode="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</a:p>
        </c:txPr>
        <c:crossAx val="-2068027336"/>
        <c:crosses val="autoZero"/>
        <c:majorUnit val="50.0"/>
      </c:valAx>
    </c:plotArea>
    <c:dispBlanksAs val="gap"/>
  </c:chart>
  <c:txPr>
    <a:bodyPr/>
    <a:lstStyle/>
    <a:p>
      <a:pPr>
        <a:defRPr sz="800">
          <a:latin typeface="Aptos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One satellite image goes in and heights come out, and this works in our prototype today. The height model is RS3DAda, published at NeurIPS 2024; we run the released weights and have not fine-tuned it. For a GeoTIFF, the terrain comes from the free 30 m Copernicus model with buildings and trees removed using our heights, and it is levelled with NASA ICESat-2 laser points when at least two laser passes cross the scene. The user flies through the town and clicks a building to see its height with a 90% interval; we say on screen that the interval is too narrow for buildings over 10 m. Every accuracy number we show is listed in docs/CLAIMS.md with a baseline or published reference, and with a 95% confidence interval where it averages several tiles or scenes. GAMUS is our only zero-shot test; the Overhead Geopose cities were in the model's unlabelled adaptation data, so there we only check that we reproduce the paper.</a:t>
            </a: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Ticks mark what works in our prototype; bullets are planned and not built. The model is RS3DAda with its released weights: we did not fine-tune it, and the DINOv3 / CHMv2 challenger, the ONNX model and the Tauri app are plans. Left chart: a scenario test on the May 2024 Porto Alegre flood. From the pre-flood image we flooded the terrain to the gauge level in 4 small windows that have laser data and compared with the IPH-UFRGS flood extent: raw 30 m DEM CSI 0.20, with our building removal 0.30, after ICESat-2 levelling 0.79; FABDEM scores 0.32. It is a spot check, not a forecast, and it was run before we stopped levelling from a single laser pass, which would now skip one of the four windows. Right chart: GAMUS, the dataset the PS recommends; it is aerial imagery at 0.33 m, not satellite. On 150 tiles our mean MAE is 3.90 m [3.24, 4.66], against 5.65 m for predicting flat ground everywhere. On open ground predicting zero is still better; trees, mostly leafless in these photos, and tall buildings read too low (bias -7.6 m for 10 to 20 m objects).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Everything we depend on is public: the model weights, GAMUS, Overhead Geopose, the Copernicus elevation model, ICESat-2 and GEDI. The chart checks that we run the model correctly: on 300 satellite test tiles per city from the Overhead Geopose challenge (cities whose unlabelled images the model adapted to, so this is a reproduction, not a zero-shot test) our MAE is 5.99 m in Atlanta and 1.94 m in Buenos Aires, against 5.67 and 2.01 published; both published values are inside our 95% intervals. The risks we measured: tall buildings read too low on every test set, and an isotonic correction made one held-out city worse, so we did not ship it. Resampling the input to another resolution gave no gain. We have not yet run on Cartosat or compared with CartoDEM; both need a login, and we have drafted a data request.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In our Porto Alegre scenario test, starting from pre-flood images, the flood map matched the IPH-UFRGS flood extent with CSI 0.79 in the 4 small windows that had laser data; it is a scenario check, not a forecast, and the levelling predates our two-pass rule. Planners get building heights where no LiDAR exists: on GAMUS, building heights are off by 3.57 m on average, against 10.54 m for assuming flat ground. ISRO would get more value from existing optical images; the next step is to run on Cartosat, which we have requested.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Every method here is published and cited, and both charts are our own measurements. Left: eight Indian scenes against NASA lasers, with laser passes split so that nothing is checked on the photons used for levelling. Our heights above ground are off by 4.85 m against ICESat-2 (8 scenes) where assuming no height gives 8.25 m, and 9.93 against 16.89 m with GEDI (7 scenes). Our absolute DSM beats the raw Copernicus DSM against GEDI canopy and roof tops (5.97 vs 8.39 m) but not against all ICESat-2 photons (9.14 vs 8.06 m). Right: the 90% interval we show on each building, tested on a city it was not calibrated on. It covers low buildings almost always, but only 49 to 67% of 10 to 20 m blocks in New York and Washington and fewer above 20 m, which is why the viewer warns about tall buildings. Not yet validated: Cartosat and CartoDEM, leaf-on canopy, floor counts, ground-control-point accuracy and processing time.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are TerraVista from IIT Ropar. Our idea, DepthWizard, answers SIH26175: single-view height estimation and 3D flythrough for disaster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8/28/2026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chart" Target="../charts/chart1.xml"/><Relationship Id="rId6" Type="http://schemas.openxmlformats.org/officeDocument/2006/relationships/image" Target="../media/image4.png"/><Relationship Id="rId7" Type="http://schemas.openxmlformats.org/officeDocument/2006/relationships/chart" Target="../charts/char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chart" Target="../charts/char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chart" Target="../charts/chart2.xml"/><Relationship Id="rId6" Type="http://schemas.openxmlformats.org/officeDocument/2006/relationships/chart" Target="../charts/char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spcBef>
                <a:spcPts val="0"/>
              </a:spcBef>
            </a:pP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924457" y="179716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791440" y="648614"/>
            <a:ext cx="965200" cy="1752600"/>
          </a:xfrm>
        </p:spPr>
        <p:txBody>
          <a:bodyPr wrap="square" lIns="38100" tIns="19050" rIns="38100" bIns="1905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 wrap="square" lIns="38100" tIns="19050" rIns="38100" bIns="1905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 dirty="0">
                <a:solidFill>
                  <a:srgbClr val="17273A"/>
                </a:solidFill>
                <a:latin typeface="Aptos Display"/>
              </a:rPr>
              <a:t>SMART INDIA HACKATHON 2026</a:t>
            </a:r>
            <a:endParaRPr lang="en-IN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12566" y="1916902"/>
            <a:ext cx="5924550" cy="3577903"/>
          </a:xfrm>
          <a:prstGeom prst="rect">
            <a:avLst/>
          </a:prstGeom>
          <a:noFill/>
        </p:spPr>
        <p:txBody>
          <a:bodyPr wrap="square" lIns="38100" tIns="19050" rIns="38100" bIns="19050" rtlCol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500">
                <a:solidFill>
                  <a:srgbClr val="232B36"/>
                </a:solidFill>
              </a:defRPr>
            </a:pPr>
            <a:r>
              <a:rPr sz="2000" b="1" i="0" dirty="0">
                <a:solidFill>
                  <a:srgbClr val="17273A"/>
                </a:solidFill>
                <a:latin typeface="Aptos"/>
              </a:rPr>
              <a:t>Problem Statement ID - </a:t>
            </a:r>
            <a:r>
              <a:rPr sz="2000" b="0" i="0" dirty="0">
                <a:solidFill>
                  <a:srgbClr val="24313F"/>
                </a:solidFill>
                <a:latin typeface="Aptos"/>
              </a:rPr>
              <a:t>SIH26175</a:t>
            </a:r>
            <a:endParaRPr lang="en-US" sz="2000" b="0" i="0" dirty="0">
              <a:solidFill>
                <a:srgbClr val="24313F"/>
              </a:solidFill>
              <a:latin typeface="Aptos"/>
            </a:endParaRPr>
          </a:p>
          <a:p>
            <a:pPr>
              <a:spcBef>
                <a:spcPts val="0"/>
              </a:spcBef>
              <a:spcAft>
                <a:spcPts val="400"/>
              </a:spcAft>
              <a:defRPr sz="1500">
                <a:solidFill>
                  <a:srgbClr val="232B36"/>
                </a:solidFill>
              </a:defRPr>
            </a:pPr>
            <a:endParaRPr sz="500" b="0" i="0" dirty="0">
              <a:solidFill>
                <a:srgbClr val="24313F"/>
              </a:solidFill>
              <a:latin typeface="Aptos"/>
            </a:endParaRPr>
          </a:p>
          <a:p>
            <a:pPr>
              <a:spcBef>
                <a:spcPts val="0"/>
              </a:spcBef>
              <a:spcAft>
                <a:spcPts val="400"/>
              </a:spcAft>
              <a:defRPr sz="1500">
                <a:solidFill>
                  <a:srgbClr val="232B36"/>
                </a:solidFill>
              </a:defRPr>
            </a:pPr>
            <a:r>
              <a:rPr sz="2000" b="1" i="0" dirty="0">
                <a:solidFill>
                  <a:srgbClr val="17273A"/>
                </a:solidFill>
                <a:latin typeface="Aptos"/>
              </a:rPr>
              <a:t>Problem Statement Title - </a:t>
            </a:r>
            <a:r>
              <a:rPr sz="2000" b="0" i="0" dirty="0">
                <a:solidFill>
                  <a:srgbClr val="24313F"/>
                </a:solidFill>
                <a:latin typeface="Aptos"/>
              </a:rPr>
              <a:t>Single-View Height Estimation and 3D Flythrough</a:t>
            </a:r>
            <a:endParaRPr lang="en-US" sz="2000" b="0" i="0" dirty="0">
              <a:solidFill>
                <a:srgbClr val="24313F"/>
              </a:solidFill>
              <a:latin typeface="Aptos"/>
            </a:endParaRPr>
          </a:p>
          <a:p>
            <a:pPr>
              <a:spcBef>
                <a:spcPts val="0"/>
              </a:spcBef>
              <a:spcAft>
                <a:spcPts val="400"/>
              </a:spcAft>
              <a:defRPr sz="1500">
                <a:solidFill>
                  <a:srgbClr val="232B36"/>
                </a:solidFill>
              </a:defRPr>
            </a:pPr>
            <a:endParaRPr sz="500" b="0" i="0" dirty="0">
              <a:solidFill>
                <a:srgbClr val="24313F"/>
              </a:solidFill>
              <a:latin typeface="Aptos"/>
            </a:endParaRPr>
          </a:p>
          <a:p>
            <a:pPr>
              <a:spcBef>
                <a:spcPts val="0"/>
              </a:spcBef>
              <a:spcAft>
                <a:spcPts val="400"/>
              </a:spcAft>
              <a:defRPr sz="1500">
                <a:solidFill>
                  <a:srgbClr val="232B36"/>
                </a:solidFill>
              </a:defRPr>
            </a:pPr>
            <a:r>
              <a:rPr sz="2000" b="1" i="0" dirty="0">
                <a:solidFill>
                  <a:srgbClr val="17273A"/>
                </a:solidFill>
                <a:latin typeface="Aptos"/>
              </a:rPr>
              <a:t>Theme - </a:t>
            </a:r>
            <a:r>
              <a:rPr sz="2000" b="0" i="0" dirty="0">
                <a:solidFill>
                  <a:srgbClr val="24313F"/>
                </a:solidFill>
                <a:latin typeface="Aptos"/>
              </a:rPr>
              <a:t>Disaster Management</a:t>
            </a:r>
            <a:endParaRPr lang="en-US" sz="2000" b="0" i="0" dirty="0">
              <a:solidFill>
                <a:srgbClr val="24313F"/>
              </a:solidFill>
              <a:latin typeface="Aptos"/>
            </a:endParaRPr>
          </a:p>
          <a:p>
            <a:pPr>
              <a:spcBef>
                <a:spcPts val="0"/>
              </a:spcBef>
              <a:spcAft>
                <a:spcPts val="400"/>
              </a:spcAft>
              <a:defRPr sz="1500">
                <a:solidFill>
                  <a:srgbClr val="232B36"/>
                </a:solidFill>
              </a:defRPr>
            </a:pPr>
            <a:endParaRPr sz="500" b="0" i="0" dirty="0">
              <a:solidFill>
                <a:srgbClr val="24313F"/>
              </a:solidFill>
              <a:latin typeface="Aptos"/>
            </a:endParaRPr>
          </a:p>
          <a:p>
            <a:pPr>
              <a:spcBef>
                <a:spcPts val="0"/>
              </a:spcBef>
              <a:spcAft>
                <a:spcPts val="400"/>
              </a:spcAft>
              <a:defRPr sz="1500">
                <a:solidFill>
                  <a:srgbClr val="232B36"/>
                </a:solidFill>
              </a:defRPr>
            </a:pPr>
            <a:r>
              <a:rPr sz="2000" b="1" i="0" dirty="0">
                <a:solidFill>
                  <a:srgbClr val="17273A"/>
                </a:solidFill>
                <a:latin typeface="Aptos"/>
              </a:rPr>
              <a:t>PS Category </a:t>
            </a:r>
            <a:r>
              <a:rPr lang="en-IN" sz="2000" b="1" i="0" dirty="0">
                <a:solidFill>
                  <a:srgbClr val="17273A"/>
                </a:solidFill>
                <a:latin typeface="Aptos"/>
              </a:rPr>
              <a:t>–</a:t>
            </a:r>
            <a:r>
              <a:rPr sz="2000" b="1" i="0" dirty="0">
                <a:solidFill>
                  <a:srgbClr val="17273A"/>
                </a:solidFill>
                <a:latin typeface="Aptos"/>
              </a:rPr>
              <a:t> </a:t>
            </a:r>
            <a:r>
              <a:rPr sz="2000" b="0" i="0" dirty="0">
                <a:solidFill>
                  <a:srgbClr val="24313F"/>
                </a:solidFill>
                <a:latin typeface="Aptos"/>
              </a:rPr>
              <a:t>Software</a:t>
            </a:r>
            <a:endParaRPr lang="en-US" sz="2000" b="0" i="0" dirty="0">
              <a:solidFill>
                <a:srgbClr val="24313F"/>
              </a:solidFill>
              <a:latin typeface="Aptos"/>
            </a:endParaRPr>
          </a:p>
          <a:p>
            <a:pPr>
              <a:spcBef>
                <a:spcPts val="0"/>
              </a:spcBef>
              <a:spcAft>
                <a:spcPts val="400"/>
              </a:spcAft>
              <a:defRPr sz="1500">
                <a:solidFill>
                  <a:srgbClr val="232B36"/>
                </a:solidFill>
              </a:defRPr>
            </a:pPr>
            <a:endParaRPr sz="500" b="0" i="0" dirty="0">
              <a:solidFill>
                <a:srgbClr val="24313F"/>
              </a:solidFill>
              <a:latin typeface="Aptos"/>
            </a:endParaRPr>
          </a:p>
          <a:p>
            <a:pPr>
              <a:spcBef>
                <a:spcPts val="0"/>
              </a:spcBef>
              <a:spcAft>
                <a:spcPts val="400"/>
              </a:spcAft>
              <a:defRPr sz="1500">
                <a:solidFill>
                  <a:srgbClr val="232B36"/>
                </a:solidFill>
              </a:defRPr>
            </a:pPr>
            <a:r>
              <a:rPr sz="2000" b="1" i="0" dirty="0">
                <a:solidFill>
                  <a:srgbClr val="17273A"/>
                </a:solidFill>
                <a:latin typeface="Aptos"/>
              </a:rPr>
              <a:t>Team ID - </a:t>
            </a:r>
            <a:r>
              <a:rPr sz="2000" b="0" i="0" dirty="0">
                <a:solidFill>
                  <a:srgbClr val="24313F"/>
                </a:solidFill>
                <a:latin typeface="Aptos"/>
              </a:rPr>
              <a:t>[Registered Team ID]</a:t>
            </a:r>
            <a:endParaRPr lang="en-US" sz="2000" b="0" i="0" dirty="0">
              <a:solidFill>
                <a:srgbClr val="24313F"/>
              </a:solidFill>
              <a:latin typeface="Aptos"/>
            </a:endParaRPr>
          </a:p>
          <a:p>
            <a:pPr>
              <a:spcBef>
                <a:spcPts val="0"/>
              </a:spcBef>
              <a:spcAft>
                <a:spcPts val="400"/>
              </a:spcAft>
              <a:defRPr sz="1500">
                <a:solidFill>
                  <a:srgbClr val="232B36"/>
                </a:solidFill>
              </a:defRPr>
            </a:pPr>
            <a:endParaRPr sz="500" b="0" i="0" dirty="0">
              <a:solidFill>
                <a:srgbClr val="24313F"/>
              </a:solidFill>
              <a:latin typeface="Aptos"/>
            </a:endParaRPr>
          </a:p>
          <a:p>
            <a:pPr>
              <a:spcBef>
                <a:spcPts val="0"/>
              </a:spcBef>
              <a:spcAft>
                <a:spcPts val="400"/>
              </a:spcAft>
              <a:defRPr sz="1500">
                <a:solidFill>
                  <a:srgbClr val="232B36"/>
                </a:solidFill>
              </a:defRPr>
            </a:pPr>
            <a:r>
              <a:rPr sz="2000" b="1" i="0" dirty="0">
                <a:solidFill>
                  <a:srgbClr val="17273A"/>
                </a:solidFill>
                <a:latin typeface="Aptos"/>
              </a:rPr>
              <a:t>Team Name (Registered on portal) - </a:t>
            </a:r>
            <a:r>
              <a:rPr sz="2000" b="0" i="0" dirty="0" err="1">
                <a:solidFill>
                  <a:srgbClr val="24313F"/>
                </a:solidFill>
                <a:latin typeface="Aptos"/>
              </a:rPr>
              <a:t>TerraVista_iitrpr</a:t>
            </a:r>
            <a:endParaRPr lang="en-US" sz="2000" b="0" i="0" dirty="0">
              <a:solidFill>
                <a:srgbClr val="24313F"/>
              </a:solidFill>
              <a:latin typeface="Aptos"/>
            </a:endParaRPr>
          </a:p>
          <a:p>
            <a:pPr>
              <a:spcBef>
                <a:spcPts val="0"/>
              </a:spcBef>
              <a:spcAft>
                <a:spcPts val="400"/>
              </a:spcAft>
              <a:defRPr sz="1500">
                <a:solidFill>
                  <a:srgbClr val="232B36"/>
                </a:solidFill>
              </a:defRPr>
            </a:pPr>
            <a:endParaRPr sz="500" b="0" i="0" dirty="0">
              <a:solidFill>
                <a:srgbClr val="24313F"/>
              </a:solidFill>
              <a:latin typeface="Aptos"/>
            </a:endParaRPr>
          </a:p>
          <a:p>
            <a:pPr>
              <a:spcBef>
                <a:spcPts val="0"/>
              </a:spcBef>
              <a:spcAft>
                <a:spcPts val="400"/>
              </a:spcAft>
              <a:defRPr sz="1500">
                <a:solidFill>
                  <a:srgbClr val="232B36"/>
                </a:solidFill>
              </a:defRPr>
            </a:pPr>
            <a:r>
              <a:rPr sz="2000" b="1" i="0" dirty="0">
                <a:solidFill>
                  <a:srgbClr val="17273A"/>
                </a:solidFill>
                <a:latin typeface="Aptos"/>
              </a:rPr>
              <a:t>Idea Title - </a:t>
            </a:r>
            <a:r>
              <a:rPr sz="2000" b="0" i="0" dirty="0" err="1">
                <a:solidFill>
                  <a:srgbClr val="24313F"/>
                </a:solidFill>
                <a:latin typeface="Aptos"/>
              </a:rPr>
              <a:t>DepthWizard</a:t>
            </a:r>
            <a:endParaRPr sz="2000" b="0" i="0" dirty="0">
              <a:solidFill>
                <a:srgbClr val="24313F"/>
              </a:solidFill>
              <a:latin typeface="Aptos"/>
            </a:endParaRPr>
          </a:p>
        </p:txBody>
      </p:sp>
      <p:pic>
        <p:nvPicPr>
          <p:cNvPr id="38" name="Picture 37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1366" y="6297"/>
            <a:ext cx="2209120" cy="11228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93" name="Rounded Rectangle 15392"/>
          <p:cNvSpPr/>
          <p:nvPr/>
        </p:nvSpPr>
        <p:spPr>
          <a:xfrm>
            <a:off x="6108192" y="2724912"/>
            <a:ext cx="5440680" cy="181965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5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5389" name="Rounded Rectangle 15388"/>
          <p:cNvSpPr/>
          <p:nvPr/>
        </p:nvSpPr>
        <p:spPr>
          <a:xfrm>
            <a:off x="594360" y="2715768"/>
            <a:ext cx="5321808" cy="18288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5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 wrap="square" lIns="38100" tIns="19050" rIns="38100" bIns="19050" anchor="ctr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2500" b="1" i="0" dirty="0">
                <a:solidFill>
                  <a:srgbClr val="17273A"/>
                </a:solidFill>
                <a:latin typeface="Aptos Display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lIns="38100" tIns="19050" rIns="38100" bIns="1905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5362" name="TextBox 15361"/>
          <p:cNvSpPr txBox="1"/>
          <p:nvPr/>
        </p:nvSpPr>
        <p:spPr>
          <a:xfrm>
            <a:off x="502920" y="1087298"/>
            <a:ext cx="11064240" cy="330860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30" b="1">
                <a:solidFill>
                  <a:srgbClr val="152742"/>
                </a:solidFill>
              </a:defRPr>
            </a:pPr>
            <a:r>
              <a:rPr sz="1900" b="1" i="0" dirty="0" err="1">
                <a:solidFill>
                  <a:srgbClr val="17273A"/>
                </a:solidFill>
                <a:latin typeface="Aptos"/>
              </a:rPr>
              <a:t>DepthWizard: One Satellite Image → 3D Heights You Can Fly Through and Check</a:t>
            </a:r>
          </a:p>
        </p:txBody>
      </p:sp>
      <p:sp>
        <p:nvSpPr>
          <p:cNvPr id="15363" name="Rounded Rectangle 15362"/>
          <p:cNvSpPr/>
          <p:nvPr/>
        </p:nvSpPr>
        <p:spPr>
          <a:xfrm>
            <a:off x="502920" y="1572768"/>
            <a:ext cx="2157984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0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5364" name="Rounded Rectangle 15363"/>
          <p:cNvSpPr/>
          <p:nvPr/>
        </p:nvSpPr>
        <p:spPr>
          <a:xfrm>
            <a:off x="502920" y="1572768"/>
            <a:ext cx="2157984" cy="283464"/>
          </a:xfrm>
          <a:prstGeom prst="roundRect">
            <a:avLst/>
          </a:prstGeom>
          <a:solidFill>
            <a:srgbClr val="2068AA"/>
          </a:solidFill>
          <a:ln w="12700">
            <a:solidFill>
              <a:srgbClr val="20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5365" name="TextBox 15364"/>
          <p:cNvSpPr txBox="1"/>
          <p:nvPr/>
        </p:nvSpPr>
        <p:spPr>
          <a:xfrm>
            <a:off x="594360" y="1600200"/>
            <a:ext cx="1975103" cy="228600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20" b="1">
                <a:solidFill>
                  <a:srgbClr val="FFFFFF"/>
                </a:solidFill>
              </a:defRPr>
            </a:pPr>
            <a:r>
              <a:rPr sz="1280" b="1" i="0">
                <a:solidFill>
                  <a:srgbClr val="FFFFFF"/>
                </a:solidFill>
                <a:latin typeface="Aptos"/>
              </a:rPr>
              <a:t>INPUT</a:t>
            </a:r>
          </a:p>
        </p:txBody>
      </p:sp>
      <p:sp>
        <p:nvSpPr>
          <p:cNvPr id="15366" name="TextBox 15365"/>
          <p:cNvSpPr txBox="1"/>
          <p:nvPr/>
        </p:nvSpPr>
        <p:spPr>
          <a:xfrm>
            <a:off x="566928" y="1938528"/>
            <a:ext cx="2029968" cy="393192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90" b="1">
                <a:solidFill>
                  <a:srgbClr val="232B36"/>
                </a:solidFill>
              </a:defRPr>
            </a:pPr>
            <a:r>
              <a:rPr sz="1340" b="1" i="0">
                <a:solidFill>
                  <a:srgbClr val="24313F"/>
                </a:solidFill>
                <a:latin typeface="Aptos"/>
              </a:rPr>
              <a:t>PNG / JPG / TIFF / GeoTIFF</a:t>
            </a:r>
          </a:p>
        </p:txBody>
      </p:sp>
      <p:sp>
        <p:nvSpPr>
          <p:cNvPr id="15367" name="Right Arrow 15366"/>
          <p:cNvSpPr/>
          <p:nvPr/>
        </p:nvSpPr>
        <p:spPr>
          <a:xfrm>
            <a:off x="2688336" y="1847088"/>
            <a:ext cx="283464" cy="292608"/>
          </a:xfrm>
          <a:prstGeom prst="rightArrow">
            <a:avLst/>
          </a:prstGeom>
          <a:solidFill>
            <a:srgbClr val="5C6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5368" name="Rounded Rectangle 15367"/>
          <p:cNvSpPr/>
          <p:nvPr/>
        </p:nvSpPr>
        <p:spPr>
          <a:xfrm>
            <a:off x="2807208" y="1572768"/>
            <a:ext cx="2157984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28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5369" name="Rounded Rectangle 15368"/>
          <p:cNvSpPr/>
          <p:nvPr/>
        </p:nvSpPr>
        <p:spPr>
          <a:xfrm>
            <a:off x="2807208" y="1572768"/>
            <a:ext cx="2157984" cy="283464"/>
          </a:xfrm>
          <a:prstGeom prst="roundRect">
            <a:avLst/>
          </a:prstGeom>
          <a:solidFill>
            <a:srgbClr val="228989"/>
          </a:solidFill>
          <a:ln w="12700">
            <a:solidFill>
              <a:srgbClr val="228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5370" name="TextBox 15369"/>
          <p:cNvSpPr txBox="1"/>
          <p:nvPr/>
        </p:nvSpPr>
        <p:spPr>
          <a:xfrm>
            <a:off x="2898648" y="1600200"/>
            <a:ext cx="1975103" cy="228600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20" b="1">
                <a:solidFill>
                  <a:srgbClr val="FFFFFF"/>
                </a:solidFill>
              </a:defRPr>
            </a:pPr>
            <a:r>
              <a:rPr sz="1280" b="1" i="0">
                <a:solidFill>
                  <a:srgbClr val="FFFFFF"/>
                </a:solidFill>
                <a:latin typeface="Aptos"/>
              </a:rPr>
              <a:t>AI HEIGHT</a:t>
            </a:r>
          </a:p>
        </p:txBody>
      </p:sp>
      <p:sp>
        <p:nvSpPr>
          <p:cNvPr id="15371" name="TextBox 15370"/>
          <p:cNvSpPr txBox="1"/>
          <p:nvPr/>
        </p:nvSpPr>
        <p:spPr>
          <a:xfrm>
            <a:off x="2871216" y="1938528"/>
            <a:ext cx="2029968" cy="393192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90" b="1">
                <a:solidFill>
                  <a:srgbClr val="232B36"/>
                </a:solidFill>
              </a:defRPr>
            </a:pPr>
            <a:r>
              <a:rPr sz="1340" b="1" i="0">
                <a:solidFill>
                  <a:srgbClr val="24313F"/>
                </a:solidFill>
                <a:latin typeface="Aptos"/>
              </a:rPr>
              <a:t>Height above ground, every pixel</a:t>
            </a:r>
          </a:p>
        </p:txBody>
      </p:sp>
      <p:sp>
        <p:nvSpPr>
          <p:cNvPr id="15372" name="Right Arrow 15371"/>
          <p:cNvSpPr/>
          <p:nvPr/>
        </p:nvSpPr>
        <p:spPr>
          <a:xfrm>
            <a:off x="4992624" y="1847088"/>
            <a:ext cx="283464" cy="292608"/>
          </a:xfrm>
          <a:prstGeom prst="rightArrow">
            <a:avLst/>
          </a:prstGeom>
          <a:solidFill>
            <a:srgbClr val="5C6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5373" name="Rounded Rectangle 15372"/>
          <p:cNvSpPr/>
          <p:nvPr/>
        </p:nvSpPr>
        <p:spPr>
          <a:xfrm>
            <a:off x="5111496" y="1572768"/>
            <a:ext cx="2157984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58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5374" name="Rounded Rectangle 15373"/>
          <p:cNvSpPr/>
          <p:nvPr/>
        </p:nvSpPr>
        <p:spPr>
          <a:xfrm>
            <a:off x="5111496" y="1572768"/>
            <a:ext cx="2157984" cy="283464"/>
          </a:xfrm>
          <a:prstGeom prst="roundRect">
            <a:avLst/>
          </a:prstGeom>
          <a:solidFill>
            <a:srgbClr val="45885C"/>
          </a:solidFill>
          <a:ln w="12700">
            <a:solidFill>
              <a:srgbClr val="458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5375" name="TextBox 15374"/>
          <p:cNvSpPr txBox="1"/>
          <p:nvPr/>
        </p:nvSpPr>
        <p:spPr>
          <a:xfrm>
            <a:off x="5202936" y="1600200"/>
            <a:ext cx="1975103" cy="228600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20" b="1">
                <a:solidFill>
                  <a:srgbClr val="FFFFFF"/>
                </a:solidFill>
              </a:defRPr>
            </a:pPr>
            <a:r>
              <a:rPr sz="1280" b="1" i="0">
                <a:solidFill>
                  <a:srgbClr val="FFFFFF"/>
                </a:solidFill>
                <a:latin typeface="Aptos"/>
              </a:rPr>
              <a:t>CALIBRATE</a:t>
            </a:r>
          </a:p>
        </p:txBody>
      </p:sp>
      <p:sp>
        <p:nvSpPr>
          <p:cNvPr id="15376" name="TextBox 15375"/>
          <p:cNvSpPr txBox="1"/>
          <p:nvPr/>
        </p:nvSpPr>
        <p:spPr>
          <a:xfrm>
            <a:off x="5175504" y="1938528"/>
            <a:ext cx="2029968" cy="393192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90" b="1">
                <a:solidFill>
                  <a:srgbClr val="232B36"/>
                </a:solidFill>
              </a:defRPr>
            </a:pPr>
            <a:r>
              <a:rPr sz="1340" b="1" i="0">
                <a:solidFill>
                  <a:srgbClr val="24313F"/>
                </a:solidFill>
                <a:latin typeface="Aptos"/>
              </a:rPr>
              <a:t>Cleaned 30 m DEM + ICESat-2 → metres</a:t>
            </a:r>
          </a:p>
        </p:txBody>
      </p:sp>
      <p:sp>
        <p:nvSpPr>
          <p:cNvPr id="15377" name="Right Arrow 15376"/>
          <p:cNvSpPr/>
          <p:nvPr/>
        </p:nvSpPr>
        <p:spPr>
          <a:xfrm>
            <a:off x="7296912" y="1847088"/>
            <a:ext cx="283464" cy="292608"/>
          </a:xfrm>
          <a:prstGeom prst="rightArrow">
            <a:avLst/>
          </a:prstGeom>
          <a:solidFill>
            <a:srgbClr val="5C6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5378" name="Rounded Rectangle 15377"/>
          <p:cNvSpPr/>
          <p:nvPr/>
        </p:nvSpPr>
        <p:spPr>
          <a:xfrm>
            <a:off x="7415783" y="1572768"/>
            <a:ext cx="2157984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0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5379" name="Rounded Rectangle 15378"/>
          <p:cNvSpPr/>
          <p:nvPr/>
        </p:nvSpPr>
        <p:spPr>
          <a:xfrm>
            <a:off x="7415783" y="1572768"/>
            <a:ext cx="2157984" cy="283464"/>
          </a:xfrm>
          <a:prstGeom prst="roundRect">
            <a:avLst/>
          </a:prstGeom>
          <a:solidFill>
            <a:srgbClr val="2068AA"/>
          </a:solidFill>
          <a:ln w="12700">
            <a:solidFill>
              <a:srgbClr val="20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5380" name="TextBox 15379"/>
          <p:cNvSpPr txBox="1"/>
          <p:nvPr/>
        </p:nvSpPr>
        <p:spPr>
          <a:xfrm>
            <a:off x="7507223" y="1600200"/>
            <a:ext cx="1975103" cy="228600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20" b="1">
                <a:solidFill>
                  <a:srgbClr val="FFFFFF"/>
                </a:solidFill>
              </a:defRPr>
            </a:pPr>
            <a:r>
              <a:rPr sz="1280" b="1" i="0">
                <a:solidFill>
                  <a:srgbClr val="FFFFFF"/>
                </a:solidFill>
                <a:latin typeface="Aptos"/>
              </a:rPr>
              <a:t>VERIFY</a:t>
            </a:r>
          </a:p>
        </p:txBody>
      </p:sp>
      <p:sp>
        <p:nvSpPr>
          <p:cNvPr id="15381" name="TextBox 15380"/>
          <p:cNvSpPr txBox="1"/>
          <p:nvPr/>
        </p:nvSpPr>
        <p:spPr>
          <a:xfrm>
            <a:off x="7479792" y="1938528"/>
            <a:ext cx="2029968" cy="393192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90" b="1">
                <a:solidFill>
                  <a:srgbClr val="232B36"/>
                </a:solidFill>
              </a:defRPr>
            </a:pPr>
            <a:r>
              <a:rPr sz="1340" b="1" i="0">
                <a:solidFill>
                  <a:srgbClr val="24313F"/>
                </a:solidFill>
                <a:latin typeface="Aptos"/>
              </a:rPr>
              <a:t>Held-out laser check + click-to-measure</a:t>
            </a:r>
          </a:p>
        </p:txBody>
      </p:sp>
      <p:sp>
        <p:nvSpPr>
          <p:cNvPr id="15382" name="Right Arrow 15381"/>
          <p:cNvSpPr/>
          <p:nvPr/>
        </p:nvSpPr>
        <p:spPr>
          <a:xfrm>
            <a:off x="9601200" y="1847088"/>
            <a:ext cx="283464" cy="292608"/>
          </a:xfrm>
          <a:prstGeom prst="rightArrow">
            <a:avLst/>
          </a:prstGeom>
          <a:solidFill>
            <a:srgbClr val="5C6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5383" name="Rounded Rectangle 15382"/>
          <p:cNvSpPr/>
          <p:nvPr/>
        </p:nvSpPr>
        <p:spPr>
          <a:xfrm>
            <a:off x="9720072" y="1572768"/>
            <a:ext cx="2157984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74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5384" name="Rounded Rectangle 15383"/>
          <p:cNvSpPr/>
          <p:nvPr/>
        </p:nvSpPr>
        <p:spPr>
          <a:xfrm>
            <a:off x="9720072" y="1572768"/>
            <a:ext cx="2157984" cy="283464"/>
          </a:xfrm>
          <a:prstGeom prst="roundRect">
            <a:avLst/>
          </a:prstGeom>
          <a:solidFill>
            <a:srgbClr val="D2742D"/>
          </a:solidFill>
          <a:ln w="12700">
            <a:solidFill>
              <a:srgbClr val="D274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5385" name="TextBox 15384"/>
          <p:cNvSpPr txBox="1"/>
          <p:nvPr/>
        </p:nvSpPr>
        <p:spPr>
          <a:xfrm>
            <a:off x="9811511" y="1600200"/>
            <a:ext cx="1975103" cy="228600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20" b="1">
                <a:solidFill>
                  <a:srgbClr val="FFFFFF"/>
                </a:solidFill>
              </a:defRPr>
            </a:pPr>
            <a:r>
              <a:rPr sz="1280" b="1" i="0">
                <a:solidFill>
                  <a:srgbClr val="FFFFFF"/>
                </a:solidFill>
                <a:latin typeface="Aptos"/>
              </a:rPr>
              <a:t>FLY &amp; ACT</a:t>
            </a:r>
          </a:p>
        </p:txBody>
      </p:sp>
      <p:sp>
        <p:nvSpPr>
          <p:cNvPr id="15386" name="TextBox 15385"/>
          <p:cNvSpPr txBox="1"/>
          <p:nvPr/>
        </p:nvSpPr>
        <p:spPr>
          <a:xfrm>
            <a:off x="9784080" y="1938528"/>
            <a:ext cx="2029968" cy="393192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90" b="1">
                <a:solidFill>
                  <a:srgbClr val="232B36"/>
                </a:solidFill>
              </a:defRPr>
            </a:pPr>
            <a:r>
              <a:rPr sz="1340" b="1" i="0">
                <a:solidFill>
                  <a:srgbClr val="24313F"/>
                </a:solidFill>
                <a:latin typeface="Aptos"/>
              </a:rPr>
              <a:t>3D flythrough + flood / slope tools</a:t>
            </a:r>
          </a:p>
        </p:txBody>
      </p:sp>
      <p:sp>
        <p:nvSpPr>
          <p:cNvPr id="15387" name="Rounded Rectangle 15386"/>
          <p:cNvSpPr/>
          <p:nvPr/>
        </p:nvSpPr>
        <p:spPr>
          <a:xfrm>
            <a:off x="594360" y="2688336"/>
            <a:ext cx="5321808" cy="301752"/>
          </a:xfrm>
          <a:prstGeom prst="roundRect">
            <a:avLst/>
          </a:prstGeom>
          <a:solidFill>
            <a:srgbClr val="2068AA"/>
          </a:solidFill>
          <a:ln w="12700">
            <a:solidFill>
              <a:srgbClr val="20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5388" name="TextBox 15387"/>
          <p:cNvSpPr txBox="1"/>
          <p:nvPr/>
        </p:nvSpPr>
        <p:spPr>
          <a:xfrm>
            <a:off x="685800" y="2715768"/>
            <a:ext cx="5138928" cy="246888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20" b="1">
                <a:solidFill>
                  <a:srgbClr val="FFFFFF"/>
                </a:solidFill>
              </a:defRPr>
            </a:pPr>
            <a:r>
              <a:rPr sz="1280" b="1" i="0">
                <a:solidFill>
                  <a:srgbClr val="FFFFFF"/>
                </a:solidFill>
                <a:latin typeface="Aptos"/>
              </a:rPr>
              <a:t>HOW IT MEETS THE PROBLEM STATEMENT</a:t>
            </a:r>
          </a:p>
        </p:txBody>
      </p:sp>
      <p:sp>
        <p:nvSpPr>
          <p:cNvPr id="15390" name="TextBox 15389"/>
          <p:cNvSpPr txBox="1"/>
          <p:nvPr/>
        </p:nvSpPr>
        <p:spPr>
          <a:xfrm>
            <a:off x="795528" y="3235960"/>
            <a:ext cx="4919472" cy="1005840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50"/>
              </a:spcAft>
              <a:defRPr sz="1055">
                <a:solidFill>
                  <a:srgbClr val="232B36"/>
                </a:solidFill>
              </a:defRPr>
            </a:pPr>
            <a:r>
              <a:rPr sz="1190" dirty="0"/>
              <a:t>✓ One optical image in: no stereo pair, LiDAR or InSAR needed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50"/>
              </a:spcAft>
              <a:defRPr sz="1055">
                <a:solidFill>
                  <a:srgbClr val="232B36"/>
                </a:solidFill>
              </a:defRPr>
            </a:pPr>
            <a:r>
              <a:rPr sz="1190" dirty="0"/>
              <a:t>✓ PNG/JPG → relative DSM · GeoTIFF → absolute DSM in metres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50"/>
              </a:spcAft>
              <a:defRPr sz="1055">
                <a:solidFill>
                  <a:srgbClr val="232B36"/>
                </a:solidFill>
              </a:defRPr>
            </a:pPr>
            <a:r>
              <a:rPr sz="1190" dirty="0"/>
              <a:t>✓ Upload → auto-process → fly through the reconstructed 3D terrain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50"/>
              </a:spcAft>
              <a:defRPr sz="1055">
                <a:solidFill>
                  <a:srgbClr val="232B36"/>
                </a:solidFill>
              </a:defRPr>
            </a:pPr>
            <a:r>
              <a:rPr sz="1190" dirty="0"/>
              <a:t>✓ Click any building: height with a 90% interval (too narrow above 10 m)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50"/>
              </a:spcAft>
              <a:defRPr sz="1055">
                <a:solidFill>
                  <a:srgbClr val="232B36"/>
                </a:solidFill>
              </a:defRPr>
            </a:pPr>
            <a:r>
              <a:rPr sz="1190" dirty="0"/>
              <a:t>✓ Working prototype: runs offline on an 8 GB laptop; GeoTIFF + GLB export</a:t>
            </a:r>
          </a:p>
        </p:txBody>
      </p:sp>
      <p:sp>
        <p:nvSpPr>
          <p:cNvPr id="15391" name="Rounded Rectangle 15390"/>
          <p:cNvSpPr/>
          <p:nvPr/>
        </p:nvSpPr>
        <p:spPr>
          <a:xfrm>
            <a:off x="6108192" y="2688336"/>
            <a:ext cx="5440680" cy="301752"/>
          </a:xfrm>
          <a:prstGeom prst="roundRect">
            <a:avLst/>
          </a:prstGeom>
          <a:solidFill>
            <a:srgbClr val="D2742D"/>
          </a:solidFill>
          <a:ln w="12700">
            <a:solidFill>
              <a:srgbClr val="D274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5392" name="TextBox 15391"/>
          <p:cNvSpPr txBox="1"/>
          <p:nvPr/>
        </p:nvSpPr>
        <p:spPr>
          <a:xfrm>
            <a:off x="6199631" y="2715768"/>
            <a:ext cx="5257800" cy="246888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20" b="1">
                <a:solidFill>
                  <a:srgbClr val="FFFFFF"/>
                </a:solidFill>
              </a:defRPr>
            </a:pPr>
            <a:r>
              <a:rPr sz="1280" b="1" i="0">
                <a:solidFill>
                  <a:srgbClr val="FFFFFF"/>
                </a:solidFill>
                <a:latin typeface="Aptos"/>
              </a:rPr>
              <a:t>WHY DEPTHWIZARD IS DIFFERENT</a:t>
            </a:r>
          </a:p>
        </p:txBody>
      </p:sp>
      <p:sp>
        <p:nvSpPr>
          <p:cNvPr id="15394" name="TextBox 15393"/>
          <p:cNvSpPr txBox="1"/>
          <p:nvPr/>
        </p:nvSpPr>
        <p:spPr>
          <a:xfrm>
            <a:off x="6309360" y="3205480"/>
            <a:ext cx="5029200" cy="1005840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50"/>
              </a:spcAft>
              <a:defRPr sz="1055">
                <a:solidFill>
                  <a:srgbClr val="232B36"/>
                </a:solidFill>
              </a:defRPr>
            </a:pPr>
            <a:r>
              <a:rPr sz="1190" dirty="0"/>
              <a:t>• Published RS3DAda model: zero-shot on GAMUS, paper reproduced on ATL / ARG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50"/>
              </a:spcAft>
              <a:defRPr sz="1055">
                <a:solidFill>
                  <a:srgbClr val="232B36"/>
                </a:solidFill>
              </a:defRPr>
            </a:pPr>
            <a:r>
              <a:rPr sz="1190" dirty="0"/>
              <a:t>• Numbers with a baseline or 95% CI: GAMUS MAE 3.90 m vs 5.65 m flat ground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50"/>
              </a:spcAft>
              <a:defRPr sz="1055">
                <a:solidFill>
                  <a:srgbClr val="232B36"/>
                </a:solidFill>
              </a:defRPr>
            </a:pPr>
            <a:r>
              <a:rPr sz="1190" dirty="0"/>
              <a:t>• Laser check that is not circular: ICESat-2 passes split into levelling / checking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50"/>
              </a:spcAft>
              <a:defRPr sz="1055">
                <a:solidFill>
                  <a:srgbClr val="232B36"/>
                </a:solidFill>
              </a:defRPr>
            </a:pPr>
            <a:r>
              <a:rPr sz="1190" dirty="0"/>
              <a:t>• Trust layer: 90% building interval (misses tall blocks) + consistency score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50"/>
              </a:spcAft>
              <a:defRPr sz="1055">
                <a:solidFill>
                  <a:srgbClr val="232B36"/>
                </a:solidFill>
              </a:defRPr>
            </a:pPr>
            <a:r>
              <a:rPr sz="1190" dirty="0"/>
              <a:t>• Disaster scenarios on top: flood depth, routes, relief sites, slope classes</a:t>
            </a:r>
          </a:p>
        </p:txBody>
      </p:sp>
      <p:sp>
        <p:nvSpPr>
          <p:cNvPr id="15395" name="Rounded Rectangle 15394"/>
          <p:cNvSpPr/>
          <p:nvPr/>
        </p:nvSpPr>
        <p:spPr>
          <a:xfrm>
            <a:off x="594360" y="4800600"/>
            <a:ext cx="10954512" cy="301752"/>
          </a:xfrm>
          <a:prstGeom prst="roundRect">
            <a:avLst/>
          </a:prstGeom>
          <a:solidFill>
            <a:srgbClr val="228989"/>
          </a:solidFill>
          <a:ln w="12700">
            <a:solidFill>
              <a:srgbClr val="228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5396" name="TextBox 15395"/>
          <p:cNvSpPr txBox="1"/>
          <p:nvPr/>
        </p:nvSpPr>
        <p:spPr>
          <a:xfrm>
            <a:off x="685800" y="4828032"/>
            <a:ext cx="10771632" cy="246888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20" b="1">
                <a:solidFill>
                  <a:srgbClr val="FFFFFF"/>
                </a:solidFill>
              </a:defRPr>
            </a:pPr>
            <a:r>
              <a:rPr sz="1280" b="1" i="0">
                <a:solidFill>
                  <a:srgbClr val="FFFFFF"/>
                </a:solidFill>
                <a:latin typeface="Aptos"/>
              </a:rPr>
              <a:t>INNOVATION &amp; UNIQUENESS</a:t>
            </a:r>
          </a:p>
        </p:txBody>
      </p:sp>
      <p:sp>
        <p:nvSpPr>
          <p:cNvPr id="15397" name="Rounded Rectangle 15396"/>
          <p:cNvSpPr/>
          <p:nvPr/>
        </p:nvSpPr>
        <p:spPr>
          <a:xfrm>
            <a:off x="594360" y="5193792"/>
            <a:ext cx="2578608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0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5398" name="TextBox 15397"/>
          <p:cNvSpPr txBox="1"/>
          <p:nvPr/>
        </p:nvSpPr>
        <p:spPr>
          <a:xfrm>
            <a:off x="667512" y="5349240"/>
            <a:ext cx="2432304" cy="237744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>
              <a:spcBef>
                <a:spcPts val="0"/>
              </a:spcBef>
            </a:pPr>
            <a:r>
              <a:rPr sz="1230" b="1"/>
              <a:t>Remote-sensing height AI</a:t>
            </a:r>
          </a:p>
        </p:txBody>
      </p:sp>
      <p:sp>
        <p:nvSpPr>
          <p:cNvPr id="15399" name="Rounded Rectangle 15398"/>
          <p:cNvSpPr/>
          <p:nvPr/>
        </p:nvSpPr>
        <p:spPr>
          <a:xfrm>
            <a:off x="3355848" y="5193792"/>
            <a:ext cx="2578608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28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5400" name="TextBox 15399"/>
          <p:cNvSpPr txBox="1"/>
          <p:nvPr/>
        </p:nvSpPr>
        <p:spPr>
          <a:xfrm>
            <a:off x="3429000" y="5349240"/>
            <a:ext cx="2432304" cy="237744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>
              <a:spcBef>
                <a:spcPts val="0"/>
              </a:spcBef>
            </a:pPr>
            <a:r>
              <a:rPr sz="1230" b="1"/>
              <a:t>Real metres, laser-levelled</a:t>
            </a:r>
          </a:p>
        </p:txBody>
      </p:sp>
      <p:sp>
        <p:nvSpPr>
          <p:cNvPr id="15401" name="Rounded Rectangle 15400"/>
          <p:cNvSpPr/>
          <p:nvPr/>
        </p:nvSpPr>
        <p:spPr>
          <a:xfrm>
            <a:off x="6117336" y="5193792"/>
            <a:ext cx="2578608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58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5402" name="TextBox 15401"/>
          <p:cNvSpPr txBox="1"/>
          <p:nvPr/>
        </p:nvSpPr>
        <p:spPr>
          <a:xfrm>
            <a:off x="6190488" y="5349240"/>
            <a:ext cx="2432304" cy="237744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>
              <a:spcBef>
                <a:spcPts val="0"/>
              </a:spcBef>
            </a:pPr>
            <a:r>
              <a:rPr sz="1230" b="1"/>
              <a:t>Checked vs LiDAR + 2 lasers</a:t>
            </a:r>
          </a:p>
        </p:txBody>
      </p:sp>
      <p:sp>
        <p:nvSpPr>
          <p:cNvPr id="15403" name="Rounded Rectangle 15402"/>
          <p:cNvSpPr/>
          <p:nvPr/>
        </p:nvSpPr>
        <p:spPr>
          <a:xfrm>
            <a:off x="8878824" y="5193792"/>
            <a:ext cx="2578608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74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5404" name="TextBox 15403"/>
          <p:cNvSpPr txBox="1"/>
          <p:nvPr/>
        </p:nvSpPr>
        <p:spPr>
          <a:xfrm>
            <a:off x="8951976" y="5349240"/>
            <a:ext cx="2432304" cy="237744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>
              <a:spcBef>
                <a:spcPts val="0"/>
              </a:spcBef>
            </a:pPr>
            <a:r>
              <a:rPr sz="1230" b="1"/>
              <a:t>Bird's-eye → street flythrough</a:t>
            </a:r>
          </a:p>
        </p:txBody>
      </p:sp>
      <p:pic>
        <p:nvPicPr>
          <p:cNvPr id="15406" name="Picture 15405" descr="terravista_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" y="356616"/>
            <a:ext cx="347472" cy="347472"/>
          </a:xfrm>
          <a:prstGeom prst="rect">
            <a:avLst/>
          </a:prstGeom>
        </p:spPr>
      </p:pic>
      <p:sp>
        <p:nvSpPr>
          <p:cNvPr id="15407" name="TextBox 15406"/>
          <p:cNvSpPr txBox="1"/>
          <p:nvPr/>
        </p:nvSpPr>
        <p:spPr>
          <a:xfrm>
            <a:off x="740664" y="352044"/>
            <a:ext cx="91440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7273A"/>
                </a:solidFill>
                <a:latin typeface="Aptos"/>
              </a:rPr>
              <a:t>TerraVista</a:t>
            </a:r>
          </a:p>
        </p:txBody>
      </p:sp>
      <p:pic>
        <p:nvPicPr>
          <p:cNvPr id="15408" name="Picture 15407" descr="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41366" y="57097"/>
            <a:ext cx="2209120" cy="112286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 wrap="square" lIns="38100" tIns="19050" rIns="38100" bIns="19050" anchor="ctr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500" b="1" i="0" dirty="0">
                <a:solidFill>
                  <a:srgbClr val="17273A"/>
                </a:solidFill>
                <a:latin typeface="Aptos Display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lIns="38100" tIns="19050" rIns="38100" bIns="1905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7410" name="TextBox 17409"/>
          <p:cNvSpPr txBox="1"/>
          <p:nvPr/>
        </p:nvSpPr>
        <p:spPr>
          <a:xfrm>
            <a:off x="634115" y="1078992"/>
            <a:ext cx="10972800" cy="329184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30" b="1">
                <a:solidFill>
                  <a:srgbClr val="152742"/>
                </a:solidFill>
              </a:defRPr>
            </a:pPr>
            <a:r>
              <a:rPr sz="1900" b="1" i="0">
                <a:solidFill>
                  <a:srgbClr val="17273A"/>
                </a:solidFill>
                <a:latin typeface="Aptos"/>
              </a:rPr>
              <a:t>Pipeline: Pixels → Height → Metres → Checked 3D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594360" y="1600200"/>
            <a:ext cx="1499616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068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7412" name="Rounded Rectangle 17411"/>
          <p:cNvSpPr/>
          <p:nvPr/>
        </p:nvSpPr>
        <p:spPr>
          <a:xfrm>
            <a:off x="594360" y="1600200"/>
            <a:ext cx="1499616" cy="265176"/>
          </a:xfrm>
          <a:prstGeom prst="roundRect">
            <a:avLst/>
          </a:prstGeom>
          <a:solidFill>
            <a:srgbClr val="2068AA"/>
          </a:solidFill>
          <a:ln w="12700">
            <a:solidFill>
              <a:srgbClr val="2068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7413" name="TextBox 17412"/>
          <p:cNvSpPr txBox="1"/>
          <p:nvPr/>
        </p:nvSpPr>
        <p:spPr>
          <a:xfrm>
            <a:off x="640080" y="1627632"/>
            <a:ext cx="1408175" cy="210312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20" b="1">
                <a:solidFill>
                  <a:srgbClr val="FFFFFF"/>
                </a:solidFill>
              </a:defRPr>
            </a:pPr>
            <a:r>
              <a:rPr sz="1180" b="1" i="0">
                <a:solidFill>
                  <a:srgbClr val="FFFFFF"/>
                </a:solidFill>
                <a:latin typeface="Aptos"/>
              </a:rPr>
              <a:t>INPUT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640080" y="1901952"/>
            <a:ext cx="1408175" cy="566928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19" b="1">
                <a:solidFill>
                  <a:srgbClr val="232B36"/>
                </a:solidFill>
              </a:defRPr>
            </a:pPr>
            <a:r>
              <a:rPr sz="1000" b="1" i="0" dirty="0">
                <a:solidFill>
                  <a:srgbClr val="24313F"/>
                </a:solidFill>
                <a:latin typeface="Aptos"/>
              </a:rPr>
              <a:t>RGB image (PNG / JPG / TIFF)</a:t>
            </a:r>
          </a:p>
        </p:txBody>
      </p:sp>
      <p:sp>
        <p:nvSpPr>
          <p:cNvPr id="17415" name="Right Arrow 17414"/>
          <p:cNvSpPr/>
          <p:nvPr/>
        </p:nvSpPr>
        <p:spPr>
          <a:xfrm>
            <a:off x="2103120" y="1929384"/>
            <a:ext cx="201168" cy="237744"/>
          </a:xfrm>
          <a:prstGeom prst="rightArrow">
            <a:avLst/>
          </a:prstGeom>
          <a:solidFill>
            <a:srgbClr val="5C6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7416" name="Rounded Rectangle 17415"/>
          <p:cNvSpPr/>
          <p:nvPr/>
        </p:nvSpPr>
        <p:spPr>
          <a:xfrm>
            <a:off x="2313432" y="1600200"/>
            <a:ext cx="1499616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289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7417" name="Rounded Rectangle 17416"/>
          <p:cNvSpPr/>
          <p:nvPr/>
        </p:nvSpPr>
        <p:spPr>
          <a:xfrm>
            <a:off x="2313432" y="1600200"/>
            <a:ext cx="1499616" cy="265176"/>
          </a:xfrm>
          <a:prstGeom prst="roundRect">
            <a:avLst/>
          </a:prstGeom>
          <a:solidFill>
            <a:srgbClr val="228989"/>
          </a:solidFill>
          <a:ln w="12700">
            <a:solidFill>
              <a:srgbClr val="2289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7418" name="TextBox 17417"/>
          <p:cNvSpPr txBox="1"/>
          <p:nvPr/>
        </p:nvSpPr>
        <p:spPr>
          <a:xfrm>
            <a:off x="2359151" y="1627632"/>
            <a:ext cx="1408175" cy="210312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20" b="1">
                <a:solidFill>
                  <a:srgbClr val="FFFFFF"/>
                </a:solidFill>
              </a:defRPr>
            </a:pPr>
            <a:r>
              <a:rPr sz="1180" b="1" i="0">
                <a:solidFill>
                  <a:srgbClr val="FFFFFF"/>
                </a:solidFill>
                <a:latin typeface="Aptos"/>
              </a:rPr>
              <a:t>PREPROCESS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2359151" y="1901952"/>
            <a:ext cx="1408175" cy="566928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19" b="1">
                <a:solidFill>
                  <a:srgbClr val="232B36"/>
                </a:solidFill>
              </a:defRPr>
            </a:pPr>
            <a:r>
              <a:rPr sz="1000" b="1" i="0" dirty="0">
                <a:solidFill>
                  <a:srgbClr val="24313F"/>
                </a:solidFill>
                <a:latin typeface="Aptos"/>
              </a:rPr>
              <a:t>Read GSD + CRS · overlapping 518 px tiles</a:t>
            </a:r>
          </a:p>
        </p:txBody>
      </p:sp>
      <p:sp>
        <p:nvSpPr>
          <p:cNvPr id="17420" name="Right Arrow 17419"/>
          <p:cNvSpPr/>
          <p:nvPr/>
        </p:nvSpPr>
        <p:spPr>
          <a:xfrm>
            <a:off x="3822191" y="1929384"/>
            <a:ext cx="201168" cy="237744"/>
          </a:xfrm>
          <a:prstGeom prst="rightArrow">
            <a:avLst/>
          </a:prstGeom>
          <a:solidFill>
            <a:srgbClr val="5C6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7421" name="Rounded Rectangle 17420"/>
          <p:cNvSpPr/>
          <p:nvPr/>
        </p:nvSpPr>
        <p:spPr>
          <a:xfrm>
            <a:off x="4032504" y="1600200"/>
            <a:ext cx="1499616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58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7422" name="Rounded Rectangle 17421"/>
          <p:cNvSpPr/>
          <p:nvPr/>
        </p:nvSpPr>
        <p:spPr>
          <a:xfrm>
            <a:off x="4032504" y="1600200"/>
            <a:ext cx="1499616" cy="265176"/>
          </a:xfrm>
          <a:prstGeom prst="roundRect">
            <a:avLst/>
          </a:prstGeom>
          <a:solidFill>
            <a:srgbClr val="45885C"/>
          </a:solidFill>
          <a:ln w="12700">
            <a:solidFill>
              <a:srgbClr val="458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7423" name="TextBox 17422"/>
          <p:cNvSpPr txBox="1"/>
          <p:nvPr/>
        </p:nvSpPr>
        <p:spPr>
          <a:xfrm>
            <a:off x="4078224" y="1627632"/>
            <a:ext cx="1408175" cy="210312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normAutofit lnSpcReduction="1000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20" b="1">
                <a:solidFill>
                  <a:srgbClr val="FFFFFF"/>
                </a:solidFill>
              </a:defRPr>
            </a:pPr>
            <a:r>
              <a:rPr sz="1180" b="1" i="0">
                <a:solidFill>
                  <a:srgbClr val="FFFFFF"/>
                </a:solidFill>
                <a:latin typeface="Aptos"/>
              </a:rPr>
              <a:t>AI MODEL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4078224" y="1901952"/>
            <a:ext cx="1408175" cy="566928"/>
          </a:xfrm>
          <a:prstGeom prst="rect">
            <a:avLst/>
          </a:prstGeom>
          <a:noFill/>
        </p:spPr>
        <p:txBody>
          <a:bodyPr wrap="square" lIns="762" tIns="381" rIns="762" bIns="381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919" b="1">
                <a:solidFill>
                  <a:srgbClr val="232B36"/>
                </a:solidFill>
              </a:defRPr>
            </a:pPr>
            <a:r>
              <a:rPr sz="1000" b="1" i="0" dirty="0">
                <a:solidFill>
                  <a:srgbClr val="24313F"/>
                </a:solidFill>
                <a:latin typeface="+mn-lt"/>
              </a:rPr>
              <a:t>RS3DAda (DINOv2 ViT-L + DPT), released weights</a:t>
            </a:r>
          </a:p>
        </p:txBody>
      </p:sp>
      <p:sp>
        <p:nvSpPr>
          <p:cNvPr id="17425" name="Right Arrow 17424"/>
          <p:cNvSpPr/>
          <p:nvPr/>
        </p:nvSpPr>
        <p:spPr>
          <a:xfrm>
            <a:off x="5541264" y="1929384"/>
            <a:ext cx="201168" cy="237744"/>
          </a:xfrm>
          <a:prstGeom prst="rightArrow">
            <a:avLst/>
          </a:prstGeom>
          <a:solidFill>
            <a:srgbClr val="5C6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7426" name="Rounded Rectangle 17425"/>
          <p:cNvSpPr/>
          <p:nvPr/>
        </p:nvSpPr>
        <p:spPr>
          <a:xfrm>
            <a:off x="5751576" y="1600200"/>
            <a:ext cx="1499616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289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7427" name="Rounded Rectangle 17426"/>
          <p:cNvSpPr/>
          <p:nvPr/>
        </p:nvSpPr>
        <p:spPr>
          <a:xfrm>
            <a:off x="5751576" y="1600200"/>
            <a:ext cx="1499616" cy="265176"/>
          </a:xfrm>
          <a:prstGeom prst="roundRect">
            <a:avLst/>
          </a:prstGeom>
          <a:solidFill>
            <a:srgbClr val="228989"/>
          </a:solidFill>
          <a:ln w="12700">
            <a:solidFill>
              <a:srgbClr val="2289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7428" name="TextBox 17427"/>
          <p:cNvSpPr txBox="1"/>
          <p:nvPr/>
        </p:nvSpPr>
        <p:spPr>
          <a:xfrm>
            <a:off x="5797296" y="1627632"/>
            <a:ext cx="1408175" cy="210312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20" b="1">
                <a:solidFill>
                  <a:srgbClr val="FFFFFF"/>
                </a:solidFill>
              </a:defRPr>
            </a:pPr>
            <a:r>
              <a:rPr sz="1180" b="1" i="0">
                <a:solidFill>
                  <a:srgbClr val="FFFFFF"/>
                </a:solidFill>
                <a:latin typeface="Aptos"/>
              </a:rPr>
              <a:t>HEIGHT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5797296" y="1901952"/>
            <a:ext cx="1408175" cy="566928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919" b="1">
                <a:solidFill>
                  <a:srgbClr val="232B36"/>
                </a:solidFill>
              </a:defRPr>
            </a:pPr>
            <a:r>
              <a:rPr sz="1000" dirty="0" err="1"/>
              <a:t>Height above ground + consistency score</a:t>
            </a:r>
          </a:p>
        </p:txBody>
      </p:sp>
      <p:sp>
        <p:nvSpPr>
          <p:cNvPr id="17430" name="Right Arrow 17429"/>
          <p:cNvSpPr/>
          <p:nvPr/>
        </p:nvSpPr>
        <p:spPr>
          <a:xfrm>
            <a:off x="7260336" y="1929384"/>
            <a:ext cx="201168" cy="237744"/>
          </a:xfrm>
          <a:prstGeom prst="rightArrow">
            <a:avLst/>
          </a:prstGeom>
          <a:solidFill>
            <a:srgbClr val="5C6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7462" name="Right Arrow 17429"/>
          <p:cNvSpPr/>
          <p:nvPr/>
        </p:nvSpPr>
        <p:spPr>
          <a:xfrm>
            <a:off x="8979408" y="1929384"/>
            <a:ext cx="201168" cy="237744"/>
          </a:xfrm>
          <a:prstGeom prst="rightArrow">
            <a:avLst/>
          </a:prstGeom>
          <a:solidFill>
            <a:srgbClr val="5C6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7431" name="Rounded Rectangle 17430"/>
          <p:cNvSpPr/>
          <p:nvPr/>
        </p:nvSpPr>
        <p:spPr>
          <a:xfrm>
            <a:off x="7470648" y="1600200"/>
            <a:ext cx="1499616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068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7458" name="Rounded Rectangle 17430"/>
          <p:cNvSpPr/>
          <p:nvPr/>
        </p:nvSpPr>
        <p:spPr>
          <a:xfrm>
            <a:off x="9189719" y="1600200"/>
            <a:ext cx="1499616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068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7432" name="Rounded Rectangle 17431"/>
          <p:cNvSpPr/>
          <p:nvPr/>
        </p:nvSpPr>
        <p:spPr>
          <a:xfrm>
            <a:off x="7470648" y="1600200"/>
            <a:ext cx="1499616" cy="265176"/>
          </a:xfrm>
          <a:prstGeom prst="roundRect">
            <a:avLst/>
          </a:prstGeom>
          <a:solidFill>
            <a:srgbClr val="2068AA"/>
          </a:solidFill>
          <a:ln w="12700">
            <a:solidFill>
              <a:srgbClr val="2068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7459" name="Rounded Rectangle 17431"/>
          <p:cNvSpPr/>
          <p:nvPr/>
        </p:nvSpPr>
        <p:spPr>
          <a:xfrm>
            <a:off x="9189719" y="1600200"/>
            <a:ext cx="1499616" cy="265176"/>
          </a:xfrm>
          <a:prstGeom prst="roundRect">
            <a:avLst/>
          </a:prstGeom>
          <a:solidFill>
            <a:srgbClr val="D2742D"/>
          </a:solidFill>
          <a:ln w="12700">
            <a:solidFill>
              <a:srgbClr val="2068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7433" name="TextBox 17432"/>
          <p:cNvSpPr txBox="1"/>
          <p:nvPr/>
        </p:nvSpPr>
        <p:spPr>
          <a:xfrm>
            <a:off x="7516368" y="1627632"/>
            <a:ext cx="1408175" cy="210312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20" b="1">
                <a:solidFill>
                  <a:srgbClr val="FFFFFF"/>
                </a:solidFill>
              </a:defRPr>
            </a:pPr>
            <a:r>
              <a:rPr sz="1180" b="1" i="0">
                <a:solidFill>
                  <a:srgbClr val="FFFFFF"/>
                </a:solidFill>
                <a:latin typeface="Aptos"/>
              </a:rPr>
              <a:t>CALIBRATE</a:t>
            </a:r>
          </a:p>
        </p:txBody>
      </p:sp>
      <p:sp>
        <p:nvSpPr>
          <p:cNvPr id="17460" name="TextBox 17432"/>
          <p:cNvSpPr txBox="1"/>
          <p:nvPr/>
        </p:nvSpPr>
        <p:spPr>
          <a:xfrm>
            <a:off x="9235440" y="1627632"/>
            <a:ext cx="1408175" cy="210312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20" b="1">
                <a:solidFill>
                  <a:srgbClr val="FFFFFF"/>
                </a:solidFill>
              </a:defRPr>
            </a:pPr>
            <a:r>
              <a:rPr sz="1180" b="1" i="0">
                <a:solidFill>
                  <a:srgbClr val="FFFFFF"/>
                </a:solidFill>
                <a:latin typeface="Aptos"/>
              </a:rPr>
              <a:t>VERIFY</a:t>
            </a:r>
          </a:p>
        </p:txBody>
      </p:sp>
      <p:sp>
        <p:nvSpPr>
          <p:cNvPr id="17434" name="TextBox 17433"/>
          <p:cNvSpPr txBox="1"/>
          <p:nvPr/>
        </p:nvSpPr>
        <p:spPr>
          <a:xfrm>
            <a:off x="7516368" y="1901952"/>
            <a:ext cx="1408175" cy="566928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19" b="1">
                <a:solidFill>
                  <a:srgbClr val="232B36"/>
                </a:solidFill>
              </a:defRPr>
            </a:pPr>
            <a:r>
              <a:rPr sz="1000" b="1" i="0">
                <a:solidFill>
                  <a:srgbClr val="24313F"/>
                </a:solidFill>
                <a:latin typeface="Aptos"/>
              </a:rPr>
              <a:t>GLO-30 terrain, buildings removed, laser-levelled</a:t>
            </a:r>
          </a:p>
        </p:txBody>
      </p:sp>
      <p:sp>
        <p:nvSpPr>
          <p:cNvPr id="17461" name="TextBox 17433"/>
          <p:cNvSpPr txBox="1"/>
          <p:nvPr/>
        </p:nvSpPr>
        <p:spPr>
          <a:xfrm>
            <a:off x="9235440" y="1901952"/>
            <a:ext cx="1408175" cy="566928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19" b="1">
                <a:solidFill>
                  <a:srgbClr val="232B36"/>
                </a:solidFill>
              </a:defRPr>
            </a:pPr>
            <a:r>
              <a:rPr sz="1000" b="1" i="0">
                <a:solidFill>
                  <a:srgbClr val="24313F"/>
                </a:solidFill>
                <a:latin typeface="Aptos"/>
              </a:rPr>
              <a:t>Held-out laser check + error report</a:t>
            </a:r>
          </a:p>
        </p:txBody>
      </p:sp>
      <p:sp>
        <p:nvSpPr>
          <p:cNvPr id="17435" name="Rounded Rectangle 17434"/>
          <p:cNvSpPr/>
          <p:nvPr/>
        </p:nvSpPr>
        <p:spPr>
          <a:xfrm>
            <a:off x="10927080" y="1600200"/>
            <a:ext cx="621792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74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7436" name="TextBox 17435"/>
          <p:cNvSpPr txBox="1"/>
          <p:nvPr/>
        </p:nvSpPr>
        <p:spPr>
          <a:xfrm>
            <a:off x="10954512" y="1874519"/>
            <a:ext cx="566928" cy="365760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19" b="1">
                <a:solidFill>
                  <a:srgbClr val="D2742D"/>
                </a:solidFill>
              </a:defRPr>
            </a:pPr>
            <a:r>
              <a:rPr sz="950" b="1">
                <a:solidFill>
                  <a:srgbClr val="17273A"/>
                </a:solidFill>
                <a:latin typeface="Aptos"/>
              </a:rPr>
              <a:t>OUT
DSM + 3D</a:t>
            </a:r>
          </a:p>
        </p:txBody>
      </p:sp>
      <p:sp>
        <p:nvSpPr>
          <p:cNvPr id="17437" name="Right Arrow 17436"/>
          <p:cNvSpPr/>
          <p:nvPr/>
        </p:nvSpPr>
        <p:spPr>
          <a:xfrm>
            <a:off x="10698480" y="1929384"/>
            <a:ext cx="219456" cy="237744"/>
          </a:xfrm>
          <a:prstGeom prst="rightArrow">
            <a:avLst/>
          </a:prstGeom>
          <a:solidFill>
            <a:srgbClr val="D274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7438" name="Rounded Rectangle 17437"/>
          <p:cNvSpPr/>
          <p:nvPr/>
        </p:nvSpPr>
        <p:spPr>
          <a:xfrm>
            <a:off x="594360" y="2633472"/>
            <a:ext cx="356616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0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7439" name="Rounded Rectangle 17438"/>
          <p:cNvSpPr/>
          <p:nvPr/>
        </p:nvSpPr>
        <p:spPr>
          <a:xfrm>
            <a:off x="594360" y="2633472"/>
            <a:ext cx="3566160" cy="301752"/>
          </a:xfrm>
          <a:prstGeom prst="roundRect">
            <a:avLst/>
          </a:prstGeom>
          <a:solidFill>
            <a:srgbClr val="2068AA"/>
          </a:solidFill>
          <a:ln w="12700">
            <a:solidFill>
              <a:srgbClr val="20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7440" name="TextBox 17439"/>
          <p:cNvSpPr txBox="1"/>
          <p:nvPr/>
        </p:nvSpPr>
        <p:spPr>
          <a:xfrm>
            <a:off x="685800" y="2660904"/>
            <a:ext cx="3383279" cy="246888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20" b="1">
                <a:solidFill>
                  <a:srgbClr val="FFFFFF"/>
                </a:solidFill>
              </a:defRPr>
            </a:pPr>
            <a:r>
              <a:rPr sz="1180" b="1" i="0">
                <a:solidFill>
                  <a:srgbClr val="FFFFFF"/>
                </a:solidFill>
                <a:latin typeface="Aptos"/>
              </a:rPr>
              <a:t>AI / ML</a:t>
            </a:r>
          </a:p>
        </p:txBody>
      </p:sp>
      <p:sp>
        <p:nvSpPr>
          <p:cNvPr id="17441" name="TextBox 17440"/>
          <p:cNvSpPr txBox="1"/>
          <p:nvPr/>
        </p:nvSpPr>
        <p:spPr>
          <a:xfrm>
            <a:off x="704088" y="2990088"/>
            <a:ext cx="3346704" cy="1005840"/>
          </a:xfrm>
          <a:prstGeom prst="rect">
            <a:avLst/>
          </a:prstGeom>
          <a:noFill/>
        </p:spPr>
        <p:txBody>
          <a:bodyPr wrap="square" lIns="38100" tIns="19050" rIns="38100" bIns="1905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50"/>
              </a:spcAft>
              <a:defRPr sz="1030">
                <a:solidFill>
                  <a:srgbClr val="232B36"/>
                </a:solidFill>
              </a:defRPr>
            </a:pPr>
            <a:r>
              <a:rPr sz="1000"/>
              <a:t>✓ RS3DAda (NeurIPS 2024): released weights, no tuning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50"/>
              </a:spcAft>
              <a:defRPr sz="1030">
                <a:solidFill>
                  <a:srgbClr val="232B36"/>
                </a:solidFill>
              </a:defRPr>
            </a:pPr>
            <a:r>
              <a:rPr sz="1000"/>
              <a:t>✓ 4-flip TTA · blended 518 px tiles · 8 GB laptop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50"/>
              </a:spcAft>
              <a:defRPr sz="1030">
                <a:solidFill>
                  <a:srgbClr val="232B36"/>
                </a:solidFill>
              </a:defRPr>
            </a:pPr>
            <a:r>
              <a:rPr sz="1000"/>
              <a:t>✓ 90% building interval (split-conformal, GAMUS)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50"/>
              </a:spcAft>
              <a:defRPr sz="1030">
                <a:solidFill>
                  <a:srgbClr val="232B36"/>
                </a:solidFill>
              </a:defRPr>
            </a:pPr>
            <a:r>
              <a:rPr sz="1000"/>
              <a:t>✓ Zero-shot: GAMUS · paper reproduced: ATL / ARG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50"/>
              </a:spcAft>
              <a:defRPr sz="1030">
                <a:solidFill>
                  <a:srgbClr val="232B36"/>
                </a:solidFill>
              </a:defRPr>
            </a:pPr>
            <a:r>
              <a:rPr sz="1000"/>
              <a:t>• Planned: DINOv3 / CHMv2 challenger, ONNX CPU model</a:t>
            </a:r>
          </a:p>
        </p:txBody>
      </p:sp>
      <p:sp>
        <p:nvSpPr>
          <p:cNvPr id="17442" name="Rounded Rectangle 17441"/>
          <p:cNvSpPr/>
          <p:nvPr/>
        </p:nvSpPr>
        <p:spPr>
          <a:xfrm>
            <a:off x="4407408" y="2633472"/>
            <a:ext cx="356616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28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7443" name="Rounded Rectangle 17442"/>
          <p:cNvSpPr/>
          <p:nvPr/>
        </p:nvSpPr>
        <p:spPr>
          <a:xfrm>
            <a:off x="4407408" y="2633472"/>
            <a:ext cx="3566160" cy="301752"/>
          </a:xfrm>
          <a:prstGeom prst="roundRect">
            <a:avLst/>
          </a:prstGeom>
          <a:solidFill>
            <a:srgbClr val="228989"/>
          </a:solidFill>
          <a:ln w="12700">
            <a:solidFill>
              <a:srgbClr val="228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7444" name="TextBox 17443"/>
          <p:cNvSpPr txBox="1"/>
          <p:nvPr/>
        </p:nvSpPr>
        <p:spPr>
          <a:xfrm>
            <a:off x="4498848" y="2660904"/>
            <a:ext cx="3383279" cy="246888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20" b="1">
                <a:solidFill>
                  <a:srgbClr val="FFFFFF"/>
                </a:solidFill>
              </a:defRPr>
            </a:pPr>
            <a:r>
              <a:rPr sz="1180" b="1" i="0">
                <a:solidFill>
                  <a:srgbClr val="FFFFFF"/>
                </a:solidFill>
                <a:latin typeface="Aptos"/>
              </a:rPr>
              <a:t>GEOSPATIAL</a:t>
            </a:r>
          </a:p>
        </p:txBody>
      </p:sp>
      <p:sp>
        <p:nvSpPr>
          <p:cNvPr id="17445" name="TextBox 17444"/>
          <p:cNvSpPr txBox="1"/>
          <p:nvPr/>
        </p:nvSpPr>
        <p:spPr>
          <a:xfrm>
            <a:off x="4517136" y="2990088"/>
            <a:ext cx="3346704" cy="1005840"/>
          </a:xfrm>
          <a:prstGeom prst="rect">
            <a:avLst/>
          </a:prstGeom>
          <a:noFill/>
        </p:spPr>
        <p:txBody>
          <a:bodyPr wrap="square" lIns="38100" tIns="19050" rIns="38100" bIns="1905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50"/>
              </a:spcAft>
              <a:defRPr sz="1030">
                <a:solidFill>
                  <a:srgbClr val="232B36"/>
                </a:solidFill>
              </a:defRPr>
            </a:pPr>
            <a:r>
              <a:rPr sz="1000"/>
              <a:t>✓ Rasterio · PyProj; GeoTIFF in / out; EGM2008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50"/>
              </a:spcAft>
              <a:defRPr sz="1030">
                <a:solidFill>
                  <a:srgbClr val="232B36"/>
                </a:solidFill>
              </a:defRPr>
            </a:pPr>
            <a:r>
              <a:rPr sz="1000"/>
              <a:t>✓ DSM = terrain (GLO-30; CartoDEM drop-in) + height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50"/>
              </a:spcAft>
              <a:defRPr sz="1030">
                <a:solidFill>
                  <a:srgbClr val="232B36"/>
                </a:solidFill>
              </a:defRPr>
            </a:pPr>
            <a:r>
              <a:rPr sz="1000"/>
              <a:t>✓ ICESat-2 levelling needs 2+ passes; GEDI checks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50"/>
              </a:spcAft>
              <a:defRPr sz="1030">
                <a:solidFill>
                  <a:srgbClr val="232B36"/>
                </a:solidFill>
              </a:defRPr>
            </a:pPr>
            <a:r>
              <a:rPr sz="1000"/>
              <a:t>✓ Validate: raster, survey points, held-out laser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50"/>
              </a:spcAft>
              <a:defRPr sz="1030">
                <a:solidFill>
                  <a:srgbClr val="232B36"/>
                </a:solidFill>
              </a:defRPr>
            </a:pPr>
            <a:r>
              <a:rPr sz="1000"/>
              <a:t>• Planned: Cartosat + CartoDEM (data requested)</a:t>
            </a:r>
          </a:p>
        </p:txBody>
      </p:sp>
      <p:sp>
        <p:nvSpPr>
          <p:cNvPr id="17446" name="Rounded Rectangle 17445"/>
          <p:cNvSpPr/>
          <p:nvPr/>
        </p:nvSpPr>
        <p:spPr>
          <a:xfrm>
            <a:off x="8220456" y="2633472"/>
            <a:ext cx="3328416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58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7447" name="Rounded Rectangle 17446"/>
          <p:cNvSpPr/>
          <p:nvPr/>
        </p:nvSpPr>
        <p:spPr>
          <a:xfrm>
            <a:off x="8220456" y="2633472"/>
            <a:ext cx="3328416" cy="301752"/>
          </a:xfrm>
          <a:prstGeom prst="roundRect">
            <a:avLst/>
          </a:prstGeom>
          <a:solidFill>
            <a:srgbClr val="45885C"/>
          </a:solidFill>
          <a:ln w="12700">
            <a:solidFill>
              <a:srgbClr val="458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7448" name="TextBox 17447"/>
          <p:cNvSpPr txBox="1"/>
          <p:nvPr/>
        </p:nvSpPr>
        <p:spPr>
          <a:xfrm>
            <a:off x="8311896" y="2660904"/>
            <a:ext cx="3145536" cy="246888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20" b="1">
                <a:solidFill>
                  <a:srgbClr val="FFFFFF"/>
                </a:solidFill>
              </a:defRPr>
            </a:pPr>
            <a:r>
              <a:rPr sz="1180" b="1" i="0">
                <a:solidFill>
                  <a:srgbClr val="FFFFFF"/>
                </a:solidFill>
                <a:latin typeface="Aptos"/>
              </a:rPr>
              <a:t>APPLICATION &amp; 3D VIEWER</a:t>
            </a:r>
          </a:p>
        </p:txBody>
      </p:sp>
      <p:sp>
        <p:nvSpPr>
          <p:cNvPr id="17449" name="TextBox 17448"/>
          <p:cNvSpPr txBox="1"/>
          <p:nvPr/>
        </p:nvSpPr>
        <p:spPr>
          <a:xfrm>
            <a:off x="8330183" y="2990088"/>
            <a:ext cx="3108960" cy="1005840"/>
          </a:xfrm>
          <a:prstGeom prst="rect">
            <a:avLst/>
          </a:prstGeom>
          <a:noFill/>
        </p:spPr>
        <p:txBody>
          <a:bodyPr wrap="square" lIns="38100" tIns="19050" rIns="38100" bIns="1905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50"/>
              </a:spcAft>
              <a:defRPr sz="1030">
                <a:solidFill>
                  <a:srgbClr val="232B36"/>
                </a:solidFill>
              </a:defRPr>
            </a:pPr>
            <a:r>
              <a:rPr sz="1000"/>
              <a:t>✓ Three.js viewer; GLB + GeoTIFF export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50"/>
              </a:spcAft>
              <a:defRPr sz="1030">
                <a:solidFill>
                  <a:srgbClr val="232B36"/>
                </a:solidFill>
              </a:defRPr>
            </a:pPr>
            <a:r>
              <a:rPr sz="1000"/>
              <a:t>✓ Free-fly (WASD), draw-a-path auto-fly, video export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50"/>
              </a:spcAft>
              <a:defRPr sz="1030">
                <a:solidFill>
                  <a:srgbClr val="232B36"/>
                </a:solidFill>
              </a:defRPr>
            </a:pPr>
            <a:r>
              <a:rPr sz="1000"/>
              <a:t>✓ Street-level camera · • Sat3DGen mesh (planned)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50"/>
              </a:spcAft>
              <a:defRPr sz="1030">
                <a:solidFill>
                  <a:srgbClr val="232B36"/>
                </a:solidFill>
              </a:defRPr>
            </a:pPr>
            <a:r>
              <a:rPr sz="1000"/>
              <a:t>✓ Click-to-measure; flood, route, relief-site tools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50"/>
              </a:spcAft>
              <a:defRPr sz="1030">
                <a:solidFill>
                  <a:srgbClr val="232B36"/>
                </a:solidFill>
              </a:defRPr>
            </a:pPr>
            <a:r>
              <a:rPr sz="1000"/>
              <a:t>✓ Offline laptop app (.bat) · • Tauri app (planned)</a:t>
            </a:r>
          </a:p>
        </p:txBody>
      </p:sp>
      <p:sp>
        <p:nvSpPr>
          <p:cNvPr id="17450" name="TextBox 17449"/>
          <p:cNvSpPr txBox="1"/>
          <p:nvPr/>
        </p:nvSpPr>
        <p:spPr>
          <a:xfrm>
            <a:off x="731520" y="5870448"/>
            <a:ext cx="10835640" cy="292608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 sz="1000" b="1">
                <a:solidFill>
                  <a:srgbClr val="152742"/>
                </a:solidFill>
              </a:defRPr>
            </a:pPr>
            <a:r>
              <a:rPr sz="1600" b="1"/>
              <a:t>✓ working in our prototype today   • planned, not built   |   every number: docs/CLAIMS.md, with its baseline or 95% CI</a:t>
            </a:r>
          </a:p>
        </p:txBody>
      </p:sp>
      <p:pic>
        <p:nvPicPr>
          <p:cNvPr id="17452" name="Picture 17451" descr="terravista_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" y="356616"/>
            <a:ext cx="347472" cy="347472"/>
          </a:xfrm>
          <a:prstGeom prst="rect">
            <a:avLst/>
          </a:prstGeom>
        </p:spPr>
      </p:pic>
      <p:sp>
        <p:nvSpPr>
          <p:cNvPr id="17453" name="TextBox 17452"/>
          <p:cNvSpPr txBox="1"/>
          <p:nvPr/>
        </p:nvSpPr>
        <p:spPr>
          <a:xfrm>
            <a:off x="740664" y="352044"/>
            <a:ext cx="91440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7273A"/>
                </a:solidFill>
                <a:latin typeface="Aptos"/>
              </a:rPr>
              <a:t>TerraVista</a:t>
            </a:r>
          </a:p>
        </p:txBody>
      </p:sp>
      <p:pic>
        <p:nvPicPr>
          <p:cNvPr id="17454" name="Picture 17453" descr="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41366" y="57097"/>
            <a:ext cx="2209120" cy="1122868"/>
          </a:xfrm>
          <a:prstGeom prst="rect">
            <a:avLst/>
          </a:prstGeom>
        </p:spPr>
      </p:pic>
      <p:graphicFrame>
        <p:nvGraphicFramePr>
          <p:cNvPr id="17463" name="Chart 17462"/>
          <p:cNvGraphicFramePr>
            <a:graphicFrameLocks noGrp="1"/>
          </p:cNvGraphicFramePr>
          <p:nvPr/>
        </p:nvGraphicFramePr>
        <p:xfrm>
          <a:off x="594360" y="4114800"/>
          <a:ext cx="3520440" cy="1408175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7464" name="TextBox 17463"/>
          <p:cNvSpPr txBox="1"/>
          <p:nvPr/>
        </p:nvSpPr>
        <p:spPr>
          <a:xfrm>
            <a:off x="594360" y="5541264"/>
            <a:ext cx="35204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>
                <a:solidFill>
                  <a:srgbClr val="5C6878"/>
                </a:solidFill>
                <a:latin typeface="Aptos"/>
              </a:rPr>
              <a:t>Scenario test, not a forecast: pre-flood image, 4 windows (320 m) vs IPH-UFRGS extent; levelled before the 2-pass rule.</a:t>
            </a:r>
          </a:p>
        </p:txBody>
      </p:sp>
      <p:sp>
        <p:nvSpPr>
          <p:cNvPr id="17465" name="TextBox 17464"/>
          <p:cNvSpPr txBox="1"/>
          <p:nvPr/>
        </p:nvSpPr>
        <p:spPr>
          <a:xfrm>
            <a:off x="4315968" y="4114800"/>
            <a:ext cx="352044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7273A"/>
                </a:solidFill>
                <a:latin typeface="Aptos"/>
              </a:rPr>
              <a:t>PROTOTYPE: flood fly-through, saved as MP4</a:t>
            </a:r>
          </a:p>
        </p:txBody>
      </p:sp>
      <p:pic>
        <p:nvPicPr>
          <p:cNvPr id="17466" name="Picture 17465" descr="flythrough_canoas_wid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9730" y="4370832"/>
            <a:ext cx="2972915" cy="1133855"/>
          </a:xfrm>
          <a:prstGeom prst="rect">
            <a:avLst/>
          </a:prstGeom>
        </p:spPr>
      </p:pic>
      <p:sp>
        <p:nvSpPr>
          <p:cNvPr id="17467" name="TextBox 17466"/>
          <p:cNvSpPr txBox="1"/>
          <p:nvPr/>
        </p:nvSpPr>
        <p:spPr>
          <a:xfrm>
            <a:off x="4315968" y="5522975"/>
            <a:ext cx="35204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>
                <a:solidFill>
                  <a:srgbClr val="5C6878"/>
                </a:solidFill>
                <a:latin typeface="Aptos"/>
              </a:rPr>
              <a:t>Our viewer: drone path over Canoas (Brazil) at the May 2024 flood level; orange = roofs still above water</a:t>
            </a:r>
          </a:p>
        </p:txBody>
      </p:sp>
      <p:graphicFrame>
        <p:nvGraphicFramePr>
          <p:cNvPr id="17468" name="Chart 17467"/>
          <p:cNvGraphicFramePr>
            <a:graphicFrameLocks noGrp="1"/>
          </p:cNvGraphicFramePr>
          <p:nvPr/>
        </p:nvGraphicFramePr>
        <p:xfrm>
          <a:off x="8037575" y="4114800"/>
          <a:ext cx="3520440" cy="1408175"/>
        </p:xfrm>
        <a:graphic>
          <a:graphicData uri="http://schemas.openxmlformats.org/drawingml/2006/chart">
            <c:chart xmlns:c="http://schemas.openxmlformats.org/drawingml/2006/chart" r:id="rId7"/>
          </a:graphicData>
        </a:graphic>
      </p:graphicFrame>
      <p:sp>
        <p:nvSpPr>
          <p:cNvPr id="17469" name="TextBox 17468"/>
          <p:cNvSpPr txBox="1"/>
          <p:nvPr/>
        </p:nvSpPr>
        <p:spPr>
          <a:xfrm>
            <a:off x="8037575" y="5541264"/>
            <a:ext cx="35204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>
                <a:solidFill>
                  <a:srgbClr val="5C6878"/>
                </a:solidFill>
                <a:latin typeface="Aptos"/>
              </a:rPr>
              <a:t>150 GAMUS tiles (aerial 0.33 m, zero-shot): MAE 3.90 m [3.24, 4.66] vs 5.65 flat ground. Leafless trees; tall objects too low.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 wrap="square" lIns="38100" tIns="19050" rIns="38100" bIns="19050" anchor="ctr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500" b="1" i="0" dirty="0">
                <a:solidFill>
                  <a:srgbClr val="17273A"/>
                </a:solidFill>
                <a:latin typeface="Aptos Display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lIns="38100" tIns="19050" rIns="38100" bIns="19050"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7410" name="TextBox 17409"/>
          <p:cNvSpPr txBox="1"/>
          <p:nvPr/>
        </p:nvSpPr>
        <p:spPr>
          <a:xfrm>
            <a:off x="594360" y="1078992"/>
            <a:ext cx="10972800" cy="329184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80" b="1">
                <a:solidFill>
                  <a:srgbClr val="152742"/>
                </a:solidFill>
              </a:defRPr>
            </a:pPr>
            <a:r>
              <a:rPr sz="1900" b="1" i="0">
                <a:solidFill>
                  <a:srgbClr val="17273A"/>
                </a:solidFill>
                <a:latin typeface="Aptos"/>
              </a:rPr>
              <a:t>Built on a Released Model, Free Data and Offline-Ready Software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594360" y="1536192"/>
            <a:ext cx="5303520" cy="301752"/>
          </a:xfrm>
          <a:prstGeom prst="roundRect">
            <a:avLst/>
          </a:prstGeom>
          <a:solidFill>
            <a:srgbClr val="2068AA"/>
          </a:solidFill>
          <a:ln w="12700">
            <a:solidFill>
              <a:srgbClr val="20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7412" name="TextBox 17411"/>
          <p:cNvSpPr txBox="1"/>
          <p:nvPr/>
        </p:nvSpPr>
        <p:spPr>
          <a:xfrm>
            <a:off x="685800" y="1563624"/>
            <a:ext cx="5120640" cy="246888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20" b="1">
                <a:solidFill>
                  <a:srgbClr val="FFFFFF"/>
                </a:solidFill>
              </a:defRPr>
            </a:pPr>
            <a:r>
              <a:rPr sz="1180" b="1" i="0">
                <a:solidFill>
                  <a:srgbClr val="FFFFFF"/>
                </a:solidFill>
                <a:latin typeface="Aptos"/>
              </a:rPr>
              <a:t>FEASIBILITY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594360" y="1874519"/>
            <a:ext cx="5303520" cy="1353312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5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7414" name="TextBox 17413"/>
          <p:cNvSpPr txBox="1"/>
          <p:nvPr/>
        </p:nvSpPr>
        <p:spPr>
          <a:xfrm>
            <a:off x="795528" y="2112264"/>
            <a:ext cx="4919472" cy="960120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50"/>
              </a:spcAft>
              <a:defRPr sz="1045">
                <a:solidFill>
                  <a:srgbClr val="232B36"/>
                </a:solidFill>
              </a:defRPr>
            </a:pPr>
            <a:r>
              <a:rPr sz="1090"/>
              <a:t>• Working today: released RS3DAda end to end, 42 s for a test scene on an 8 GB laptop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50"/>
              </a:spcAft>
              <a:defRPr sz="1045">
                <a:solidFill>
                  <a:srgbClr val="232B36"/>
                </a:solidFill>
              </a:defRPr>
            </a:pPr>
            <a:r>
              <a:rPr sz="1090"/>
              <a:t>• Test data in hand: GAMUS, Overhead Geopose ATL / ARG, 8 Indian laser scenes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50"/>
              </a:spcAft>
              <a:defRPr sz="1045">
                <a:solidFill>
                  <a:srgbClr val="232B36"/>
                </a:solidFill>
              </a:defRPr>
            </a:pPr>
            <a:r>
              <a:rPr sz="1090"/>
              <a:t>• Free terrain + truth data: Copernicus GLO-30, ICESat-2, GEDI, OpenStreetMap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50"/>
              </a:spcAft>
              <a:defRPr sz="1045">
                <a:solidFill>
                  <a:srgbClr val="232B36"/>
                </a:solidFill>
              </a:defRPr>
            </a:pPr>
            <a:r>
              <a:rPr sz="1090"/>
              <a:t>• Not yet: Cartosat + CartoDEM (login-gated; request drafted to PS owner / NRSC)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6099048" y="1536192"/>
            <a:ext cx="5449824" cy="301752"/>
          </a:xfrm>
          <a:prstGeom prst="roundRect">
            <a:avLst/>
          </a:prstGeom>
          <a:solidFill>
            <a:srgbClr val="228989"/>
          </a:solidFill>
          <a:ln w="12700">
            <a:solidFill>
              <a:srgbClr val="228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7416" name="TextBox 17415"/>
          <p:cNvSpPr txBox="1"/>
          <p:nvPr/>
        </p:nvSpPr>
        <p:spPr>
          <a:xfrm>
            <a:off x="6190488" y="1563624"/>
            <a:ext cx="5266944" cy="246888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20" b="1">
                <a:solidFill>
                  <a:srgbClr val="FFFFFF"/>
                </a:solidFill>
              </a:defRPr>
            </a:pPr>
            <a:r>
              <a:rPr sz="1180" b="1" i="0">
                <a:solidFill>
                  <a:srgbClr val="FFFFFF"/>
                </a:solidFill>
                <a:latin typeface="Aptos"/>
              </a:rPr>
              <a:t>VIABILITY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6099048" y="1874519"/>
            <a:ext cx="5449824" cy="1353312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5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7418" name="TextBox 17417"/>
          <p:cNvSpPr txBox="1"/>
          <p:nvPr/>
        </p:nvSpPr>
        <p:spPr>
          <a:xfrm>
            <a:off x="6300216" y="2112264"/>
            <a:ext cx="5029200" cy="960120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50"/>
              </a:spcAft>
              <a:defRPr sz="1045">
                <a:solidFill>
                  <a:srgbClr val="232B36"/>
                </a:solidFill>
              </a:defRPr>
            </a:pPr>
            <a:r>
              <a:rPr sz="1090"/>
              <a:t>• Modular: swap the height model without touching calibration or the viewer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50"/>
              </a:spcAft>
              <a:defRPr sz="1045">
                <a:solidFill>
                  <a:srgbClr val="232B36"/>
                </a:solidFill>
              </a:defRPr>
            </a:pPr>
            <a:r>
              <a:rPr sz="1090"/>
              <a:t>• Standard outputs: GeoTIFF DSM with the input CRS, GLB 3D mesh, building JSON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50"/>
              </a:spcAft>
              <a:defRPr sz="1045">
                <a:solidFill>
                  <a:srgbClr val="232B36"/>
                </a:solidFill>
              </a:defRPr>
            </a:pPr>
            <a:r>
              <a:rPr sz="1090"/>
              <a:t>• Offline today on a laptop (.bat launcher); ONNX model + Tauri app planned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50"/>
              </a:spcAft>
              <a:defRPr sz="1045">
                <a:solidFill>
                  <a:srgbClr val="232B36"/>
                </a:solidFill>
              </a:defRPr>
            </a:pPr>
            <a:r>
              <a:rPr sz="1090"/>
              <a:t>• Licences: code MIT / Apache; weights trained on CC BY-NC data; FABDEM checks only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594360" y="3456432"/>
            <a:ext cx="4572000" cy="256032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52742"/>
                </a:solidFill>
              </a:defRPr>
            </a:pPr>
            <a:r>
              <a:rPr sz="1180" b="1" i="0">
                <a:solidFill>
                  <a:srgbClr val="17273A"/>
                </a:solidFill>
                <a:latin typeface="Aptos"/>
              </a:rPr>
              <a:t>CHALLENGE → RISK → MITIGATION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594360" y="3776472"/>
            <a:ext cx="1874519" cy="301752"/>
          </a:xfrm>
          <a:prstGeom prst="roundRect">
            <a:avLst/>
          </a:prstGeom>
          <a:solidFill>
            <a:srgbClr val="2068AA"/>
          </a:solidFill>
          <a:ln w="12700">
            <a:solidFill>
              <a:srgbClr val="20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7421" name="TextBox 17420"/>
          <p:cNvSpPr txBox="1"/>
          <p:nvPr/>
        </p:nvSpPr>
        <p:spPr>
          <a:xfrm>
            <a:off x="685800" y="3803904"/>
            <a:ext cx="1746504" cy="246888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20" b="1">
                <a:solidFill>
                  <a:srgbClr val="FFFFFF"/>
                </a:solidFill>
              </a:defRPr>
            </a:pPr>
            <a:r>
              <a:rPr sz="1180" b="1" i="0">
                <a:solidFill>
                  <a:srgbClr val="FFFFFF"/>
                </a:solidFill>
                <a:latin typeface="Aptos"/>
              </a:rPr>
              <a:t>CHALLENGE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2514600" y="3776472"/>
            <a:ext cx="2011680" cy="301752"/>
          </a:xfrm>
          <a:prstGeom prst="roundRect">
            <a:avLst/>
          </a:prstGeom>
          <a:solidFill>
            <a:srgbClr val="5C6878"/>
          </a:solidFill>
          <a:ln w="12700">
            <a:solidFill>
              <a:srgbClr val="5C6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7423" name="TextBox 17422"/>
          <p:cNvSpPr txBox="1"/>
          <p:nvPr/>
        </p:nvSpPr>
        <p:spPr>
          <a:xfrm>
            <a:off x="2606040" y="3803904"/>
            <a:ext cx="1883664" cy="246888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20" b="1">
                <a:solidFill>
                  <a:srgbClr val="FFFFFF"/>
                </a:solidFill>
              </a:defRPr>
            </a:pPr>
            <a:r>
              <a:rPr sz="1180" b="1" i="0">
                <a:solidFill>
                  <a:srgbClr val="FFFFFF"/>
                </a:solidFill>
                <a:latin typeface="Aptos"/>
              </a:rPr>
              <a:t>RISK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4572000" y="3776472"/>
            <a:ext cx="3154680" cy="301752"/>
          </a:xfrm>
          <a:prstGeom prst="roundRect">
            <a:avLst/>
          </a:prstGeom>
          <a:solidFill>
            <a:srgbClr val="45885C"/>
          </a:solidFill>
          <a:ln w="12700">
            <a:solidFill>
              <a:srgbClr val="458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7425" name="TextBox 17424"/>
          <p:cNvSpPr txBox="1"/>
          <p:nvPr/>
        </p:nvSpPr>
        <p:spPr>
          <a:xfrm>
            <a:off x="4663440" y="3803904"/>
            <a:ext cx="3026664" cy="246888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20" b="1">
                <a:solidFill>
                  <a:srgbClr val="FFFFFF"/>
                </a:solidFill>
              </a:defRPr>
            </a:pPr>
            <a:r>
              <a:rPr sz="1180" b="1" i="0">
                <a:solidFill>
                  <a:srgbClr val="FFFFFF"/>
                </a:solidFill>
                <a:latin typeface="Aptos"/>
              </a:rPr>
              <a:t>MITIGATION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594360" y="4114800"/>
            <a:ext cx="1874519" cy="3566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7427" name="TextBox 17426"/>
          <p:cNvSpPr txBox="1"/>
          <p:nvPr/>
        </p:nvSpPr>
        <p:spPr>
          <a:xfrm>
            <a:off x="658368" y="4137659"/>
            <a:ext cx="1746504" cy="246888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90" b="0">
                <a:solidFill>
                  <a:srgbClr val="232B36"/>
                </a:solidFill>
              </a:defRPr>
            </a:pPr>
            <a:r>
              <a:rPr sz="950" b="0" i="0">
                <a:solidFill>
                  <a:srgbClr val="24313F"/>
                </a:solidFill>
                <a:latin typeface="Aptos"/>
              </a:rPr>
              <a:t>New image resolution (GSD)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2514600" y="4114800"/>
            <a:ext cx="2011680" cy="3566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7429" name="TextBox 17428"/>
          <p:cNvSpPr txBox="1"/>
          <p:nvPr/>
        </p:nvSpPr>
        <p:spPr>
          <a:xfrm>
            <a:off x="2578608" y="4137659"/>
            <a:ext cx="1883664" cy="246888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90" b="0">
                <a:solidFill>
                  <a:srgbClr val="232B36"/>
                </a:solidFill>
              </a:defRPr>
            </a:pPr>
            <a:r>
              <a:rPr sz="950" b="0" i="0">
                <a:solidFill>
                  <a:srgbClr val="24313F"/>
                </a:solidFill>
                <a:latin typeface="Aptos"/>
              </a:rPr>
              <a:t>Wrong height scale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4572000" y="4114800"/>
            <a:ext cx="3154680" cy="3566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7431" name="TextBox 17430"/>
          <p:cNvSpPr txBox="1"/>
          <p:nvPr/>
        </p:nvSpPr>
        <p:spPr>
          <a:xfrm>
            <a:off x="4636008" y="4137659"/>
            <a:ext cx="3026664" cy="246888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90" b="1">
                <a:solidFill>
                  <a:srgbClr val="232B36"/>
                </a:solidFill>
              </a:defRPr>
            </a:pPr>
            <a:r>
              <a:rPr sz="950" b="0" i="0">
                <a:solidFill>
                  <a:srgbClr val="24313F"/>
                </a:solidFill>
                <a:latin typeface="Aptos"/>
              </a:rPr>
              <a:t>Read GSD from metadata · resampling tested (no gain): kept native</a:t>
            </a:r>
          </a:p>
        </p:txBody>
      </p:sp>
      <p:sp>
        <p:nvSpPr>
          <p:cNvPr id="17432" name="Rounded Rectangle 17431"/>
          <p:cNvSpPr/>
          <p:nvPr/>
        </p:nvSpPr>
        <p:spPr>
          <a:xfrm>
            <a:off x="594360" y="4498848"/>
            <a:ext cx="1874519" cy="3566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7433" name="TextBox 17432"/>
          <p:cNvSpPr txBox="1"/>
          <p:nvPr/>
        </p:nvSpPr>
        <p:spPr>
          <a:xfrm>
            <a:off x="658368" y="4521708"/>
            <a:ext cx="1746504" cy="246888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90" b="0">
                <a:solidFill>
                  <a:srgbClr val="232B36"/>
                </a:solidFill>
              </a:defRPr>
            </a:pPr>
            <a:r>
              <a:rPr sz="950" b="0" i="0">
                <a:solidFill>
                  <a:srgbClr val="24313F"/>
                </a:solidFill>
                <a:latin typeface="Aptos"/>
              </a:rPr>
              <a:t>One image can't see ground level</a:t>
            </a:r>
          </a:p>
        </p:txBody>
      </p:sp>
      <p:sp>
        <p:nvSpPr>
          <p:cNvPr id="17434" name="Rounded Rectangle 17433"/>
          <p:cNvSpPr/>
          <p:nvPr/>
        </p:nvSpPr>
        <p:spPr>
          <a:xfrm>
            <a:off x="2514600" y="4498848"/>
            <a:ext cx="2011680" cy="3566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7435" name="TextBox 17434"/>
          <p:cNvSpPr txBox="1"/>
          <p:nvPr/>
        </p:nvSpPr>
        <p:spPr>
          <a:xfrm>
            <a:off x="2578608" y="4521708"/>
            <a:ext cx="1883664" cy="246888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90" b="0">
                <a:solidFill>
                  <a:srgbClr val="232B36"/>
                </a:solidFill>
              </a:defRPr>
            </a:pPr>
            <a:r>
              <a:rPr sz="950" b="0" i="0">
                <a:solidFill>
                  <a:srgbClr val="24313F"/>
                </a:solidFill>
                <a:latin typeface="Aptos"/>
              </a:rPr>
              <a:t>Heights off in metres</a:t>
            </a:r>
          </a:p>
        </p:txBody>
      </p:sp>
      <p:sp>
        <p:nvSpPr>
          <p:cNvPr id="17436" name="Rounded Rectangle 17435"/>
          <p:cNvSpPr/>
          <p:nvPr/>
        </p:nvSpPr>
        <p:spPr>
          <a:xfrm>
            <a:off x="4572000" y="4498848"/>
            <a:ext cx="3154680" cy="3566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7437" name="TextBox 17436"/>
          <p:cNvSpPr txBox="1"/>
          <p:nvPr/>
        </p:nvSpPr>
        <p:spPr>
          <a:xfrm>
            <a:off x="4636008" y="4521708"/>
            <a:ext cx="3026664" cy="246888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90" b="1">
                <a:solidFill>
                  <a:srgbClr val="232B36"/>
                </a:solidFill>
              </a:defRPr>
            </a:pPr>
            <a:r>
              <a:rPr sz="950" b="0" i="0">
                <a:solidFill>
                  <a:srgbClr val="24313F"/>
                </a:solidFill>
                <a:latin typeface="Aptos"/>
              </a:rPr>
              <a:t>Remove buildings from terrain · ICESat-2 levelling only from 2+ passes</a:t>
            </a:r>
          </a:p>
        </p:txBody>
      </p:sp>
      <p:sp>
        <p:nvSpPr>
          <p:cNvPr id="17438" name="Rounded Rectangle 17437"/>
          <p:cNvSpPr/>
          <p:nvPr/>
        </p:nvSpPr>
        <p:spPr>
          <a:xfrm>
            <a:off x="594360" y="4882896"/>
            <a:ext cx="1874519" cy="3566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7439" name="TextBox 17438"/>
          <p:cNvSpPr txBox="1"/>
          <p:nvPr/>
        </p:nvSpPr>
        <p:spPr>
          <a:xfrm>
            <a:off x="658368" y="4905756"/>
            <a:ext cx="1746504" cy="246888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90" b="0">
                <a:solidFill>
                  <a:srgbClr val="232B36"/>
                </a:solidFill>
              </a:defRPr>
            </a:pPr>
            <a:r>
              <a:rPr sz="950" b="0" i="0">
                <a:solidFill>
                  <a:srgbClr val="24313F"/>
                </a:solidFill>
                <a:latin typeface="Aptos"/>
              </a:rPr>
              <a:t>Few tall buildings in training data</a:t>
            </a:r>
          </a:p>
        </p:txBody>
      </p:sp>
      <p:sp>
        <p:nvSpPr>
          <p:cNvPr id="17440" name="Rounded Rectangle 17439"/>
          <p:cNvSpPr/>
          <p:nvPr/>
        </p:nvSpPr>
        <p:spPr>
          <a:xfrm>
            <a:off x="2514600" y="4882896"/>
            <a:ext cx="2011680" cy="3566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7441" name="TextBox 17440"/>
          <p:cNvSpPr txBox="1"/>
          <p:nvPr/>
        </p:nvSpPr>
        <p:spPr>
          <a:xfrm>
            <a:off x="2578608" y="4905756"/>
            <a:ext cx="1883664" cy="246888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90" b="0">
                <a:solidFill>
                  <a:srgbClr val="232B36"/>
                </a:solidFill>
              </a:defRPr>
            </a:pPr>
            <a:r>
              <a:rPr sz="950" b="0" i="0">
                <a:solidFill>
                  <a:srgbClr val="24313F"/>
                </a:solidFill>
                <a:latin typeface="Aptos"/>
              </a:rPr>
              <a:t>Tall buildings under-estimated</a:t>
            </a:r>
          </a:p>
        </p:txBody>
      </p:sp>
      <p:sp>
        <p:nvSpPr>
          <p:cNvPr id="17442" name="Rounded Rectangle 17441"/>
          <p:cNvSpPr/>
          <p:nvPr/>
        </p:nvSpPr>
        <p:spPr>
          <a:xfrm>
            <a:off x="4572000" y="4882896"/>
            <a:ext cx="3154680" cy="3566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7443" name="TextBox 17442"/>
          <p:cNvSpPr txBox="1"/>
          <p:nvPr/>
        </p:nvSpPr>
        <p:spPr>
          <a:xfrm>
            <a:off x="4636008" y="4905756"/>
            <a:ext cx="3026664" cy="246888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90" b="1">
                <a:solidFill>
                  <a:srgbClr val="232B36"/>
                </a:solidFill>
              </a:defRPr>
            </a:pPr>
            <a:r>
              <a:rPr sz="950" b="0" i="0">
                <a:solidFill>
                  <a:srgbClr val="24313F"/>
                </a:solidFill>
                <a:latin typeface="Aptos"/>
              </a:rPr>
              <a:t>Report bias by height (-7.6 m at 10–20 m) · recalibration tried, not shipped</a:t>
            </a:r>
          </a:p>
        </p:txBody>
      </p:sp>
      <p:sp>
        <p:nvSpPr>
          <p:cNvPr id="17444" name="Rounded Rectangle 17443"/>
          <p:cNvSpPr/>
          <p:nvPr/>
        </p:nvSpPr>
        <p:spPr>
          <a:xfrm>
            <a:off x="594360" y="5266944"/>
            <a:ext cx="1874519" cy="3566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7445" name="TextBox 17444"/>
          <p:cNvSpPr txBox="1"/>
          <p:nvPr/>
        </p:nvSpPr>
        <p:spPr>
          <a:xfrm>
            <a:off x="658368" y="5289804"/>
            <a:ext cx="1746504" cy="246888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90" b="0">
                <a:solidFill>
                  <a:srgbClr val="232B36"/>
                </a:solidFill>
              </a:defRPr>
            </a:pPr>
            <a:r>
              <a:rPr sz="950" b="0" i="0">
                <a:solidFill>
                  <a:srgbClr val="24313F"/>
                </a:solidFill>
                <a:latin typeface="Aptos"/>
              </a:rPr>
              <a:t>Tilted (off-nadir) images</a:t>
            </a:r>
          </a:p>
        </p:txBody>
      </p:sp>
      <p:sp>
        <p:nvSpPr>
          <p:cNvPr id="17446" name="Rounded Rectangle 17445"/>
          <p:cNvSpPr/>
          <p:nvPr/>
        </p:nvSpPr>
        <p:spPr>
          <a:xfrm>
            <a:off x="2514600" y="5266944"/>
            <a:ext cx="2011680" cy="3566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7447" name="TextBox 17446"/>
          <p:cNvSpPr txBox="1"/>
          <p:nvPr/>
        </p:nvSpPr>
        <p:spPr>
          <a:xfrm>
            <a:off x="2578608" y="5289804"/>
            <a:ext cx="1883664" cy="246888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90" b="0">
                <a:solidFill>
                  <a:srgbClr val="232B36"/>
                </a:solidFill>
              </a:defRPr>
            </a:pPr>
            <a:r>
              <a:rPr sz="950" b="0" i="0">
                <a:solidFill>
                  <a:srgbClr val="24313F"/>
                </a:solidFill>
                <a:latin typeface="Aptos"/>
              </a:rPr>
              <a:t>Leaning buildings, shifted roofs</a:t>
            </a:r>
          </a:p>
        </p:txBody>
      </p:sp>
      <p:sp>
        <p:nvSpPr>
          <p:cNvPr id="17448" name="Rounded Rectangle 17447"/>
          <p:cNvSpPr/>
          <p:nvPr/>
        </p:nvSpPr>
        <p:spPr>
          <a:xfrm>
            <a:off x="4572000" y="5266944"/>
            <a:ext cx="3154680" cy="3566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7449" name="TextBox 17448"/>
          <p:cNvSpPr txBox="1"/>
          <p:nvPr/>
        </p:nvSpPr>
        <p:spPr>
          <a:xfrm>
            <a:off x="4636008" y="5289804"/>
            <a:ext cx="3026664" cy="246888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90" b="1">
                <a:solidFill>
                  <a:srgbClr val="232B36"/>
                </a:solidFill>
              </a:defRPr>
            </a:pPr>
            <a:r>
              <a:rPr sz="950" b="0" i="0">
                <a:solidFill>
                  <a:srgbClr val="24313F"/>
                </a:solidFill>
                <a:latin typeface="Aptos"/>
              </a:rPr>
              <a:t>Planned: off-nadir test set + warning in UI (not built)</a:t>
            </a:r>
          </a:p>
        </p:txBody>
      </p:sp>
      <p:sp>
        <p:nvSpPr>
          <p:cNvPr id="17450" name="Rounded Rectangle 17449"/>
          <p:cNvSpPr/>
          <p:nvPr/>
        </p:nvSpPr>
        <p:spPr>
          <a:xfrm>
            <a:off x="594360" y="5650992"/>
            <a:ext cx="1874519" cy="3566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7451" name="TextBox 17450"/>
          <p:cNvSpPr txBox="1"/>
          <p:nvPr/>
        </p:nvSpPr>
        <p:spPr>
          <a:xfrm>
            <a:off x="658368" y="5673851"/>
            <a:ext cx="1746504" cy="246888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90" b="0">
                <a:solidFill>
                  <a:srgbClr val="232B36"/>
                </a:solidFill>
              </a:defRPr>
            </a:pPr>
            <a:r>
              <a:rPr sz="950" b="0" i="0">
                <a:solidFill>
                  <a:srgbClr val="24313F"/>
                </a:solidFill>
                <a:latin typeface="Aptos"/>
              </a:rPr>
              <a:t>No GPU / no internet in the field</a:t>
            </a:r>
          </a:p>
        </p:txBody>
      </p:sp>
      <p:sp>
        <p:nvSpPr>
          <p:cNvPr id="17452" name="Rounded Rectangle 17451"/>
          <p:cNvSpPr/>
          <p:nvPr/>
        </p:nvSpPr>
        <p:spPr>
          <a:xfrm>
            <a:off x="2514600" y="5650992"/>
            <a:ext cx="2011680" cy="3566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7453" name="TextBox 17452"/>
          <p:cNvSpPr txBox="1"/>
          <p:nvPr/>
        </p:nvSpPr>
        <p:spPr>
          <a:xfrm>
            <a:off x="2578608" y="5673851"/>
            <a:ext cx="1883664" cy="246888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90" b="0">
                <a:solidFill>
                  <a:srgbClr val="232B36"/>
                </a:solidFill>
              </a:defRPr>
            </a:pPr>
            <a:r>
              <a:rPr sz="950" b="0" i="0">
                <a:solidFill>
                  <a:srgbClr val="24313F"/>
                </a:solidFill>
                <a:latin typeface="Aptos"/>
              </a:rPr>
              <a:t>Tool unusable</a:t>
            </a:r>
          </a:p>
        </p:txBody>
      </p:sp>
      <p:sp>
        <p:nvSpPr>
          <p:cNvPr id="17454" name="Rounded Rectangle 17453"/>
          <p:cNvSpPr/>
          <p:nvPr/>
        </p:nvSpPr>
        <p:spPr>
          <a:xfrm>
            <a:off x="4572000" y="5650992"/>
            <a:ext cx="3154680" cy="3566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7455" name="TextBox 17454"/>
          <p:cNvSpPr txBox="1"/>
          <p:nvPr/>
        </p:nvSpPr>
        <p:spPr>
          <a:xfrm>
            <a:off x="4636008" y="5673851"/>
            <a:ext cx="3026664" cy="246888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90" b="1">
                <a:solidFill>
                  <a:srgbClr val="232B36"/>
                </a:solidFill>
              </a:defRPr>
            </a:pPr>
            <a:r>
              <a:rPr sz="950" b="0" i="0">
                <a:solidFill>
                  <a:srgbClr val="24313F"/>
                </a:solidFill>
                <a:latin typeface="Aptos"/>
              </a:rPr>
              <a:t>Offline laptop app with CPU fallback (built) · ONNX model planned</a:t>
            </a:r>
          </a:p>
        </p:txBody>
      </p:sp>
      <p:pic>
        <p:nvPicPr>
          <p:cNvPr id="17457" name="Picture 17456" descr="terravista_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" y="356616"/>
            <a:ext cx="347472" cy="347472"/>
          </a:xfrm>
          <a:prstGeom prst="rect">
            <a:avLst/>
          </a:prstGeom>
        </p:spPr>
      </p:pic>
      <p:sp>
        <p:nvSpPr>
          <p:cNvPr id="17458" name="TextBox 17457"/>
          <p:cNvSpPr txBox="1"/>
          <p:nvPr/>
        </p:nvSpPr>
        <p:spPr>
          <a:xfrm>
            <a:off x="740664" y="352044"/>
            <a:ext cx="91440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7273A"/>
                </a:solidFill>
                <a:latin typeface="Aptos"/>
              </a:rPr>
              <a:t>TerraVista</a:t>
            </a:r>
          </a:p>
        </p:txBody>
      </p:sp>
      <p:pic>
        <p:nvPicPr>
          <p:cNvPr id="17459" name="Picture 17458" descr="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41366" y="57097"/>
            <a:ext cx="2209120" cy="1122868"/>
          </a:xfrm>
          <a:prstGeom prst="rect">
            <a:avLst/>
          </a:prstGeom>
        </p:spPr>
      </p:pic>
      <p:graphicFrame>
        <p:nvGraphicFramePr>
          <p:cNvPr id="17460" name="Chart 17459"/>
          <p:cNvGraphicFramePr>
            <a:graphicFrameLocks noGrp="1"/>
          </p:cNvGraphicFramePr>
          <p:nvPr/>
        </p:nvGraphicFramePr>
        <p:xfrm>
          <a:off x="8321040" y="3703320"/>
          <a:ext cx="3246120" cy="2020824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7461" name="TextBox 17460"/>
          <p:cNvSpPr txBox="1"/>
          <p:nvPr/>
        </p:nvSpPr>
        <p:spPr>
          <a:xfrm>
            <a:off x="8321040" y="5742431"/>
            <a:ext cx="32461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>
                <a:solidFill>
                  <a:srgbClr val="5C6878"/>
                </a:solidFill>
                <a:latin typeface="Aptos"/>
              </a:rPr>
              <a:t>Geopose satellite tiles, 300 per city; adaptation domain, not zero-shot. 95% CI: ATL [5.57, 6.43], ARG [1.86, 2.03] m. Source-only, paper: published.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 wrap="square" lIns="38100" tIns="19050" rIns="38100" bIns="19050" anchor="ctr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500" b="1" i="0" dirty="0">
                <a:solidFill>
                  <a:srgbClr val="17273A"/>
                </a:solidFill>
                <a:latin typeface="Aptos Display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lIns="38100" tIns="19050" rIns="38100" bIns="19050"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7410" name="TextBox 17409"/>
          <p:cNvSpPr txBox="1"/>
          <p:nvPr/>
        </p:nvSpPr>
        <p:spPr>
          <a:xfrm>
            <a:off x="594360" y="1078992"/>
            <a:ext cx="10972800" cy="329184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30" b="1">
                <a:solidFill>
                  <a:srgbClr val="152742"/>
                </a:solidFill>
              </a:defRPr>
            </a:pPr>
            <a:r>
              <a:rPr sz="1900" b="1" i="0">
                <a:solidFill>
                  <a:srgbClr val="17273A"/>
                </a:solidFill>
                <a:latin typeface="Aptos"/>
              </a:rPr>
              <a:t>From One Image to Faster, Verifiable Disaster Decisions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4628254" y="1571575"/>
            <a:ext cx="2834640" cy="987552"/>
          </a:xfrm>
          <a:prstGeom prst="roundRect">
            <a:avLst/>
          </a:prstGeom>
          <a:solidFill>
            <a:srgbClr val="152742"/>
          </a:solidFill>
          <a:ln w="12700">
            <a:solidFill>
              <a:srgbClr val="152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7412" name="TextBox 17411"/>
          <p:cNvSpPr txBox="1"/>
          <p:nvPr/>
        </p:nvSpPr>
        <p:spPr>
          <a:xfrm>
            <a:off x="4747126" y="1781887"/>
            <a:ext cx="2596896" cy="256032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FFFFFF"/>
                </a:solidFill>
              </a:defRPr>
            </a:pPr>
            <a:r>
              <a:rPr sz="1160" b="1" i="0" dirty="0">
                <a:solidFill>
                  <a:srgbClr val="FFFFFF"/>
                </a:solidFill>
                <a:latin typeface="Aptos"/>
              </a:rPr>
              <a:t>DEPTHWIZARD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4747126" y="2138503"/>
            <a:ext cx="2596896" cy="201168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40" b="0">
                <a:solidFill>
                  <a:srgbClr val="FFFFFF"/>
                </a:solidFill>
              </a:defRPr>
            </a:pPr>
            <a:r>
              <a:rPr sz="1040" b="0" i="0">
                <a:solidFill>
                  <a:srgbClr val="FFFFFF"/>
                </a:solidFill>
                <a:latin typeface="Aptos"/>
              </a:rPr>
              <a:t>Checked 3D from one image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640080" y="1554480"/>
            <a:ext cx="3364992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74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7415" name="Rounded Rectangle 17414"/>
          <p:cNvSpPr/>
          <p:nvPr/>
        </p:nvSpPr>
        <p:spPr>
          <a:xfrm>
            <a:off x="640080" y="1554480"/>
            <a:ext cx="3364992" cy="283464"/>
          </a:xfrm>
          <a:prstGeom prst="roundRect">
            <a:avLst/>
          </a:prstGeom>
          <a:solidFill>
            <a:srgbClr val="D2742D"/>
          </a:solidFill>
          <a:ln w="12700">
            <a:solidFill>
              <a:srgbClr val="D274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7416" name="TextBox 17415"/>
          <p:cNvSpPr txBox="1"/>
          <p:nvPr/>
        </p:nvSpPr>
        <p:spPr>
          <a:xfrm>
            <a:off x="731519" y="1581912"/>
            <a:ext cx="3182112" cy="228600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20" b="1">
                <a:solidFill>
                  <a:srgbClr val="FFFFFF"/>
                </a:solidFill>
              </a:defRPr>
            </a:pPr>
            <a:r>
              <a:rPr sz="1160" b="1" i="0">
                <a:solidFill>
                  <a:srgbClr val="FFFFFF"/>
                </a:solidFill>
                <a:latin typeface="Aptos"/>
              </a:rPr>
              <a:t>DISASTER MANAGEMENT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768096" y="2002536"/>
            <a:ext cx="3108960" cy="502920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>
              <a:spcBef>
                <a:spcPts val="0"/>
              </a:spcBef>
            </a:pPr>
            <a:r>
              <a:rPr sz="1000"/>
              <a:t>Flood-depth scenarios · slope classes · affected buildings · routes, relief sites</a:t>
            </a:r>
          </a:p>
          <a:p>
            <a:pPr>
              <a:spcBef>
                <a:spcPts val="0"/>
              </a:spcBef>
            </a:pPr>
            <a:r>
              <a:rPr sz="1000" i="1"/>
              <a:t>Scenario test, Porto Alegre 2024: CSI 0.79 in 4 laser-levelled windows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8183879" y="1554480"/>
            <a:ext cx="3364992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0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7419" name="Rounded Rectangle 17418"/>
          <p:cNvSpPr/>
          <p:nvPr/>
        </p:nvSpPr>
        <p:spPr>
          <a:xfrm>
            <a:off x="8183879" y="1554480"/>
            <a:ext cx="3364992" cy="283464"/>
          </a:xfrm>
          <a:prstGeom prst="roundRect">
            <a:avLst/>
          </a:prstGeom>
          <a:solidFill>
            <a:srgbClr val="2068AA"/>
          </a:solidFill>
          <a:ln w="12700">
            <a:solidFill>
              <a:srgbClr val="20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7420" name="TextBox 17419"/>
          <p:cNvSpPr txBox="1"/>
          <p:nvPr/>
        </p:nvSpPr>
        <p:spPr>
          <a:xfrm>
            <a:off x="8275319" y="1581912"/>
            <a:ext cx="3182112" cy="228600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20" b="1">
                <a:solidFill>
                  <a:srgbClr val="FFFFFF"/>
                </a:solidFill>
              </a:defRPr>
            </a:pPr>
            <a:r>
              <a:rPr sz="1160" b="1" i="0">
                <a:solidFill>
                  <a:srgbClr val="FFFFFF"/>
                </a:solidFill>
                <a:latin typeface="Aptos"/>
              </a:rPr>
              <a:t>URBAN PLANNING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8311896" y="2002536"/>
            <a:ext cx="3108960" cy="502920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90" b="0">
                <a:solidFill>
                  <a:srgbClr val="232B36"/>
                </a:solidFill>
              </a:defRPr>
            </a:pPr>
            <a:r>
              <a:rPr sz="1040" b="0" i="0">
                <a:solidFill>
                  <a:srgbClr val="24313F"/>
                </a:solidFill>
                <a:latin typeface="Aptos"/>
              </a:rPr>
              <a:t>Building heights (GAMUS: MAE 3.57 m on 1,450 buildings) · 3D base maps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640080" y="3273552"/>
            <a:ext cx="324612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28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7423" name="Rounded Rectangle 17422"/>
          <p:cNvSpPr/>
          <p:nvPr/>
        </p:nvSpPr>
        <p:spPr>
          <a:xfrm>
            <a:off x="640080" y="3273552"/>
            <a:ext cx="3246120" cy="283464"/>
          </a:xfrm>
          <a:prstGeom prst="roundRect">
            <a:avLst/>
          </a:prstGeom>
          <a:solidFill>
            <a:srgbClr val="228989"/>
          </a:solidFill>
          <a:ln w="12700">
            <a:solidFill>
              <a:srgbClr val="228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7424" name="TextBox 17423"/>
          <p:cNvSpPr txBox="1"/>
          <p:nvPr/>
        </p:nvSpPr>
        <p:spPr>
          <a:xfrm>
            <a:off x="731519" y="3306793"/>
            <a:ext cx="3069700" cy="216982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20" b="1">
                <a:solidFill>
                  <a:srgbClr val="FFFFFF"/>
                </a:solidFill>
              </a:defRPr>
            </a:pPr>
            <a:r>
              <a:rPr sz="1160" b="1" i="0">
                <a:solidFill>
                  <a:srgbClr val="FFFFFF"/>
                </a:solidFill>
                <a:latin typeface="Aptos"/>
              </a:rPr>
              <a:t>REMOTE SENSING (ISRO)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768096" y="3803021"/>
            <a:ext cx="2999133" cy="340093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>
              <a:spcBef>
                <a:spcPts val="0"/>
              </a:spcBef>
            </a:pPr>
            <a:r>
              <a:rPr sz="980" dirty="0"/>
              <a:t>More value from optical archives · next: test on Cartosat + CartoDEM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8330183" y="3273552"/>
            <a:ext cx="3218687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58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7427" name="Rounded Rectangle 17426"/>
          <p:cNvSpPr/>
          <p:nvPr/>
        </p:nvSpPr>
        <p:spPr>
          <a:xfrm>
            <a:off x="8330183" y="3273552"/>
            <a:ext cx="3218687" cy="283464"/>
          </a:xfrm>
          <a:prstGeom prst="roundRect">
            <a:avLst/>
          </a:prstGeom>
          <a:solidFill>
            <a:srgbClr val="45885C"/>
          </a:solidFill>
          <a:ln w="12700">
            <a:solidFill>
              <a:srgbClr val="458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7428" name="TextBox 17427"/>
          <p:cNvSpPr txBox="1"/>
          <p:nvPr/>
        </p:nvSpPr>
        <p:spPr>
          <a:xfrm>
            <a:off x="8413673" y="3306793"/>
            <a:ext cx="3043758" cy="216982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20" b="1">
                <a:solidFill>
                  <a:srgbClr val="FFFFFF"/>
                </a:solidFill>
              </a:defRPr>
            </a:pPr>
            <a:r>
              <a:rPr sz="1160" b="1" i="0">
                <a:solidFill>
                  <a:srgbClr val="FFFFFF"/>
                </a:solidFill>
                <a:latin typeface="Aptos"/>
              </a:rPr>
              <a:t>FIELD RESPONSE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8447068" y="3870540"/>
            <a:ext cx="2973787" cy="205056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90" b="0">
                <a:solidFill>
                  <a:srgbClr val="232B36"/>
                </a:solidFill>
              </a:defRPr>
            </a:pPr>
            <a:r>
              <a:rPr sz="1040" b="0" i="0">
                <a:solidFill>
                  <a:srgbClr val="24313F"/>
                </a:solidFill>
                <a:latin typeface="Aptos"/>
              </a:rPr>
              <a:t>Fly-through + street-level view for briefings · offline routes and relief sites</a:t>
            </a:r>
          </a:p>
        </p:txBody>
      </p:sp>
      <p:sp>
        <p:nvSpPr>
          <p:cNvPr id="17430" name="Right Arrow 17429"/>
          <p:cNvSpPr/>
          <p:nvPr/>
        </p:nvSpPr>
        <p:spPr>
          <a:xfrm>
            <a:off x="4119172" y="1901952"/>
            <a:ext cx="384048" cy="256032"/>
          </a:xfrm>
          <a:prstGeom prst="rightArrow">
            <a:avLst/>
          </a:prstGeom>
          <a:solidFill>
            <a:srgbClr val="5C6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7431" name="Right Arrow 17430"/>
          <p:cNvSpPr/>
          <p:nvPr/>
        </p:nvSpPr>
        <p:spPr>
          <a:xfrm>
            <a:off x="7622516" y="1892967"/>
            <a:ext cx="384048" cy="256032"/>
          </a:xfrm>
          <a:prstGeom prst="rightArrow">
            <a:avLst/>
          </a:prstGeom>
          <a:solidFill>
            <a:srgbClr val="5C6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7432" name="Right Arrow 17431"/>
          <p:cNvSpPr/>
          <p:nvPr/>
        </p:nvSpPr>
        <p:spPr>
          <a:xfrm>
            <a:off x="4087368" y="3621024"/>
            <a:ext cx="384048" cy="256032"/>
          </a:xfrm>
          <a:prstGeom prst="rightArrow">
            <a:avLst/>
          </a:prstGeom>
          <a:solidFill>
            <a:srgbClr val="5C6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7433" name="Right Arrow 17432"/>
          <p:cNvSpPr/>
          <p:nvPr/>
        </p:nvSpPr>
        <p:spPr>
          <a:xfrm>
            <a:off x="7543800" y="3621024"/>
            <a:ext cx="384048" cy="256032"/>
          </a:xfrm>
          <a:prstGeom prst="rightArrow">
            <a:avLst/>
          </a:prstGeom>
          <a:solidFill>
            <a:srgbClr val="5C6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7434" name="Rounded Rectangle 17433"/>
          <p:cNvSpPr/>
          <p:nvPr/>
        </p:nvSpPr>
        <p:spPr>
          <a:xfrm>
            <a:off x="640080" y="4846320"/>
            <a:ext cx="3520440" cy="804672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274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7435" name="TextBox 17434"/>
          <p:cNvSpPr txBox="1"/>
          <p:nvPr/>
        </p:nvSpPr>
        <p:spPr>
          <a:xfrm>
            <a:off x="731519" y="4956048"/>
            <a:ext cx="3337560" cy="192024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D2742D"/>
                </a:solidFill>
              </a:defRPr>
            </a:pPr>
            <a:r>
              <a:rPr sz="1040" b="1" i="0">
                <a:solidFill>
                  <a:srgbClr val="17273A"/>
                </a:solidFill>
                <a:latin typeface="Aptos"/>
              </a:rPr>
              <a:t>ECONOMIC</a:t>
            </a:r>
          </a:p>
        </p:txBody>
      </p:sp>
      <p:sp>
        <p:nvSpPr>
          <p:cNvPr id="17436" name="TextBox 17435"/>
          <p:cNvSpPr txBox="1"/>
          <p:nvPr/>
        </p:nvSpPr>
        <p:spPr>
          <a:xfrm>
            <a:off x="777240" y="5212080"/>
            <a:ext cx="3246120" cy="283464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232B36"/>
                </a:solidFill>
              </a:defRPr>
            </a:pPr>
            <a:r>
              <a:rPr sz="1050" b="0" i="0">
                <a:solidFill>
                  <a:srgbClr val="24313F"/>
                </a:solidFill>
                <a:latin typeface="Aptos"/>
              </a:rPr>
              <a:t>Reuse existing images instead of new LiDAR/stereo surveys for every event</a:t>
            </a:r>
          </a:p>
        </p:txBody>
      </p:sp>
      <p:sp>
        <p:nvSpPr>
          <p:cNvPr id="17437" name="Rounded Rectangle 17436"/>
          <p:cNvSpPr/>
          <p:nvPr/>
        </p:nvSpPr>
        <p:spPr>
          <a:xfrm>
            <a:off x="4343400" y="4846320"/>
            <a:ext cx="3520440" cy="804672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228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7438" name="TextBox 17437"/>
          <p:cNvSpPr txBox="1"/>
          <p:nvPr/>
        </p:nvSpPr>
        <p:spPr>
          <a:xfrm>
            <a:off x="4434840" y="4956048"/>
            <a:ext cx="3337560" cy="192024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228989"/>
                </a:solidFill>
              </a:defRPr>
            </a:pPr>
            <a:r>
              <a:rPr sz="1040" b="1" i="0">
                <a:solidFill>
                  <a:srgbClr val="17273A"/>
                </a:solidFill>
                <a:latin typeface="Aptos"/>
              </a:rPr>
              <a:t>SOCIAL</a:t>
            </a:r>
          </a:p>
        </p:txBody>
      </p:sp>
      <p:sp>
        <p:nvSpPr>
          <p:cNvPr id="17439" name="TextBox 17438"/>
          <p:cNvSpPr txBox="1"/>
          <p:nvPr/>
        </p:nvSpPr>
        <p:spPr>
          <a:xfrm>
            <a:off x="4480560" y="5212080"/>
            <a:ext cx="3246120" cy="283464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232B36"/>
                </a:solidFill>
              </a:defRPr>
            </a:pPr>
            <a:r>
              <a:rPr sz="1050" b="0" i="0">
                <a:solidFill>
                  <a:srgbClr val="24313F"/>
                </a:solidFill>
                <a:latin typeface="Aptos"/>
              </a:rPr>
              <a:t>Faster 3D damage picture; works offline in the field</a:t>
            </a:r>
          </a:p>
        </p:txBody>
      </p:sp>
      <p:sp>
        <p:nvSpPr>
          <p:cNvPr id="17440" name="Rounded Rectangle 17439"/>
          <p:cNvSpPr/>
          <p:nvPr/>
        </p:nvSpPr>
        <p:spPr>
          <a:xfrm>
            <a:off x="8046719" y="4846320"/>
            <a:ext cx="3520440" cy="804672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458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7441" name="TextBox 17440"/>
          <p:cNvSpPr txBox="1"/>
          <p:nvPr/>
        </p:nvSpPr>
        <p:spPr>
          <a:xfrm>
            <a:off x="8138159" y="4956048"/>
            <a:ext cx="3337560" cy="192024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45885C"/>
                </a:solidFill>
              </a:defRPr>
            </a:pPr>
            <a:r>
              <a:rPr sz="1040" b="1" i="0">
                <a:solidFill>
                  <a:srgbClr val="17273A"/>
                </a:solidFill>
                <a:latin typeface="Aptos"/>
              </a:rPr>
              <a:t>ENVIRONMENTAL</a:t>
            </a:r>
          </a:p>
        </p:txBody>
      </p:sp>
      <p:sp>
        <p:nvSpPr>
          <p:cNvPr id="17442" name="TextBox 17441"/>
          <p:cNvSpPr txBox="1"/>
          <p:nvPr/>
        </p:nvSpPr>
        <p:spPr>
          <a:xfrm>
            <a:off x="8183879" y="5212080"/>
            <a:ext cx="3246120" cy="283464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232B36"/>
                </a:solidFill>
              </a:defRPr>
            </a:pPr>
            <a:r>
              <a:rPr sz="1050" b="0" i="0">
                <a:solidFill>
                  <a:srgbClr val="24313F"/>
                </a:solidFill>
                <a:latin typeface="Aptos"/>
              </a:rPr>
              <a:t>Terrain and slope context for flood and landslide planning</a:t>
            </a:r>
          </a:p>
        </p:txBody>
      </p:sp>
      <p:sp>
        <p:nvSpPr>
          <p:cNvPr id="17443" name="TextBox 17442"/>
          <p:cNvSpPr txBox="1"/>
          <p:nvPr/>
        </p:nvSpPr>
        <p:spPr>
          <a:xfrm>
            <a:off x="3611880" y="5907024"/>
            <a:ext cx="4983480" cy="219456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152742"/>
                </a:solidFill>
              </a:defRPr>
            </a:pPr>
            <a:r>
              <a:rPr sz="1040" b="1" i="0">
                <a:solidFill>
                  <a:srgbClr val="FFFFFF"/>
                </a:solidFill>
                <a:latin typeface="Aptos"/>
              </a:rPr>
              <a:t>ONE SATELLITE IMAGE → CHECKED 3D → FASTER DECISIONS</a:t>
            </a:r>
          </a:p>
        </p:txBody>
      </p:sp>
      <p:pic>
        <p:nvPicPr>
          <p:cNvPr id="17445" name="Picture 17444" descr="terravista_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" y="356616"/>
            <a:ext cx="347472" cy="347472"/>
          </a:xfrm>
          <a:prstGeom prst="rect">
            <a:avLst/>
          </a:prstGeom>
        </p:spPr>
      </p:pic>
      <p:sp>
        <p:nvSpPr>
          <p:cNvPr id="17446" name="TextBox 17445"/>
          <p:cNvSpPr txBox="1"/>
          <p:nvPr/>
        </p:nvSpPr>
        <p:spPr>
          <a:xfrm>
            <a:off x="740664" y="352044"/>
            <a:ext cx="91440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7273A"/>
                </a:solidFill>
                <a:latin typeface="Aptos"/>
              </a:rPr>
              <a:t>TerraVista</a:t>
            </a:r>
          </a:p>
        </p:txBody>
      </p:sp>
      <p:pic>
        <p:nvPicPr>
          <p:cNvPr id="17447" name="Picture 17446" descr="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41366" y="57097"/>
            <a:ext cx="2209120" cy="1122868"/>
          </a:xfrm>
          <a:prstGeom prst="rect">
            <a:avLst/>
          </a:prstGeom>
        </p:spPr>
      </p:pic>
      <p:sp>
        <p:nvSpPr>
          <p:cNvPr id="17448" name="TextBox 17447"/>
          <p:cNvSpPr txBox="1"/>
          <p:nvPr/>
        </p:nvSpPr>
        <p:spPr>
          <a:xfrm>
            <a:off x="4061459" y="2568271"/>
            <a:ext cx="40690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850" b="1" dirty="0">
                <a:solidFill>
                  <a:srgbClr val="5C6874"/>
                </a:solidFill>
                <a:latin typeface="Aptos"/>
              </a:rPr>
              <a:t>FROM TERRAIN DATA TO ACTIONABLE INTELLIGENCE</a:t>
            </a:r>
          </a:p>
        </p:txBody>
      </p:sp>
      <p:sp>
        <p:nvSpPr>
          <p:cNvPr id="17449" name="Rounded Rectangle 17448"/>
          <p:cNvSpPr/>
          <p:nvPr/>
        </p:nvSpPr>
        <p:spPr>
          <a:xfrm>
            <a:off x="4069080" y="3127248"/>
            <a:ext cx="1170432" cy="841248"/>
          </a:xfrm>
          <a:prstGeom prst="roundRect">
            <a:avLst/>
          </a:prstGeom>
          <a:solidFill>
            <a:srgbClr val="E8F2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50" name="TextBox 17449"/>
          <p:cNvSpPr txBox="1"/>
          <p:nvPr/>
        </p:nvSpPr>
        <p:spPr>
          <a:xfrm>
            <a:off x="4114800" y="3182112"/>
            <a:ext cx="1078992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850" b="1">
                <a:solidFill>
                  <a:srgbClr val="0E63DC"/>
                </a:solidFill>
                <a:latin typeface="Aptos"/>
              </a:rPr>
              <a:t>1</a:t>
            </a:r>
          </a:p>
        </p:txBody>
      </p:sp>
      <p:sp>
        <p:nvSpPr>
          <p:cNvPr id="17451" name="TextBox 17450"/>
          <p:cNvSpPr txBox="1"/>
          <p:nvPr/>
        </p:nvSpPr>
        <p:spPr>
          <a:xfrm>
            <a:off x="4114800" y="3374136"/>
            <a:ext cx="1078992" cy="2103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950" b="1">
                <a:solidFill>
                  <a:srgbClr val="17273A"/>
                </a:solidFill>
                <a:latin typeface="Aptos"/>
              </a:rPr>
              <a:t>HEIGHT MAP</a:t>
            </a:r>
          </a:p>
        </p:txBody>
      </p:sp>
      <p:sp>
        <p:nvSpPr>
          <p:cNvPr id="17452" name="TextBox 17451"/>
          <p:cNvSpPr txBox="1"/>
          <p:nvPr/>
        </p:nvSpPr>
        <p:spPr>
          <a:xfrm>
            <a:off x="4114800" y="3602736"/>
            <a:ext cx="1078992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770" b="0">
                <a:solidFill>
                  <a:srgbClr val="5C6874"/>
                </a:solidFill>
                <a:latin typeface="Aptos"/>
              </a:rPr>
              <a:t>per pixel</a:t>
            </a:r>
          </a:p>
        </p:txBody>
      </p:sp>
      <p:sp>
        <p:nvSpPr>
          <p:cNvPr id="17453" name="Rounded Rectangle 17452"/>
          <p:cNvSpPr/>
          <p:nvPr/>
        </p:nvSpPr>
        <p:spPr>
          <a:xfrm>
            <a:off x="5440680" y="3127248"/>
            <a:ext cx="1417320" cy="841248"/>
          </a:xfrm>
          <a:prstGeom prst="roundRect">
            <a:avLst/>
          </a:prstGeom>
          <a:solidFill>
            <a:srgbClr val="E8F9F5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54" name="TextBox 17453"/>
          <p:cNvSpPr txBox="1"/>
          <p:nvPr/>
        </p:nvSpPr>
        <p:spPr>
          <a:xfrm>
            <a:off x="5486400" y="3182112"/>
            <a:ext cx="132588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850" b="1">
                <a:solidFill>
                  <a:srgbClr val="0E63DC"/>
                </a:solidFill>
                <a:latin typeface="Aptos"/>
              </a:rPr>
              <a:t>2</a:t>
            </a:r>
          </a:p>
        </p:txBody>
      </p:sp>
      <p:sp>
        <p:nvSpPr>
          <p:cNvPr id="17455" name="TextBox 17454"/>
          <p:cNvSpPr txBox="1"/>
          <p:nvPr/>
        </p:nvSpPr>
        <p:spPr>
          <a:xfrm>
            <a:off x="5486400" y="3374136"/>
            <a:ext cx="1325880" cy="2103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950" b="1">
                <a:solidFill>
                  <a:srgbClr val="17273A"/>
                </a:solidFill>
                <a:latin typeface="Aptos"/>
              </a:rPr>
              <a:t>CHECKED 3D</a:t>
            </a:r>
          </a:p>
        </p:txBody>
      </p:sp>
      <p:sp>
        <p:nvSpPr>
          <p:cNvPr id="17456" name="TextBox 17455"/>
          <p:cNvSpPr txBox="1"/>
          <p:nvPr/>
        </p:nvSpPr>
        <p:spPr>
          <a:xfrm>
            <a:off x="5486400" y="3602736"/>
            <a:ext cx="1325880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770" b="0">
                <a:solidFill>
                  <a:srgbClr val="5C6874"/>
                </a:solidFill>
                <a:latin typeface="Aptos"/>
              </a:rPr>
              <a:t>metres + ICESat-2</a:t>
            </a:r>
          </a:p>
        </p:txBody>
      </p:sp>
      <p:sp>
        <p:nvSpPr>
          <p:cNvPr id="17457" name="Rounded Rectangle 17456"/>
          <p:cNvSpPr/>
          <p:nvPr/>
        </p:nvSpPr>
        <p:spPr>
          <a:xfrm>
            <a:off x="7059168" y="3127248"/>
            <a:ext cx="1115568" cy="841248"/>
          </a:xfrm>
          <a:prstGeom prst="roundRect">
            <a:avLst/>
          </a:prstGeom>
          <a:solidFill>
            <a:srgbClr val="F1E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58" name="TextBox 17457"/>
          <p:cNvSpPr txBox="1"/>
          <p:nvPr/>
        </p:nvSpPr>
        <p:spPr>
          <a:xfrm>
            <a:off x="7104888" y="3182112"/>
            <a:ext cx="1024127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850" b="1">
                <a:solidFill>
                  <a:srgbClr val="0E63DC"/>
                </a:solidFill>
                <a:latin typeface="Aptos"/>
              </a:rPr>
              <a:t>3</a:t>
            </a:r>
          </a:p>
        </p:txBody>
      </p:sp>
      <p:sp>
        <p:nvSpPr>
          <p:cNvPr id="17459" name="TextBox 17458"/>
          <p:cNvSpPr txBox="1"/>
          <p:nvPr/>
        </p:nvSpPr>
        <p:spPr>
          <a:xfrm>
            <a:off x="7104888" y="3374136"/>
            <a:ext cx="1024127" cy="2103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950" b="1">
                <a:solidFill>
                  <a:srgbClr val="17273A"/>
                </a:solidFill>
                <a:latin typeface="Aptos"/>
              </a:rPr>
              <a:t>DECISION</a:t>
            </a:r>
          </a:p>
        </p:txBody>
      </p:sp>
      <p:sp>
        <p:nvSpPr>
          <p:cNvPr id="17460" name="TextBox 17459"/>
          <p:cNvSpPr txBox="1"/>
          <p:nvPr/>
        </p:nvSpPr>
        <p:spPr>
          <a:xfrm>
            <a:off x="7104888" y="3602736"/>
            <a:ext cx="1024127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770" b="0">
                <a:solidFill>
                  <a:srgbClr val="5C6874"/>
                </a:solidFill>
                <a:latin typeface="Aptos"/>
              </a:rPr>
              <a:t>flood / slope</a:t>
            </a:r>
          </a:p>
        </p:txBody>
      </p:sp>
      <p:cxnSp>
        <p:nvCxnSpPr>
          <p:cNvPr id="17461" name="Connector 17460"/>
          <p:cNvCxnSpPr/>
          <p:nvPr/>
        </p:nvCxnSpPr>
        <p:spPr>
          <a:xfrm>
            <a:off x="5257800" y="3547872"/>
            <a:ext cx="155448" cy="0"/>
          </a:xfrm>
          <a:prstGeom prst="line">
            <a:avLst/>
          </a:prstGeom>
          <a:ln w="19050">
            <a:solidFill>
              <a:srgbClr val="0E6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62" name="Connector 17461"/>
          <p:cNvCxnSpPr/>
          <p:nvPr/>
        </p:nvCxnSpPr>
        <p:spPr>
          <a:xfrm>
            <a:off x="6894576" y="3547872"/>
            <a:ext cx="146304" cy="0"/>
          </a:xfrm>
          <a:prstGeom prst="line">
            <a:avLst/>
          </a:prstGeom>
          <a:ln w="19050">
            <a:solidFill>
              <a:srgbClr val="0096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63" name="Rounded Rectangle 17462"/>
          <p:cNvSpPr/>
          <p:nvPr/>
        </p:nvSpPr>
        <p:spPr>
          <a:xfrm>
            <a:off x="4160520" y="4096512"/>
            <a:ext cx="3822191" cy="393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64" name="TextBox 17463"/>
          <p:cNvSpPr txBox="1"/>
          <p:nvPr/>
        </p:nvSpPr>
        <p:spPr>
          <a:xfrm>
            <a:off x="4251960" y="4160853"/>
            <a:ext cx="3639312" cy="246221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 dirty="0">
                <a:solidFill>
                  <a:srgbClr val="17273A"/>
                </a:solidFill>
                <a:latin typeface="Aptos"/>
              </a:rPr>
              <a:t>One optical image → measured, checked terrain context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7" name="Rounded Rectangle 17416"/>
          <p:cNvSpPr/>
          <p:nvPr/>
        </p:nvSpPr>
        <p:spPr>
          <a:xfrm>
            <a:off x="6099048" y="1625727"/>
            <a:ext cx="5449824" cy="1691640"/>
          </a:xfrm>
          <a:prstGeom prst="roundRect">
            <a:avLst>
              <a:gd name="adj" fmla="val 5734"/>
            </a:avLst>
          </a:prstGeom>
          <a:solidFill>
            <a:srgbClr val="F4F7FB"/>
          </a:solidFill>
          <a:ln w="12700">
            <a:solidFill>
              <a:srgbClr val="D5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7413" name="Rounded Rectangle 17412"/>
          <p:cNvSpPr/>
          <p:nvPr/>
        </p:nvSpPr>
        <p:spPr>
          <a:xfrm>
            <a:off x="594360" y="1581912"/>
            <a:ext cx="5303520" cy="1737360"/>
          </a:xfrm>
          <a:prstGeom prst="roundRect">
            <a:avLst>
              <a:gd name="adj" fmla="val 5988"/>
            </a:avLst>
          </a:prstGeom>
          <a:solidFill>
            <a:srgbClr val="F4F7FB"/>
          </a:solidFill>
          <a:ln w="12700">
            <a:solidFill>
              <a:srgbClr val="D5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 wrap="square" lIns="38100" tIns="19050" rIns="38100" bIns="19050" anchor="ctr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500" b="1" i="0" dirty="0">
                <a:solidFill>
                  <a:srgbClr val="17273A"/>
                </a:solidFill>
                <a:latin typeface="Aptos Display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lIns="38100" tIns="19050" rIns="38100" bIns="19050"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7410" name="TextBox 17409"/>
          <p:cNvSpPr txBox="1"/>
          <p:nvPr/>
        </p:nvSpPr>
        <p:spPr>
          <a:xfrm>
            <a:off x="594360" y="1078992"/>
            <a:ext cx="10972800" cy="329184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30" b="1">
                <a:solidFill>
                  <a:srgbClr val="152742"/>
                </a:solidFill>
              </a:defRPr>
            </a:pPr>
            <a:r>
              <a:rPr sz="1900" b="1" i="0">
                <a:solidFill>
                  <a:srgbClr val="17273A"/>
                </a:solidFill>
                <a:latin typeface="Aptos"/>
              </a:rPr>
              <a:t>Research Foundation: Published Model, Open Data, Independent Laser Checks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594360" y="1554480"/>
            <a:ext cx="5303520" cy="301752"/>
          </a:xfrm>
          <a:prstGeom prst="roundRect">
            <a:avLst/>
          </a:prstGeom>
          <a:solidFill>
            <a:srgbClr val="2068AA"/>
          </a:solidFill>
          <a:ln w="12700">
            <a:solidFill>
              <a:srgbClr val="20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7412" name="TextBox 17411"/>
          <p:cNvSpPr txBox="1"/>
          <p:nvPr/>
        </p:nvSpPr>
        <p:spPr>
          <a:xfrm>
            <a:off x="685800" y="1581912"/>
            <a:ext cx="5120640" cy="246888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20" b="1">
                <a:solidFill>
                  <a:srgbClr val="FFFFFF"/>
                </a:solidFill>
              </a:defRPr>
            </a:pPr>
            <a:r>
              <a:rPr sz="1120" b="1" i="0">
                <a:solidFill>
                  <a:srgbClr val="FFFFFF"/>
                </a:solidFill>
                <a:latin typeface="Aptos"/>
              </a:rPr>
              <a:t>MODELS &amp; METHODS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795528" y="1871731"/>
            <a:ext cx="4882896" cy="1417320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50"/>
              </a:spcAft>
              <a:defRPr sz="1010">
                <a:solidFill>
                  <a:srgbClr val="232B36"/>
                </a:solidFill>
              </a:defRPr>
            </a:pPr>
            <a:r>
              <a:rPr sz="1120" b="0" i="0" dirty="0">
                <a:solidFill>
                  <a:srgbClr val="24313F"/>
                </a:solidFill>
                <a:latin typeface="Aptos"/>
              </a:rPr>
              <a:t>• RS3DAda: Song et al., NeurIPS 2024 (the model we run, released weights)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50"/>
              </a:spcAft>
              <a:defRPr sz="1010">
                <a:solidFill>
                  <a:srgbClr val="232B36"/>
                </a:solidFill>
              </a:defRPr>
            </a:pPr>
            <a:r>
              <a:rPr sz="1120" b="0" i="0" dirty="0">
                <a:solidFill>
                  <a:srgbClr val="24313F"/>
                </a:solidFill>
                <a:latin typeface="Aptos"/>
              </a:rPr>
              <a:t>• Split-conformal: Angelopoulos &amp; Bates 2021 (90% building interval)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50"/>
              </a:spcAft>
              <a:defRPr sz="1010">
                <a:solidFill>
                  <a:srgbClr val="232B36"/>
                </a:solidFill>
              </a:defRPr>
            </a:pPr>
            <a:r>
              <a:rPr sz="1120" b="0" i="0" dirty="0">
                <a:solidFill>
                  <a:srgbClr val="24313F"/>
                </a:solidFill>
                <a:latin typeface="Aptos"/>
              </a:rPr>
              <a:t>• FABDEM: Hawker et al. 2022 (bare-earth DEM, used for checks)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50"/>
              </a:spcAft>
              <a:defRPr sz="1010">
                <a:solidFill>
                  <a:srgbClr val="232B36"/>
                </a:solidFill>
              </a:defRPr>
            </a:pPr>
            <a:r>
              <a:rPr sz="1120" b="0" i="0" dirty="0">
                <a:solidFill>
                  <a:srgbClr val="24313F"/>
                </a:solidFill>
                <a:latin typeface="Aptos"/>
              </a:rPr>
              <a:t>• Roof photons in ICESat-2: Cai et al. 2024 (OSM footprints mask roofs)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50"/>
              </a:spcAft>
              <a:defRPr sz="1010">
                <a:solidFill>
                  <a:srgbClr val="232B36"/>
                </a:solidFill>
              </a:defRPr>
            </a:pPr>
            <a:r>
              <a:rPr sz="1120" b="0" i="0" dirty="0">
                <a:solidFill>
                  <a:srgbClr val="24313F"/>
                </a:solidFill>
                <a:latin typeface="Aptos"/>
              </a:rPr>
              <a:t>• Reviewed, not built: DINOv3 / CHMv2, Prompt2DEM, Sat3DGen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6099048" y="1554480"/>
            <a:ext cx="5449824" cy="301752"/>
          </a:xfrm>
          <a:prstGeom prst="roundRect">
            <a:avLst/>
          </a:prstGeom>
          <a:solidFill>
            <a:srgbClr val="228989"/>
          </a:solidFill>
          <a:ln w="12700">
            <a:solidFill>
              <a:srgbClr val="228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endParaRPr/>
          </a:p>
        </p:txBody>
      </p:sp>
      <p:sp>
        <p:nvSpPr>
          <p:cNvPr id="17416" name="TextBox 17415"/>
          <p:cNvSpPr txBox="1"/>
          <p:nvPr/>
        </p:nvSpPr>
        <p:spPr>
          <a:xfrm>
            <a:off x="6190488" y="1581912"/>
            <a:ext cx="5266944" cy="246888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20" b="1">
                <a:solidFill>
                  <a:srgbClr val="FFFFFF"/>
                </a:solidFill>
              </a:defRPr>
            </a:pPr>
            <a:r>
              <a:rPr sz="1120" b="1" i="0">
                <a:solidFill>
                  <a:srgbClr val="FFFFFF"/>
                </a:solidFill>
                <a:latin typeface="Aptos"/>
              </a:rPr>
              <a:t>DATASETS / VALIDATION / OFFICIAL SOURCES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6300216" y="1863788"/>
            <a:ext cx="5029200" cy="1417320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50"/>
              </a:spcAft>
              <a:defRPr sz="1010">
                <a:solidFill>
                  <a:srgbClr val="232B36"/>
                </a:solidFill>
              </a:defRPr>
            </a:pPr>
            <a:r>
              <a:rPr sz="1120" b="0" i="0" dirty="0">
                <a:solidFill>
                  <a:srgbClr val="24313F"/>
                </a:solidFill>
                <a:latin typeface="Aptos"/>
              </a:rPr>
              <a:t>• GAMUS (PS-recommended; aerial 0.33 m) · Overhead Geopose ATL / ARG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50"/>
              </a:spcAft>
              <a:defRPr sz="1010">
                <a:solidFill>
                  <a:srgbClr val="232B36"/>
                </a:solidFill>
              </a:defRPr>
            </a:pPr>
            <a:r>
              <a:rPr sz="1120" b="0" i="0" dirty="0">
                <a:solidFill>
                  <a:srgbClr val="24313F"/>
                </a:solidFill>
                <a:latin typeface="Aptos"/>
              </a:rPr>
              <a:t>• Copernicus GLO-30 · FABDEM · CartoDEM (requested from NRSC)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50"/>
              </a:spcAft>
              <a:defRPr sz="1010">
                <a:solidFill>
                  <a:srgbClr val="232B36"/>
                </a:solidFill>
              </a:defRPr>
            </a:pPr>
            <a:r>
              <a:rPr sz="1120" b="0" i="0" dirty="0">
                <a:solidFill>
                  <a:srgbClr val="24313F"/>
                </a:solidFill>
                <a:latin typeface="Aptos"/>
              </a:rPr>
              <a:t>• NASA ICESat-2 ATL03 / ATL08 · GEDI L2A · OpenStreetMap buildings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50"/>
              </a:spcAft>
              <a:defRPr sz="1010">
                <a:solidFill>
                  <a:srgbClr val="232B36"/>
                </a:solidFill>
              </a:defRPr>
            </a:pPr>
            <a:r>
              <a:rPr sz="1120" b="0" i="0" dirty="0">
                <a:solidFill>
                  <a:srgbClr val="24313F"/>
                </a:solidFill>
                <a:latin typeface="Aptos"/>
              </a:rPr>
              <a:t>• IPH-UFRGS 2024 flood map · DFC2019 (adaptation domain, not zero-shot)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50"/>
              </a:spcAft>
              <a:defRPr sz="1010">
                <a:solidFill>
                  <a:srgbClr val="232B36"/>
                </a:solidFill>
              </a:defRPr>
            </a:pPr>
            <a:r>
              <a:rPr sz="1120" b="0" i="0" dirty="0">
                <a:solidFill>
                  <a:srgbClr val="24313F"/>
                </a:solidFill>
                <a:latin typeface="Aptos"/>
              </a:rPr>
              <a:t>• Metrics: MAE, RMSE, bias, NMAD, r on nDSM; 95% CI over tiles / scenes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713232" y="5886896"/>
            <a:ext cx="10835640" cy="223138"/>
          </a:xfrm>
          <a:prstGeom prst="rect">
            <a:avLst/>
          </a:prstGeom>
          <a:noFill/>
        </p:spPr>
        <p:txBody>
          <a:bodyPr wrap="square" lIns="38100" tIns="19050" rIns="38100" bIns="1905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 sz="950" b="0">
                <a:solidFill>
                  <a:srgbClr val="5C6878"/>
                </a:solidFill>
              </a:defRPr>
            </a:pPr>
            <a:r>
              <a:rPr sz="1200" b="1" dirty="0"/>
              <a:t>Not yet validated: Cartosat / CartoDEM, leaf-on canopy, intervals for tall buildings, floor counts, GCP accuracy, processing time</a:t>
            </a:r>
          </a:p>
        </p:txBody>
      </p:sp>
      <p:pic>
        <p:nvPicPr>
          <p:cNvPr id="17421" name="Picture 17420" descr="terravista_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" y="356616"/>
            <a:ext cx="347472" cy="347472"/>
          </a:xfrm>
          <a:prstGeom prst="rect">
            <a:avLst/>
          </a:prstGeom>
        </p:spPr>
      </p:pic>
      <p:sp>
        <p:nvSpPr>
          <p:cNvPr id="17422" name="TextBox 17421"/>
          <p:cNvSpPr txBox="1"/>
          <p:nvPr/>
        </p:nvSpPr>
        <p:spPr>
          <a:xfrm>
            <a:off x="740664" y="352044"/>
            <a:ext cx="91440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7273A"/>
                </a:solidFill>
                <a:latin typeface="Aptos"/>
              </a:rPr>
              <a:t>TerraVista</a:t>
            </a:r>
          </a:p>
        </p:txBody>
      </p:sp>
      <p:pic>
        <p:nvPicPr>
          <p:cNvPr id="17423" name="Picture 17422" descr="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41366" y="57097"/>
            <a:ext cx="2209120" cy="1122868"/>
          </a:xfrm>
          <a:prstGeom prst="rect">
            <a:avLst/>
          </a:prstGeom>
        </p:spPr>
      </p:pic>
      <p:sp>
        <p:nvSpPr>
          <p:cNvPr id="17425" name="Rounded Rectangle 17424"/>
          <p:cNvSpPr/>
          <p:nvPr/>
        </p:nvSpPr>
        <p:spPr>
          <a:xfrm>
            <a:off x="646045" y="5146415"/>
            <a:ext cx="2573322" cy="570570"/>
          </a:xfrm>
          <a:prstGeom prst="roundRect">
            <a:avLst/>
          </a:prstGeom>
          <a:solidFill>
            <a:srgbClr val="E8F2FF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6" name="TextBox 17425"/>
          <p:cNvSpPr txBox="1"/>
          <p:nvPr/>
        </p:nvSpPr>
        <p:spPr>
          <a:xfrm>
            <a:off x="743049" y="5346980"/>
            <a:ext cx="918543" cy="21236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780" b="1" dirty="0">
                <a:solidFill>
                  <a:srgbClr val="17273A"/>
                </a:solidFill>
                <a:latin typeface="Aptos"/>
              </a:rPr>
              <a:t>MODELS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1470097" y="5356460"/>
            <a:ext cx="1620958" cy="20621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740" b="0" dirty="0">
                <a:solidFill>
                  <a:srgbClr val="5C6874"/>
                </a:solidFill>
                <a:latin typeface="Aptos"/>
              </a:rPr>
              <a:t>RS3DAda (DINOv2)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3371850" y="5146415"/>
            <a:ext cx="2557815" cy="570570"/>
          </a:xfrm>
          <a:prstGeom prst="roundRect">
            <a:avLst/>
          </a:prstGeom>
          <a:solidFill>
            <a:srgbClr val="E8F9F5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9" name="TextBox 17428"/>
          <p:cNvSpPr txBox="1"/>
          <p:nvPr/>
        </p:nvSpPr>
        <p:spPr>
          <a:xfrm>
            <a:off x="3553832" y="5354931"/>
            <a:ext cx="918543" cy="21236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780" b="1" dirty="0">
                <a:solidFill>
                  <a:srgbClr val="17273A"/>
                </a:solidFill>
                <a:latin typeface="Aptos"/>
              </a:rPr>
              <a:t>DATASETS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4495569" y="5348510"/>
            <a:ext cx="1620958" cy="20621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740" b="0" dirty="0">
                <a:solidFill>
                  <a:srgbClr val="5C6874"/>
                </a:solidFill>
                <a:latin typeface="Aptos"/>
              </a:rPr>
              <a:t>GAMUS + Geopose</a:t>
            </a:r>
          </a:p>
        </p:txBody>
      </p:sp>
      <p:sp>
        <p:nvSpPr>
          <p:cNvPr id="17431" name="Rounded Rectangle 17430"/>
          <p:cNvSpPr/>
          <p:nvPr/>
        </p:nvSpPr>
        <p:spPr>
          <a:xfrm>
            <a:off x="6082148" y="5146415"/>
            <a:ext cx="2700069" cy="570570"/>
          </a:xfrm>
          <a:prstGeom prst="roundRect">
            <a:avLst/>
          </a:prstGeom>
          <a:solidFill>
            <a:srgbClr val="F1EFFF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2" name="TextBox 17431"/>
          <p:cNvSpPr txBox="1"/>
          <p:nvPr/>
        </p:nvSpPr>
        <p:spPr>
          <a:xfrm>
            <a:off x="6132710" y="5283463"/>
            <a:ext cx="918543" cy="33239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780" b="1" dirty="0">
                <a:solidFill>
                  <a:srgbClr val="17273A"/>
                </a:solidFill>
                <a:latin typeface="Aptos"/>
              </a:rPr>
              <a:t>TERRAIN REFERENCE</a:t>
            </a:r>
          </a:p>
        </p:txBody>
      </p:sp>
      <p:sp>
        <p:nvSpPr>
          <p:cNvPr id="17433" name="TextBox 17432"/>
          <p:cNvSpPr txBox="1"/>
          <p:nvPr/>
        </p:nvSpPr>
        <p:spPr>
          <a:xfrm>
            <a:off x="7107572" y="5348509"/>
            <a:ext cx="1620958" cy="20621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740" b="0" dirty="0" err="1">
                <a:solidFill>
                  <a:srgbClr val="5C6874"/>
                </a:solidFill>
                <a:latin typeface="Aptos"/>
              </a:rPr>
              <a:t>GLO-30 / FABDEM</a:t>
            </a:r>
          </a:p>
        </p:txBody>
      </p:sp>
      <p:sp>
        <p:nvSpPr>
          <p:cNvPr id="17434" name="Rounded Rectangle 17433"/>
          <p:cNvSpPr/>
          <p:nvPr/>
        </p:nvSpPr>
        <p:spPr>
          <a:xfrm>
            <a:off x="8929315" y="5146415"/>
            <a:ext cx="2619556" cy="57057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5" name="TextBox 17434"/>
          <p:cNvSpPr txBox="1"/>
          <p:nvPr/>
        </p:nvSpPr>
        <p:spPr>
          <a:xfrm>
            <a:off x="9067044" y="5339140"/>
            <a:ext cx="1188703" cy="21236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780" b="1" dirty="0">
                <a:solidFill>
                  <a:srgbClr val="17273A"/>
                </a:solidFill>
                <a:latin typeface="Aptos"/>
              </a:rPr>
              <a:t>VALIDATION</a:t>
            </a:r>
          </a:p>
        </p:txBody>
      </p:sp>
      <p:sp>
        <p:nvSpPr>
          <p:cNvPr id="17436" name="TextBox 17435"/>
          <p:cNvSpPr txBox="1"/>
          <p:nvPr/>
        </p:nvSpPr>
        <p:spPr>
          <a:xfrm>
            <a:off x="9816985" y="5348509"/>
            <a:ext cx="2097711" cy="20621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740" b="0" dirty="0">
                <a:solidFill>
                  <a:srgbClr val="5C6874"/>
                </a:solidFill>
                <a:latin typeface="Aptos"/>
              </a:rPr>
              <a:t>ICESat-2 + GEDI</a:t>
            </a:r>
          </a:p>
        </p:txBody>
      </p:sp>
      <p:cxnSp>
        <p:nvCxnSpPr>
          <p:cNvPr id="17437" name="Connector 17436"/>
          <p:cNvCxnSpPr>
            <a:cxnSpLocks/>
          </p:cNvCxnSpPr>
          <p:nvPr/>
        </p:nvCxnSpPr>
        <p:spPr>
          <a:xfrm>
            <a:off x="3219367" y="5460953"/>
            <a:ext cx="137729" cy="0"/>
          </a:xfrm>
          <a:prstGeom prst="line">
            <a:avLst/>
          </a:prstGeom>
          <a:ln w="17780">
            <a:solidFill>
              <a:srgbClr val="0E6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38" name="Connector 17437"/>
          <p:cNvCxnSpPr>
            <a:cxnSpLocks/>
          </p:cNvCxnSpPr>
          <p:nvPr/>
        </p:nvCxnSpPr>
        <p:spPr>
          <a:xfrm>
            <a:off x="5947570" y="5460953"/>
            <a:ext cx="137729" cy="0"/>
          </a:xfrm>
          <a:prstGeom prst="line">
            <a:avLst/>
          </a:prstGeom>
          <a:ln w="17780">
            <a:solidFill>
              <a:srgbClr val="0096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39" name="Connector 17438"/>
          <p:cNvCxnSpPr>
            <a:cxnSpLocks/>
          </p:cNvCxnSpPr>
          <p:nvPr/>
        </p:nvCxnSpPr>
        <p:spPr>
          <a:xfrm>
            <a:off x="8782219" y="5497529"/>
            <a:ext cx="137730" cy="0"/>
          </a:xfrm>
          <a:prstGeom prst="line">
            <a:avLst/>
          </a:prstGeom>
          <a:ln w="17780">
            <a:solidFill>
              <a:srgbClr val="EDAA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7440" name="Chart 17439"/>
          <p:cNvGraphicFramePr>
            <a:graphicFrameLocks noGrp="1"/>
          </p:cNvGraphicFramePr>
          <p:nvPr/>
        </p:nvGraphicFramePr>
        <p:xfrm>
          <a:off x="594360" y="3383280"/>
          <a:ext cx="5394960" cy="150876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7441" name="TextBox 17440"/>
          <p:cNvSpPr txBox="1"/>
          <p:nvPr/>
        </p:nvSpPr>
        <p:spPr>
          <a:xfrm>
            <a:off x="594360" y="4910328"/>
            <a:ext cx="53949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>
                <a:solidFill>
                  <a:srgbClr val="5C6878"/>
                </a:solidFill>
                <a:latin typeface="Aptos"/>
              </a:rPr>
              <a:t>Baseline: height 0 (left two) or raw Copernicus DSM (right two). Ours loses on the last one.</a:t>
            </a:r>
          </a:p>
        </p:txBody>
      </p:sp>
      <p:graphicFrame>
        <p:nvGraphicFramePr>
          <p:cNvPr id="17442" name="Chart 17441"/>
          <p:cNvGraphicFramePr>
            <a:graphicFrameLocks noGrp="1"/>
          </p:cNvGraphicFramePr>
          <p:nvPr/>
        </p:nvGraphicFramePr>
        <p:xfrm>
          <a:off x="6153912" y="3383280"/>
          <a:ext cx="5394960" cy="1380744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7443" name="TextBox 17442"/>
          <p:cNvSpPr txBox="1"/>
          <p:nvPr/>
        </p:nvSpPr>
        <p:spPr>
          <a:xfrm>
            <a:off x="6153912" y="4782312"/>
            <a:ext cx="5394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>
                <a:solidFill>
                  <a:srgbClr val="5C6878"/>
                </a:solidFill>
                <a:latin typeface="Aptos"/>
              </a:rPr>
              <a:t>GAMUS LiDAR, leave-one-city-out, 959 blocks. Target 90%: met for low blocks, missed for tall ones.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7624</TotalTime>
  <Words>854</Words>
  <Application>Microsoft Office PowerPoint</Application>
  <PresentationFormat>Widescreen</PresentationFormat>
  <Paragraphs>174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ＭＳ Ｐゴシック</vt:lpstr>
      <vt:lpstr>Aptos</vt:lpstr>
      <vt:lpstr>Aptos Display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Agampreet Singh</cp:lastModifiedBy>
  <cp:revision>148</cp:revision>
  <dcterms:created xsi:type="dcterms:W3CDTF">2013-12-12T18:46:50Z</dcterms:created>
  <dcterms:modified xsi:type="dcterms:W3CDTF">2026-08-28T06:28:01Z</dcterms:modified>
  <cp:category/>
</cp:coreProperties>
</file>