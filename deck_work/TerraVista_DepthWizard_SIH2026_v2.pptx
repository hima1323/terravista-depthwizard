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8"/>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159" autoAdjust="0"/>
    <p:restoredTop sz="94660"/>
  </p:normalViewPr>
  <p:slideViewPr>
    <p:cSldViewPr snapToGrid="0" snapToObjects="1">
      <p:cViewPr>
        <p:scale>
          <a:sx n="75" d="100"/>
          <a:sy n="75" d="100"/>
        </p:scale>
        <p:origin x="1013" y="528"/>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000" b="1">
                <a:solidFill>
                  <a:srgbClr val="17273A"/>
                </a:solidFill>
              </a:rPr>
              <a:t>Published: calibration cuts error (MAE %)</a:t>
            </a:r>
          </a:p>
        </c:rich>
      </c:tx>
      <c:layout/>
      <c:overlay val="0"/>
    </c:title>
    <c:autoTitleDeleted val="0"/>
    <c:plotArea>
      <c:barChart>
        <c:barDir val="col"/>
        <c:grouping val="clustered"/>
        <c:ser>
          <c:idx val="0"/>
          <c:order val="0"/>
          <c:tx>
            <c:strRef>
              <c:f>Sheet1!$B$1</c:f>
              <c:strCache>
                <c:ptCount val="1"/>
                <c:pt idx="0">
                  <c:v>MAE reduction (%)</c:v>
                </c:pt>
              </c:strCache>
            </c:strRef>
          </c:tx>
          <c:spPr>
            <a:solidFill>
              <a:srgbClr val="228989"/>
            </a:solidFill>
          </c:spPr>
          <c:cat>
            <c:strRef>
              <c:f>Sheet1!$A$2:$A$4</c:f>
              <c:strCache>
                <c:ptCount val="3"/>
                <c:pt idx="0">
                  <c:v>Prompt2DEM vs SRTM
(vegetated, up to)</c:v>
                </c:pt>
                <c:pt idx="1">
                  <c:v>ICESat-2 fix
on RS3DAda</c:v>
                </c:pt>
                <c:pt idx="2">
                  <c:v>ICESat-2 fix on
Depth Anything V2</c:v>
                </c:pt>
              </c:strCache>
            </c:strRef>
          </c:cat>
          <c:val>
            <c:numRef>
              <c:f>Sheet1!$B$2:$B$4</c:f>
              <c:numCache>
                <c:formatCode>General</c:formatCode>
                <c:ptCount val="3"/>
                <c:pt idx="0">
                  <c:v>18</c:v>
                </c:pt>
                <c:pt idx="1">
                  <c:v>30.9</c:v>
                </c:pt>
                <c:pt idx="2">
                  <c:v>24.1</c:v>
                </c:pt>
              </c:numCache>
            </c:numRef>
          </c:val>
        </c:ser>
        <c:dLbls>
          <c:numFmt formatCode="0.0" sourceLinked="0"/>
          <c:txPr>
            <a:bodyPr/>
            <a:lstStyle/>
            <a:p>
              <a:pPr>
                <a:defRPr sz="800"/>
              </a:pPr>
            </a:p>
          </c:txPr>
          <c:dLblPos val="outEnd"/>
          <c:showLegendKey val="0"/>
          <c:showVal val="1"/>
          <c:showCatName val="0"/>
          <c:showSerName val="0"/>
          <c:showPercent val="0"/>
          <c:showBubbleSize val="0"/>
          <c:showLeaderLines val="1"/>
        </c:dLbls>
        <c:gapWidth val="70"/>
        <c:axId val="-2068027336"/>
        <c:axId val="-2113994440"/>
      </c:barChart>
      <c:catAx>
        <c:axId val="-2068027336"/>
        <c:scaling/>
        <c:delete val="0"/>
        <c:axPos val="b"/>
        <c:majorTickMark val="out"/>
        <c:minorTickMark val="none"/>
        <c:tickLblPos val="nextTo"/>
        <c:txPr>
          <a:bodyPr/>
          <a:lstStyle/>
          <a:p>
            <a:pPr>
              <a:defRPr sz="800"/>
            </a:pPr>
          </a:p>
        </c:txPr>
        <c:crossAx val="-2113994440"/>
        <c:crosses val="autoZero"/>
        <c:auto val="1"/>
        <c:lblAlgn val="ctr"/>
        <c:lblOffset val="100"/>
        <c:noMultiLvlLbl val="0"/>
      </c:catAx>
      <c:valAx>
        <c:axId val="-2113994440"/>
        <c:scaling>
          <c:max val="36.0"/>
          <c:min val="0.0"/>
        </c:scaling>
        <c:delete/>
        <c:axPos val="l"/>
        <c:majorTickMark val="out"/>
        <c:minorTickMark val="none"/>
        <c:tickLblPos val="nextTo"/>
        <c:spPr>
          <a:ln>
            <a:noFill/>
          </a:ln>
        </c:spPr>
        <c:txPr>
          <a:bodyPr/>
          <a:lstStyle/>
          <a:p>
            <a:pPr>
              <a:defRPr sz="800"/>
            </a:pPr>
          </a:p>
        </c:txPr>
        <c:crossAx val="-2068027336"/>
        <c:crosses val="autoZero"/>
      </c:valAx>
    </c:plotArea>
    <c:dispBlanksAs val="gap"/>
  </c:chart>
  <c:txPr>
    <a:bodyPr/>
    <a:lstStyle/>
    <a:p>
      <a:pPr>
        <a:defRPr sz="800">
          <a:latin typeface="Aptos"/>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000" b="1">
                <a:solidFill>
                  <a:srgbClr val="17273A"/>
                </a:solidFill>
              </a:rPr>
              <a:t>Published: generic AI vs satellite AI (MAE, m)</a:t>
            </a:r>
          </a:p>
        </c:rich>
      </c:tx>
      <c:layout/>
      <c:overlay val="0"/>
    </c:title>
    <c:autoTitleDeleted val="0"/>
    <c:plotArea>
      <c:barChart>
        <c:barDir val="col"/>
        <c:grouping val="clustered"/>
        <c:ser>
          <c:idx val="0"/>
          <c:order val="0"/>
          <c:tx>
            <c:strRef>
              <c:f>Sheet1!$B$1</c:f>
              <c:strCache>
                <c:ptCount val="1"/>
                <c:pt idx="0">
                  <c:v>MAE (m)</c:v>
                </c:pt>
              </c:strCache>
            </c:strRef>
          </c:tx>
          <c:spPr>
            <a:solidFill>
              <a:srgbClr val="D2742D"/>
            </a:solidFill>
          </c:spPr>
          <c:dPt>
            <c:idx val="0"/>
            <c:spPr>
              <a:solidFill>
                <a:srgbClr val="D2742D"/>
              </a:solidFill>
            </c:spPr>
          </c:dPt>
          <c:dPt>
            <c:idx val="1"/>
            <c:spPr>
              <a:solidFill>
                <a:srgbClr val="D2742D"/>
              </a:solidFill>
            </c:spPr>
          </c:dPt>
          <c:dPt>
            <c:idx val="2"/>
            <c:spPr>
              <a:solidFill>
                <a:srgbClr val="45885C"/>
              </a:solidFill>
            </c:spPr>
          </c:dPt>
          <c:cat>
            <c:strRef>
              <c:f>Sheet1!$A$2:$A$4</c:f>
              <c:strCache>
                <c:ptCount val="3"/>
                <c:pt idx="0">
                  <c:v>Depth Anything V2
(zero-shot)</c:v>
                </c:pt>
                <c:pt idx="1">
                  <c:v>VGGT</c:v>
                </c:pt>
                <c:pt idx="2">
                  <c:v>Satellite-fine-tuned
(Sat3R)</c:v>
                </c:pt>
              </c:strCache>
            </c:strRef>
          </c:cat>
          <c:val>
            <c:numRef>
              <c:f>Sheet1!$B$2:$B$4</c:f>
              <c:numCache>
                <c:formatCode>General</c:formatCode>
                <c:ptCount val="3"/>
                <c:pt idx="0">
                  <c:v>4.59</c:v>
                </c:pt>
                <c:pt idx="1">
                  <c:v>4.11</c:v>
                </c:pt>
                <c:pt idx="2">
                  <c:v>2.82</c:v>
                </c:pt>
              </c:numCache>
            </c:numRef>
          </c:val>
        </c:ser>
        <c:dLbls>
          <c:numFmt formatCode="0.00" sourceLinked="0"/>
          <c:txPr>
            <a:bodyPr/>
            <a:lstStyle/>
            <a:p>
              <a:pPr>
                <a:defRPr sz="800"/>
              </a:pPr>
            </a:p>
          </c:txPr>
          <c:dLblPos val="outEnd"/>
          <c:showLegendKey val="0"/>
          <c:showVal val="1"/>
          <c:showCatName val="0"/>
          <c:showSerName val="0"/>
          <c:showPercent val="0"/>
          <c:showBubbleSize val="0"/>
          <c:showLeaderLines val="1"/>
        </c:dLbls>
        <c:gapWidth val="70"/>
        <c:axId val="-2068027336"/>
        <c:axId val="-2113994440"/>
      </c:barChart>
      <c:catAx>
        <c:axId val="-2068027336"/>
        <c:scaling/>
        <c:delete val="0"/>
        <c:axPos val="b"/>
        <c:majorTickMark val="out"/>
        <c:minorTickMark val="none"/>
        <c:tickLblPos val="nextTo"/>
        <c:txPr>
          <a:bodyPr/>
          <a:lstStyle/>
          <a:p>
            <a:pPr>
              <a:defRPr sz="800"/>
            </a:pPr>
          </a:p>
        </c:txPr>
        <c:crossAx val="-2113994440"/>
        <c:crosses val="autoZero"/>
        <c:auto val="1"/>
        <c:lblAlgn val="ctr"/>
        <c:lblOffset val="100"/>
        <c:noMultiLvlLbl val="0"/>
      </c:catAx>
      <c:valAx>
        <c:axId val="-2113994440"/>
        <c:scaling>
          <c:max val="5.3"/>
          <c:min val="0.0"/>
        </c:scaling>
        <c:delete/>
        <c:axPos val="l"/>
        <c:majorTickMark val="out"/>
        <c:minorTickMark val="none"/>
        <c:tickLblPos val="nextTo"/>
        <c:spPr>
          <a:ln>
            <a:noFill/>
          </a:ln>
        </c:spPr>
        <c:txPr>
          <a:bodyPr/>
          <a:lstStyle/>
          <a:p>
            <a:pPr>
              <a:defRPr sz="800"/>
            </a:pPr>
          </a:p>
        </c:txPr>
        <c:crossAx val="-2068027336"/>
        <c:crosses val="autoZero"/>
      </c:valAx>
    </c:plotArea>
    <c:dispBlanksAs val="gap"/>
  </c:chart>
  <c:txPr>
    <a:bodyPr/>
    <a:lstStyle/>
    <a:p>
      <a:pPr>
        <a:defRPr sz="800">
          <a:latin typeface="Aptos"/>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000" b="1">
                <a:solidFill>
                  <a:srgbClr val="17273A"/>
                </a:solidFill>
              </a:rPr>
              <a:t>Published: error depends on terrain (m)</a:t>
            </a:r>
          </a:p>
        </c:rich>
      </c:tx>
      <c:layout/>
      <c:overlay val="0"/>
    </c:title>
    <c:autoTitleDeleted val="0"/>
    <c:plotArea>
      <c:barChart>
        <c:barDir val="col"/>
        <c:grouping val="clustered"/>
        <c:ser>
          <c:idx val="0"/>
          <c:order val="0"/>
          <c:tx>
            <c:strRef>
              <c:f>Sheet1!$B$1</c:f>
              <c:strCache>
                <c:ptCount val="1"/>
                <c:pt idx="0">
                  <c:v>MAE</c:v>
                </c:pt>
              </c:strCache>
            </c:strRef>
          </c:tx>
          <c:spPr>
            <a:solidFill>
              <a:srgbClr val="2068AA"/>
            </a:solidFill>
          </c:spPr>
          <c:cat>
            <c:strRef>
              <c:f>Sheet1!$A$2:$A$4</c:f>
              <c:strCache>
                <c:ptCount val="3"/>
                <c:pt idx="0">
                  <c:v>Bare</c:v>
                </c:pt>
                <c:pt idx="1">
                  <c:v>Urban</c:v>
                </c:pt>
                <c:pt idx="2">
                  <c:v>Vegetated</c:v>
                </c:pt>
              </c:strCache>
            </c:strRef>
          </c:cat>
          <c:val>
            <c:numRef>
              <c:f>Sheet1!$B$2:$B$4</c:f>
              <c:numCache>
                <c:formatCode>General</c:formatCode>
                <c:ptCount val="3"/>
                <c:pt idx="0">
                  <c:v>2.13</c:v>
                </c:pt>
                <c:pt idx="1">
                  <c:v>2.38</c:v>
                </c:pt>
                <c:pt idx="2">
                  <c:v>4.65</c:v>
                </c:pt>
              </c:numCache>
            </c:numRef>
          </c:val>
        </c:ser>
        <c:ser>
          <c:idx val="1"/>
          <c:order val="1"/>
          <c:tx>
            <c:strRef>
              <c:f>Sheet1!$C$1</c:f>
              <c:strCache>
                <c:ptCount val="1"/>
                <c:pt idx="0">
                  <c:v>RMSE</c:v>
                </c:pt>
              </c:strCache>
            </c:strRef>
          </c:tx>
          <c:spPr>
            <a:solidFill>
              <a:srgbClr val="D2742D"/>
            </a:solidFill>
          </c:spPr>
          <c:cat>
            <c:strRef>
              <c:f>Sheet1!$A$2:$A$4</c:f>
              <c:strCache>
                <c:ptCount val="3"/>
                <c:pt idx="0">
                  <c:v>Bare</c:v>
                </c:pt>
                <c:pt idx="1">
                  <c:v>Urban</c:v>
                </c:pt>
                <c:pt idx="2">
                  <c:v>Vegetated</c:v>
                </c:pt>
              </c:strCache>
            </c:strRef>
          </c:cat>
          <c:val>
            <c:numRef>
              <c:f>Sheet1!$C$2:$C$4</c:f>
              <c:numCache>
                <c:formatCode>General</c:formatCode>
                <c:ptCount val="3"/>
                <c:pt idx="0">
                  <c:v>2.7</c:v>
                </c:pt>
                <c:pt idx="1">
                  <c:v>3.26</c:v>
                </c:pt>
                <c:pt idx="2">
                  <c:v>5.93</c:v>
                </c:pt>
              </c:numCache>
            </c:numRef>
          </c:val>
        </c:ser>
        <c:dLbls>
          <c:numFmt formatCode="0.00" sourceLinked="0"/>
          <c:txPr>
            <a:bodyPr/>
            <a:lstStyle/>
            <a:p>
              <a:pPr>
                <a:defRPr sz="800"/>
              </a:pPr>
            </a:p>
          </c:txPr>
          <c:dLblPos val="outEnd"/>
          <c:showLegendKey val="0"/>
          <c:showVal val="1"/>
          <c:showCatName val="0"/>
          <c:showSerName val="0"/>
          <c:showPercent val="0"/>
          <c:showBubbleSize val="0"/>
          <c:showLeaderLines val="1"/>
        </c:dLbls>
        <c:gapWidth val="70"/>
        <c:axId val="-2068027336"/>
        <c:axId val="-2113994440"/>
      </c:barChart>
      <c:catAx>
        <c:axId val="-2068027336"/>
        <c:scaling/>
        <c:delete val="0"/>
        <c:axPos val="b"/>
        <c:majorTickMark val="out"/>
        <c:minorTickMark val="none"/>
        <c:tickLblPos val="nextTo"/>
        <c:txPr>
          <a:bodyPr/>
          <a:lstStyle/>
          <a:p>
            <a:pPr>
              <a:defRPr sz="800"/>
            </a:pPr>
          </a:p>
        </c:txPr>
        <c:crossAx val="-2113994440"/>
        <c:crosses val="autoZero"/>
        <c:auto val="1"/>
        <c:lblAlgn val="ctr"/>
        <c:lblOffset val="100"/>
        <c:noMultiLvlLbl val="0"/>
      </c:catAx>
      <c:valAx>
        <c:axId val="-2113994440"/>
        <c:scaling>
          <c:max val="6.9"/>
          <c:min val="0.0"/>
        </c:scaling>
        <c:delete/>
        <c:axPos val="l"/>
        <c:majorTickMark val="out"/>
        <c:minorTickMark val="none"/>
        <c:tickLblPos val="nextTo"/>
        <c:spPr>
          <a:ln>
            <a:noFill/>
          </a:ln>
        </c:spPr>
        <c:txPr>
          <a:bodyPr/>
          <a:lstStyle/>
          <a:p>
            <a:pPr>
              <a:defRPr sz="800"/>
            </a:pPr>
          </a:p>
        </c:txPr>
        <c:crossAx val="-2068027336"/>
        <c:crosses val="autoZero"/>
      </c:valAx>
    </c:plotArea>
    <c:legend>
      <c:legendPos val="t"/>
      <c:overlay val="0"/>
      <c:txPr>
        <a:bodyPr/>
        <a:lstStyle/>
        <a:p>
          <a:pPr>
            <a:defRPr sz="800"/>
          </a:pPr>
        </a:p>
      </c:txPr>
    </c:legend>
    <c:dispBlanksAs val="gap"/>
  </c:chart>
  <c:txPr>
    <a:bodyPr/>
    <a:lstStyle/>
    <a:p>
      <a:pPr>
        <a:defRPr sz="800">
          <a:latin typeface="Aptos"/>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000" b="1">
                <a:solidFill>
                  <a:srgbClr val="17273A"/>
                </a:solidFill>
              </a:rPr>
              <a:t>Model shortlist (team assessment, /10)</a:t>
            </a:r>
          </a:p>
        </c:rich>
      </c:tx>
      <c:layout/>
      <c:overlay val="0"/>
    </c:title>
    <c:autoTitleDeleted val="0"/>
    <c:plotArea>
      <c:barChart>
        <c:barDir val="bar"/>
        <c:grouping val="clustered"/>
        <c:ser>
          <c:idx val="0"/>
          <c:order val="0"/>
          <c:tx>
            <c:strRef>
              <c:f>Sheet1!$B$1</c:f>
              <c:strCache>
                <c:ptCount val="1"/>
                <c:pt idx="0">
                  <c:v>Score</c:v>
                </c:pt>
              </c:strCache>
            </c:strRef>
          </c:tx>
          <c:spPr>
            <a:solidFill>
              <a:srgbClr val="2068AA"/>
            </a:solidFill>
          </c:spPr>
          <c:cat>
            <c:strRef>
              <c:f>Sheet1!$A$2:$A$8</c:f>
              <c:strCache>
                <c:ptCount val="7"/>
                <c:pt idx="0">
                  <c:v>RS3DAda</c:v>
                </c:pt>
                <c:pt idx="1">
                  <c:v>DINOv3-SAT + GAMUS fine-tune</c:v>
                </c:pt>
                <c:pt idx="2">
                  <c:v>TerraHeight-S</c:v>
                </c:pt>
                <c:pt idx="3">
                  <c:v>BuildMamba (no weights yet)</c:v>
                </c:pt>
                <c:pt idx="4">
                  <c:v>Depth2Elevation (no code)</c:v>
                </c:pt>
                <c:pt idx="5">
                  <c:v>HTC-DC Net</c:v>
                </c:pt>
                <c:pt idx="6">
                  <c:v>CHMv2 as-is (trees only)</c:v>
                </c:pt>
              </c:strCache>
            </c:strRef>
          </c:cat>
          <c:val>
            <c:numRef>
              <c:f>Sheet1!$B$2:$B$8</c:f>
              <c:numCache>
                <c:formatCode>General</c:formatCode>
                <c:ptCount val="7"/>
                <c:pt idx="0">
                  <c:v>9</c:v>
                </c:pt>
                <c:pt idx="1">
                  <c:v>8.5</c:v>
                </c:pt>
                <c:pt idx="2">
                  <c:v>7.5</c:v>
                </c:pt>
                <c:pt idx="3">
                  <c:v>6.5</c:v>
                </c:pt>
                <c:pt idx="4">
                  <c:v>6</c:v>
                </c:pt>
                <c:pt idx="5">
                  <c:v>5.5</c:v>
                </c:pt>
                <c:pt idx="6">
                  <c:v>3</c:v>
                </c:pt>
              </c:numCache>
            </c:numRef>
          </c:val>
        </c:ser>
        <c:dLbls>
          <c:numFmt formatCode="0.0" sourceLinked="0"/>
          <c:txPr>
            <a:bodyPr/>
            <a:lstStyle/>
            <a:p>
              <a:pPr>
                <a:defRPr sz="800"/>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axMin"/>
        </c:scaling>
        <c:delete val="0"/>
        <c:axPos val="l"/>
        <c:majorTickMark val="out"/>
        <c:minorTickMark val="none"/>
        <c:tickLblPos val="nextTo"/>
        <c:txPr>
          <a:bodyPr/>
          <a:lstStyle/>
          <a:p>
            <a:pPr>
              <a:defRPr sz="800"/>
            </a:pPr>
          </a:p>
        </c:txPr>
        <c:crossAx val="-2113994440"/>
        <c:crosses val="autoZero"/>
        <c:auto val="1"/>
        <c:lblAlgn val="ctr"/>
        <c:lblOffset val="100"/>
        <c:noMultiLvlLbl val="0"/>
      </c:catAx>
      <c:valAx>
        <c:axId val="-2113994440"/>
        <c:scaling>
          <c:max val="10.0"/>
          <c:min val="0.0"/>
        </c:scaling>
        <c:delete val="0"/>
        <c:axPos val="b"/>
        <c:majorGridlines>
          <c:spPr>
            <a:ln>
              <a:solidFill>
                <a:srgbClr val="D5DCE7"/>
              </a:solidFill>
            </a:ln>
          </c:spPr>
        </c:majorGridlines>
        <c:majorTickMark val="out"/>
        <c:minorTickMark val="none"/>
        <c:tickLblPos val="nextTo"/>
        <c:spPr>
          <a:ln>
            <a:noFill/>
          </a:ln>
        </c:spPr>
        <c:txPr>
          <a:bodyPr/>
          <a:lstStyle/>
          <a:p>
            <a:pPr>
              <a:defRPr sz="800"/>
            </a:pPr>
          </a:p>
        </c:txPr>
        <c:crossAx val="-2068027336"/>
        <c:crosses val="autoZero"/>
      </c:valAx>
    </c:plotArea>
    <c:dispBlanksAs val="gap"/>
  </c:chart>
  <c:txPr>
    <a:bodyPr/>
    <a:lstStyle/>
    <a:p>
      <a:pPr>
        <a:defRPr sz="800">
          <a:latin typeface="Aptos"/>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000" b="1">
                <a:solidFill>
                  <a:srgbClr val="17273A"/>
                </a:solidFill>
              </a:rPr>
              <a:t>MEASURED: RS3DAda error vs LiDAR by land cover (m)</a:t>
            </a:r>
          </a:p>
        </c:rich>
      </c:tx>
      <c:layout/>
      <c:overlay val="0"/>
    </c:title>
    <c:autoTitleDeleted val="0"/>
    <c:plotArea>
      <c:barChart>
        <c:barDir val="col"/>
        <c:grouping val="clustered"/>
        <c:ser>
          <c:idx val="0"/>
          <c:order val="0"/>
          <c:tx>
            <c:strRef>
              <c:f>Sheet1!$B$1</c:f>
              <c:strCache>
                <c:ptCount val="1"/>
                <c:pt idx="0">
                  <c:v>MAE (m)</c:v>
                </c:pt>
              </c:strCache>
            </c:strRef>
          </c:tx>
          <c:spPr>
            <a:solidFill>
              <a:srgbClr val="2068AA"/>
            </a:solidFill>
          </c:spPr>
          <c:cat>
            <c:strRef>
              <c:f>Sheet1!$A$2:$A$5</c:f>
              <c:strCache>
                <c:ptCount val="4"/>
                <c:pt idx="0">
                  <c:v>Buildings</c:v>
                </c:pt>
                <c:pt idx="1">
                  <c:v>Trees</c:v>
                </c:pt>
                <c:pt idx="2">
                  <c:v>Ground</c:v>
                </c:pt>
                <c:pt idx="3">
                  <c:v>Water</c:v>
                </c:pt>
              </c:strCache>
            </c:strRef>
          </c:cat>
          <c:val>
            <c:numRef>
              <c:f>Sheet1!$B$2:$B$5</c:f>
              <c:numCache>
                <c:formatCode>General</c:formatCode>
                <c:ptCount val="4"/>
                <c:pt idx="0">
                  <c:v>4.834915637969971</c:v>
                </c:pt>
                <c:pt idx="1">
                  <c:v>4.821352481842041</c:v>
                </c:pt>
                <c:pt idx="2">
                  <c:v>0.7524005174636841</c:v>
                </c:pt>
                <c:pt idx="3">
                  <c:v>0.41869211196899414</c:v>
                </c:pt>
              </c:numCache>
            </c:numRef>
          </c:val>
        </c:ser>
        <c:ser>
          <c:idx val="1"/>
          <c:order val="1"/>
          <c:tx>
            <c:strRef>
              <c:f>Sheet1!$C$1</c:f>
              <c:strCache>
                <c:ptCount val="1"/>
                <c:pt idx="0">
                  <c:v>RMSE (m)</c:v>
                </c:pt>
              </c:strCache>
            </c:strRef>
          </c:tx>
          <c:spPr>
            <a:solidFill>
              <a:srgbClr val="D2742D"/>
            </a:solidFill>
          </c:spPr>
          <c:cat>
            <c:strRef>
              <c:f>Sheet1!$A$2:$A$5</c:f>
              <c:strCache>
                <c:ptCount val="4"/>
                <c:pt idx="0">
                  <c:v>Buildings</c:v>
                </c:pt>
                <c:pt idx="1">
                  <c:v>Trees</c:v>
                </c:pt>
                <c:pt idx="2">
                  <c:v>Ground</c:v>
                </c:pt>
                <c:pt idx="3">
                  <c:v>Water</c:v>
                </c:pt>
              </c:strCache>
            </c:strRef>
          </c:cat>
          <c:val>
            <c:numRef>
              <c:f>Sheet1!$C$2:$C$5</c:f>
              <c:numCache>
                <c:formatCode>General</c:formatCode>
                <c:ptCount val="4"/>
                <c:pt idx="0">
                  <c:v>9.36008358001709</c:v>
                </c:pt>
                <c:pt idx="1">
                  <c:v>6.277276992797852</c:v>
                </c:pt>
                <c:pt idx="2">
                  <c:v>1.971459984779358</c:v>
                </c:pt>
                <c:pt idx="3">
                  <c:v>1.9895362854003906</c:v>
                </c:pt>
              </c:numCache>
            </c:numRef>
          </c:val>
        </c:ser>
        <c:dLbls>
          <c:numFmt formatCode="0.00" sourceLinked="0"/>
          <c:txPr>
            <a:bodyPr/>
            <a:lstStyle/>
            <a:p>
              <a:pPr>
                <a:defRPr sz="800"/>
              </a:pPr>
            </a:p>
          </c:txPr>
          <c:dLblPos val="outEnd"/>
          <c:showLegendKey val="0"/>
          <c:showVal val="1"/>
          <c:showCatName val="0"/>
          <c:showSerName val="0"/>
          <c:showPercent val="0"/>
          <c:showBubbleSize val="0"/>
          <c:showLeaderLines val="1"/>
        </c:dLbls>
        <c:gapWidth val="70"/>
        <c:axId val="-2068027336"/>
        <c:axId val="-2113994440"/>
      </c:barChart>
      <c:catAx>
        <c:axId val="-2068027336"/>
        <c:scaling/>
        <c:delete val="0"/>
        <c:axPos val="b"/>
        <c:majorTickMark val="out"/>
        <c:minorTickMark val="none"/>
        <c:tickLblPos val="nextTo"/>
        <c:txPr>
          <a:bodyPr/>
          <a:lstStyle/>
          <a:p>
            <a:pPr>
              <a:defRPr sz="800"/>
            </a:pPr>
          </a:p>
        </c:txPr>
        <c:crossAx val="-2113994440"/>
        <c:crosses val="autoZero"/>
        <c:auto val="1"/>
        <c:lblAlgn val="ctr"/>
        <c:lblOffset val="100"/>
        <c:noMultiLvlLbl val="0"/>
      </c:catAx>
      <c:valAx>
        <c:axId val="-2113994440"/>
        <c:scaling>
          <c:min val="0.0"/>
        </c:scaling>
        <c:delete/>
        <c:axPos val="l"/>
        <c:majorTickMark val="out"/>
        <c:minorTickMark val="none"/>
        <c:tickLblPos val="nextTo"/>
        <c:spPr>
          <a:ln>
            <a:noFill/>
          </a:ln>
        </c:spPr>
        <c:txPr>
          <a:bodyPr/>
          <a:lstStyle/>
          <a:p>
            <a:pPr>
              <a:defRPr sz="800"/>
            </a:pPr>
          </a:p>
        </c:txPr>
        <c:crossAx val="-2068027336"/>
        <c:crosses val="autoZero"/>
      </c:valAx>
    </c:plotArea>
    <c:legend>
      <c:legendPos val="t"/>
      <c:overlay val="0"/>
      <c:txPr>
        <a:bodyPr/>
        <a:lstStyle/>
        <a:p>
          <a:pPr>
            <a:defRPr sz="800"/>
          </a:pPr>
        </a:p>
      </c:txPr>
    </c:legend>
    <c:dispBlanksAs val="gap"/>
  </c:chart>
  <c:txPr>
    <a:bodyPr/>
    <a:lstStyle/>
    <a:p>
      <a:pPr>
        <a:defRPr sz="800">
          <a:latin typeface="Aptos"/>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000" b="1">
                <a:solidFill>
                  <a:srgbClr val="17273A"/>
                </a:solidFill>
              </a:rPr>
              <a:t>MEASURED: where our ± is high, real error is high (MAE, m)</a:t>
            </a:r>
          </a:p>
        </c:rich>
      </c:tx>
      <c:layout/>
      <c:overlay val="0"/>
    </c:title>
    <c:autoTitleDeleted val="0"/>
    <c:plotArea>
      <c:barChart>
        <c:barDir val="col"/>
        <c:grouping val="clustered"/>
        <c:ser>
          <c:idx val="0"/>
          <c:order val="0"/>
          <c:tx>
            <c:strRef>
              <c:f>Sheet1!$B$1</c:f>
              <c:strCache>
                <c:ptCount val="1"/>
                <c:pt idx="0">
                  <c:v>Real MAE (m)</c:v>
                </c:pt>
              </c:strCache>
            </c:strRef>
          </c:tx>
          <c:spPr>
            <a:solidFill>
              <a:srgbClr val="D2742D"/>
            </a:solidFill>
          </c:spPr>
          <c:cat>
            <c:strRef>
              <c:f>Sheet1!$A$2:$A$6</c:f>
              <c:strCache>
                <c:ptCount val="5"/>
                <c:pt idx="0">
                  <c:v>Lowest ±
0.07 m</c:v>
                </c:pt>
                <c:pt idx="1">
                  <c:v>Low ±
0.12 m</c:v>
                </c:pt>
                <c:pt idx="2">
                  <c:v>Middle ±
0.19 m</c:v>
                </c:pt>
                <c:pt idx="3">
                  <c:v>High ±
0.38 m</c:v>
                </c:pt>
                <c:pt idx="4">
                  <c:v>Highest ±
1.43 m</c:v>
                </c:pt>
              </c:strCache>
            </c:strRef>
          </c:cat>
          <c:val>
            <c:numRef>
              <c:f>Sheet1!$B$2:$B$6</c:f>
              <c:numCache>
                <c:formatCode>General</c:formatCode>
                <c:ptCount val="5"/>
                <c:pt idx="0">
                  <c:v>0.6983998417854309</c:v>
                </c:pt>
                <c:pt idx="1">
                  <c:v>0.8825721144676208</c:v>
                </c:pt>
                <c:pt idx="2">
                  <c:v>1.4894120693206787</c:v>
                </c:pt>
                <c:pt idx="3">
                  <c:v>2.8788704872131348</c:v>
                </c:pt>
                <c:pt idx="4">
                  <c:v>5.1387810707092285</c:v>
                </c:pt>
              </c:numCache>
            </c:numRef>
          </c:val>
        </c:ser>
        <c:dLbls>
          <c:numFmt formatCode="0.00" sourceLinked="0"/>
          <c:txPr>
            <a:bodyPr/>
            <a:lstStyle/>
            <a:p>
              <a:pPr>
                <a:defRPr sz="800"/>
              </a:pPr>
            </a:p>
          </c:txPr>
          <c:dLblPos val="outEnd"/>
          <c:showLegendKey val="0"/>
          <c:showVal val="1"/>
          <c:showCatName val="0"/>
          <c:showSerName val="0"/>
          <c:showPercent val="0"/>
          <c:showBubbleSize val="0"/>
          <c:showLeaderLines val="1"/>
        </c:dLbls>
        <c:gapWidth val="70"/>
        <c:axId val="-2068027336"/>
        <c:axId val="-2113994440"/>
      </c:barChart>
      <c:catAx>
        <c:axId val="-2068027336"/>
        <c:scaling/>
        <c:delete val="0"/>
        <c:axPos val="b"/>
        <c:majorTickMark val="out"/>
        <c:minorTickMark val="none"/>
        <c:tickLblPos val="nextTo"/>
        <c:txPr>
          <a:bodyPr/>
          <a:lstStyle/>
          <a:p>
            <a:pPr>
              <a:defRPr sz="800"/>
            </a:pPr>
          </a:p>
        </c:txPr>
        <c:crossAx val="-2113994440"/>
        <c:crosses val="autoZero"/>
        <c:auto val="1"/>
        <c:lblAlgn val="ctr"/>
        <c:lblOffset val="100"/>
        <c:noMultiLvlLbl val="0"/>
      </c:catAx>
      <c:valAx>
        <c:axId val="-2113994440"/>
        <c:scaling>
          <c:min val="0.0"/>
        </c:scaling>
        <c:delete/>
        <c:axPos val="l"/>
        <c:majorTickMark val="out"/>
        <c:minorTickMark val="none"/>
        <c:tickLblPos val="nextTo"/>
        <c:spPr>
          <a:ln>
            <a:noFill/>
          </a:ln>
        </c:spPr>
        <c:txPr>
          <a:bodyPr/>
          <a:lstStyle/>
          <a:p>
            <a:pPr>
              <a:defRPr sz="800"/>
            </a:pPr>
          </a:p>
        </c:txPr>
        <c:crossAx val="-2068027336"/>
        <c:crosses val="autoZero"/>
      </c:valAx>
    </c:plotArea>
    <c:dispBlanksAs val="gap"/>
  </c:chart>
  <c:txPr>
    <a:bodyPr/>
    <a:lstStyle/>
    <a:p>
      <a:pPr>
        <a:defRPr sz="800">
          <a:latin typeface="Apto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8/28/2026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r>
              <a:t>One satellite image goes in and measured heights come out. Example: we upload a GeoTIFF of a flooded town. The model estimates every building's height above ground. CartoDEM turns that into real elevation in metres, and ICESat-2 laser points check it. The user flies through the town, clicks a building and sees its height with an uncertainty range. PNG/JPG inputs give relative heights; GeoTIFF inputs give metres, as the PS asks.</a:t>
            </a: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RS3DAda is our main model because it is released, trained for buildings and terrain, and a 2026 ISPRS study cut its error by about 31% with ICESat-2 correction. In parallel we fine-tune a DINOv3 satellite backbone on GAMUS and keep whichever scores better. Chart A: published gains from our two calibration stages. Prompt2DEM shows a coarse 30 m DEM plus a single image beats the DEM alone, by up to 18% MAE on vegetated terrain, which is the same idea as our CartoDEM step. Chart B: generic depth models do poorly on satellite images, which is why we use satellite-trained ones. Chart C: error changes with terrain, so we report accuracy per terrain type.</a:t>
            </a: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Everything we depend on is already public: model weights, GAMUS, CartoDEM, ICESat-2. Our biggest risks are wrong scale and wrong ground level; calibration plus laser correction handles both. The desktop app runs offline on a CPU for field teams.</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Example: in the flood tool, raise the water to 3 m and the viewer highlights buildings below that level. Planners get building heights where no LiDAR exists, and ISRO gets more value from existing optical images.</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Every method here is published and cited, and the charts are our own measurements. We ran the released RS3DAda model on 200 DFC2019 test tiles and compared every pixel with LiDAR: MAE 2.22 m, RMSE 3.83 m. The right chart shows our uncertainty map is useful: where the ± is highest, the real error is about 7 times larger than where it is lowest, so the viewer can flag heights not to trust. Tall buildings are under-estimated, by about 8 m above 20 m. A simple global correction learned on separate tiles did not fix that in our tests, so we will correct heights with local ICESat-2 laser measurements, as the 2026 ISPRS study did. We will also repeat the measurement on GAMUS.</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TerraVista from IIT Ropar. Our idea, DepthWizard, answers SIH26175: single-view height estimation and 3D flythrough for disaster management.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8/28/2026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8/28/2026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8/28/2026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8/28/2026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8/28/2026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8/28/2026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8/28/2026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8/28/2026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8/28/2026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8/28/2026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8/28/2026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8/28/2026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chart" Target="../charts/chart1.xml"/><Relationship Id="rId6" Type="http://schemas.openxmlformats.org/officeDocument/2006/relationships/chart" Target="../charts/chart2.xml"/><Relationship Id="rId7" Type="http://schemas.openxmlformats.org/officeDocument/2006/relationships/chart" Target="../charts/char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chart" Target="../charts/char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chart" Target="../charts/chart5.xml"/><Relationship Id="rId6" Type="http://schemas.openxmlformats.org/officeDocument/2006/relationships/chart" Target="../charts/char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0"/>
              </a:spcBef>
            </a:pP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Bef>
                <a:spcPts val="0"/>
              </a:spcBef>
            </a:pP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924457" y="1797161"/>
            <a:ext cx="3203509" cy="3426237"/>
          </a:xfrm>
          <a:prstGeom prst="rect">
            <a:avLst/>
          </a:prstGeom>
        </p:spPr>
      </p:pic>
      <p:sp>
        <p:nvSpPr>
          <p:cNvPr id="4" name="Subtitle 3"/>
          <p:cNvSpPr>
            <a:spLocks noGrp="1"/>
          </p:cNvSpPr>
          <p:nvPr>
            <p:ph type="subTitle" idx="1"/>
          </p:nvPr>
        </p:nvSpPr>
        <p:spPr>
          <a:xfrm>
            <a:off x="12791440" y="648614"/>
            <a:ext cx="965200" cy="1752600"/>
          </a:xfrm>
        </p:spPr>
        <p:txBody>
          <a:bodyPr wrap="square" lIns="38100" tIns="19050" rIns="38100" bIns="19050" anchor="ctr"/>
          <a:lstStyle/>
          <a:p>
            <a:pPr algn="ctr">
              <a:lnSpc>
                <a:spcPct val="100000"/>
              </a:lnSpc>
              <a:spcBef>
                <a:spcPts val="0"/>
              </a:spcBef>
              <a:spcAft>
                <a:spcPts val="150"/>
              </a:spcAft>
            </a:pP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wrap="square" lIns="38100" tIns="19050" rIns="38100" bIns="19050" anchor="ctr"/>
          <a:lstStyle/>
          <a:p>
            <a:pPr algn="ctr">
              <a:lnSpc>
                <a:spcPct val="95000"/>
              </a:lnSpc>
              <a:spcBef>
                <a:spcPts val="0"/>
              </a:spcBef>
              <a:spcAft>
                <a:spcPts val="0"/>
              </a:spcAft>
            </a:pPr>
            <a:r>
              <a:rPr sz="3200" b="1" i="0" dirty="0">
                <a:solidFill>
                  <a:srgbClr val="17273A"/>
                </a:solidFill>
                <a:latin typeface="Aptos Display"/>
              </a:rPr>
              <a:t>SMART INDIA HACKATHON 2026</a:t>
            </a:r>
            <a:endParaRPr lang="en-IN" b="1" dirty="0">
              <a:solidFill>
                <a:schemeClr val="tx2"/>
              </a:solidFill>
              <a:latin typeface="Garamond" panose="02020404030301010803" pitchFamily="18" charset="0"/>
            </a:endParaRPr>
          </a:p>
        </p:txBody>
      </p:sp>
      <p:sp>
        <p:nvSpPr>
          <p:cNvPr id="10" name="TextBox 9"/>
          <p:cNvSpPr txBox="1"/>
          <p:nvPr/>
        </p:nvSpPr>
        <p:spPr>
          <a:xfrm>
            <a:off x="412566" y="1916902"/>
            <a:ext cx="5924550" cy="3577903"/>
          </a:xfrm>
          <a:prstGeom prst="rect">
            <a:avLst/>
          </a:prstGeom>
          <a:noFill/>
        </p:spPr>
        <p:txBody>
          <a:bodyPr wrap="square" lIns="38100" tIns="19050" rIns="38100" bIns="19050" rtlCol="0">
            <a:spAutoFit/>
          </a:bodyPr>
          <a:lstStyle/>
          <a:p>
            <a:pPr>
              <a:spcBef>
                <a:spcPts val="0"/>
              </a:spcBef>
              <a:spcAft>
                <a:spcPts val="400"/>
              </a:spcAft>
              <a:defRPr sz="1500">
                <a:solidFill>
                  <a:srgbClr val="232B36"/>
                </a:solidFill>
              </a:defRPr>
            </a:pPr>
            <a:r>
              <a:rPr sz="2000" b="1" i="0" dirty="0">
                <a:solidFill>
                  <a:srgbClr val="17273A"/>
                </a:solidFill>
                <a:latin typeface="Aptos"/>
              </a:rPr>
              <a:t>Problem Statement ID - </a:t>
            </a:r>
            <a:r>
              <a:rPr sz="2000" b="0" i="0" dirty="0">
                <a:solidFill>
                  <a:srgbClr val="24313F"/>
                </a:solidFill>
                <a:latin typeface="Aptos"/>
              </a:rPr>
              <a:t>SIH26175</a:t>
            </a:r>
            <a:endParaRPr lang="en-US" sz="2000" b="0" i="0" dirty="0">
              <a:solidFill>
                <a:srgbClr val="24313F"/>
              </a:solidFill>
              <a:latin typeface="Aptos"/>
            </a:endParaRPr>
          </a:p>
          <a:p>
            <a:pPr>
              <a:spcBef>
                <a:spcPts val="0"/>
              </a:spcBef>
              <a:spcAft>
                <a:spcPts val="400"/>
              </a:spcAft>
              <a:defRPr sz="1500">
                <a:solidFill>
                  <a:srgbClr val="232B36"/>
                </a:solidFill>
              </a:defRPr>
            </a:pPr>
            <a:endParaRPr sz="500" b="0" i="0" dirty="0">
              <a:solidFill>
                <a:srgbClr val="24313F"/>
              </a:solidFill>
              <a:latin typeface="Aptos"/>
            </a:endParaRPr>
          </a:p>
          <a:p>
            <a:pPr>
              <a:spcBef>
                <a:spcPts val="0"/>
              </a:spcBef>
              <a:spcAft>
                <a:spcPts val="400"/>
              </a:spcAft>
              <a:defRPr sz="1500">
                <a:solidFill>
                  <a:srgbClr val="232B36"/>
                </a:solidFill>
              </a:defRPr>
            </a:pPr>
            <a:r>
              <a:rPr sz="2000" b="1" i="0" dirty="0">
                <a:solidFill>
                  <a:srgbClr val="17273A"/>
                </a:solidFill>
                <a:latin typeface="Aptos"/>
              </a:rPr>
              <a:t>Problem Statement Title - </a:t>
            </a:r>
            <a:r>
              <a:rPr sz="2000" b="0" i="0" dirty="0">
                <a:solidFill>
                  <a:srgbClr val="24313F"/>
                </a:solidFill>
                <a:latin typeface="Aptos"/>
              </a:rPr>
              <a:t>Single-View Height Estimation and 3D Flythrough</a:t>
            </a:r>
            <a:endParaRPr lang="en-US" sz="2000" b="0" i="0" dirty="0">
              <a:solidFill>
                <a:srgbClr val="24313F"/>
              </a:solidFill>
              <a:latin typeface="Aptos"/>
            </a:endParaRPr>
          </a:p>
          <a:p>
            <a:pPr>
              <a:spcBef>
                <a:spcPts val="0"/>
              </a:spcBef>
              <a:spcAft>
                <a:spcPts val="400"/>
              </a:spcAft>
              <a:defRPr sz="1500">
                <a:solidFill>
                  <a:srgbClr val="232B36"/>
                </a:solidFill>
              </a:defRPr>
            </a:pPr>
            <a:endParaRPr sz="500" b="0" i="0" dirty="0">
              <a:solidFill>
                <a:srgbClr val="24313F"/>
              </a:solidFill>
              <a:latin typeface="Aptos"/>
            </a:endParaRPr>
          </a:p>
          <a:p>
            <a:pPr>
              <a:spcBef>
                <a:spcPts val="0"/>
              </a:spcBef>
              <a:spcAft>
                <a:spcPts val="400"/>
              </a:spcAft>
              <a:defRPr sz="1500">
                <a:solidFill>
                  <a:srgbClr val="232B36"/>
                </a:solidFill>
              </a:defRPr>
            </a:pPr>
            <a:r>
              <a:rPr sz="2000" b="1" i="0" dirty="0">
                <a:solidFill>
                  <a:srgbClr val="17273A"/>
                </a:solidFill>
                <a:latin typeface="Aptos"/>
              </a:rPr>
              <a:t>Theme - </a:t>
            </a:r>
            <a:r>
              <a:rPr sz="2000" b="0" i="0" dirty="0">
                <a:solidFill>
                  <a:srgbClr val="24313F"/>
                </a:solidFill>
                <a:latin typeface="Aptos"/>
              </a:rPr>
              <a:t>Disaster Management</a:t>
            </a:r>
            <a:endParaRPr lang="en-US" sz="2000" b="0" i="0" dirty="0">
              <a:solidFill>
                <a:srgbClr val="24313F"/>
              </a:solidFill>
              <a:latin typeface="Aptos"/>
            </a:endParaRPr>
          </a:p>
          <a:p>
            <a:pPr>
              <a:spcBef>
                <a:spcPts val="0"/>
              </a:spcBef>
              <a:spcAft>
                <a:spcPts val="400"/>
              </a:spcAft>
              <a:defRPr sz="1500">
                <a:solidFill>
                  <a:srgbClr val="232B36"/>
                </a:solidFill>
              </a:defRPr>
            </a:pPr>
            <a:endParaRPr sz="500" b="0" i="0" dirty="0">
              <a:solidFill>
                <a:srgbClr val="24313F"/>
              </a:solidFill>
              <a:latin typeface="Aptos"/>
            </a:endParaRPr>
          </a:p>
          <a:p>
            <a:pPr>
              <a:spcBef>
                <a:spcPts val="0"/>
              </a:spcBef>
              <a:spcAft>
                <a:spcPts val="400"/>
              </a:spcAft>
              <a:defRPr sz="1500">
                <a:solidFill>
                  <a:srgbClr val="232B36"/>
                </a:solidFill>
              </a:defRPr>
            </a:pPr>
            <a:r>
              <a:rPr sz="2000" b="1" i="0" dirty="0">
                <a:solidFill>
                  <a:srgbClr val="17273A"/>
                </a:solidFill>
                <a:latin typeface="Aptos"/>
              </a:rPr>
              <a:t>PS Category </a:t>
            </a:r>
            <a:r>
              <a:rPr lang="en-IN" sz="2000" b="1" i="0" dirty="0">
                <a:solidFill>
                  <a:srgbClr val="17273A"/>
                </a:solidFill>
                <a:latin typeface="Aptos"/>
              </a:rPr>
              <a:t>–</a:t>
            </a:r>
            <a:r>
              <a:rPr sz="2000" b="1" i="0" dirty="0">
                <a:solidFill>
                  <a:srgbClr val="17273A"/>
                </a:solidFill>
                <a:latin typeface="Aptos"/>
              </a:rPr>
              <a:t> </a:t>
            </a:r>
            <a:r>
              <a:rPr sz="2000" b="0" i="0" dirty="0">
                <a:solidFill>
                  <a:srgbClr val="24313F"/>
                </a:solidFill>
                <a:latin typeface="Aptos"/>
              </a:rPr>
              <a:t>Software</a:t>
            </a:r>
            <a:endParaRPr lang="en-US" sz="2000" b="0" i="0" dirty="0">
              <a:solidFill>
                <a:srgbClr val="24313F"/>
              </a:solidFill>
              <a:latin typeface="Aptos"/>
            </a:endParaRPr>
          </a:p>
          <a:p>
            <a:pPr>
              <a:spcBef>
                <a:spcPts val="0"/>
              </a:spcBef>
              <a:spcAft>
                <a:spcPts val="400"/>
              </a:spcAft>
              <a:defRPr sz="1500">
                <a:solidFill>
                  <a:srgbClr val="232B36"/>
                </a:solidFill>
              </a:defRPr>
            </a:pPr>
            <a:endParaRPr sz="500" b="0" i="0" dirty="0">
              <a:solidFill>
                <a:srgbClr val="24313F"/>
              </a:solidFill>
              <a:latin typeface="Aptos"/>
            </a:endParaRPr>
          </a:p>
          <a:p>
            <a:pPr>
              <a:spcBef>
                <a:spcPts val="0"/>
              </a:spcBef>
              <a:spcAft>
                <a:spcPts val="400"/>
              </a:spcAft>
              <a:defRPr sz="1500">
                <a:solidFill>
                  <a:srgbClr val="232B36"/>
                </a:solidFill>
              </a:defRPr>
            </a:pPr>
            <a:r>
              <a:rPr sz="2000" b="1" i="0" dirty="0">
                <a:solidFill>
                  <a:srgbClr val="17273A"/>
                </a:solidFill>
                <a:latin typeface="Aptos"/>
              </a:rPr>
              <a:t>Team ID - </a:t>
            </a:r>
            <a:r>
              <a:rPr sz="2000" b="0" i="0" dirty="0">
                <a:solidFill>
                  <a:srgbClr val="24313F"/>
                </a:solidFill>
                <a:latin typeface="Aptos"/>
              </a:rPr>
              <a:t>[Registered Team ID]</a:t>
            </a:r>
            <a:endParaRPr lang="en-US" sz="2000" b="0" i="0" dirty="0">
              <a:solidFill>
                <a:srgbClr val="24313F"/>
              </a:solidFill>
              <a:latin typeface="Aptos"/>
            </a:endParaRPr>
          </a:p>
          <a:p>
            <a:pPr>
              <a:spcBef>
                <a:spcPts val="0"/>
              </a:spcBef>
              <a:spcAft>
                <a:spcPts val="400"/>
              </a:spcAft>
              <a:defRPr sz="1500">
                <a:solidFill>
                  <a:srgbClr val="232B36"/>
                </a:solidFill>
              </a:defRPr>
            </a:pPr>
            <a:endParaRPr sz="500" b="0" i="0" dirty="0">
              <a:solidFill>
                <a:srgbClr val="24313F"/>
              </a:solidFill>
              <a:latin typeface="Aptos"/>
            </a:endParaRPr>
          </a:p>
          <a:p>
            <a:pPr>
              <a:spcBef>
                <a:spcPts val="0"/>
              </a:spcBef>
              <a:spcAft>
                <a:spcPts val="400"/>
              </a:spcAft>
              <a:defRPr sz="1500">
                <a:solidFill>
                  <a:srgbClr val="232B36"/>
                </a:solidFill>
              </a:defRPr>
            </a:pPr>
            <a:r>
              <a:rPr sz="2000" b="1" i="0" dirty="0">
                <a:solidFill>
                  <a:srgbClr val="17273A"/>
                </a:solidFill>
                <a:latin typeface="Aptos"/>
              </a:rPr>
              <a:t>Team Name (Registered on portal) - </a:t>
            </a:r>
            <a:r>
              <a:rPr sz="2000" b="0" i="0" dirty="0" err="1">
                <a:solidFill>
                  <a:srgbClr val="24313F"/>
                </a:solidFill>
                <a:latin typeface="Aptos"/>
              </a:rPr>
              <a:t>TerraVista_iitrpr</a:t>
            </a:r>
            <a:endParaRPr lang="en-US" sz="2000" b="0" i="0" dirty="0">
              <a:solidFill>
                <a:srgbClr val="24313F"/>
              </a:solidFill>
              <a:latin typeface="Aptos"/>
            </a:endParaRPr>
          </a:p>
          <a:p>
            <a:pPr>
              <a:spcBef>
                <a:spcPts val="0"/>
              </a:spcBef>
              <a:spcAft>
                <a:spcPts val="400"/>
              </a:spcAft>
              <a:defRPr sz="1500">
                <a:solidFill>
                  <a:srgbClr val="232B36"/>
                </a:solidFill>
              </a:defRPr>
            </a:pPr>
            <a:endParaRPr sz="500" b="0" i="0" dirty="0">
              <a:solidFill>
                <a:srgbClr val="24313F"/>
              </a:solidFill>
              <a:latin typeface="Aptos"/>
            </a:endParaRPr>
          </a:p>
          <a:p>
            <a:pPr>
              <a:spcBef>
                <a:spcPts val="0"/>
              </a:spcBef>
              <a:spcAft>
                <a:spcPts val="400"/>
              </a:spcAft>
              <a:defRPr sz="1500">
                <a:solidFill>
                  <a:srgbClr val="232B36"/>
                </a:solidFill>
              </a:defRPr>
            </a:pPr>
            <a:r>
              <a:rPr sz="2000" b="1" i="0" dirty="0">
                <a:solidFill>
                  <a:srgbClr val="17273A"/>
                </a:solidFill>
                <a:latin typeface="Aptos"/>
              </a:rPr>
              <a:t>Idea Title - </a:t>
            </a:r>
            <a:r>
              <a:rPr sz="2000" b="0" i="0" dirty="0" err="1">
                <a:solidFill>
                  <a:srgbClr val="24313F"/>
                </a:solidFill>
                <a:latin typeface="Aptos"/>
              </a:rPr>
              <a:t>DepthWizard</a:t>
            </a:r>
            <a:endParaRPr sz="2000" b="0" i="0" dirty="0">
              <a:solidFill>
                <a:srgbClr val="24313F"/>
              </a:solidFill>
              <a:latin typeface="Aptos"/>
            </a:endParaRPr>
          </a:p>
        </p:txBody>
      </p:sp>
      <p:pic>
        <p:nvPicPr>
          <p:cNvPr id="38" name="Picture 37" descr="image2.png"/>
          <p:cNvPicPr>
            <a:picLocks noChangeAspect="1"/>
          </p:cNvPicPr>
          <p:nvPr/>
        </p:nvPicPr>
        <p:blipFill>
          <a:blip r:embed="rId3"/>
          <a:stretch>
            <a:fillRect/>
          </a:stretch>
        </p:blipFill>
        <p:spPr>
          <a:xfrm>
            <a:off x="9841366" y="6297"/>
            <a:ext cx="2209120" cy="112286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93" name="Rounded Rectangle 15392"/>
          <p:cNvSpPr/>
          <p:nvPr/>
        </p:nvSpPr>
        <p:spPr>
          <a:xfrm>
            <a:off x="6108192" y="2724912"/>
            <a:ext cx="5440680" cy="1819656"/>
          </a:xfrm>
          <a:prstGeom prst="roundRect">
            <a:avLst/>
          </a:prstGeom>
          <a:solidFill>
            <a:srgbClr val="F4F7FB"/>
          </a:solidFill>
          <a:ln w="12700">
            <a:solidFill>
              <a:srgbClr val="D5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5389" name="Rounded Rectangle 15388"/>
          <p:cNvSpPr/>
          <p:nvPr/>
        </p:nvSpPr>
        <p:spPr>
          <a:xfrm>
            <a:off x="594360" y="2715768"/>
            <a:ext cx="5321808" cy="1828800"/>
          </a:xfrm>
          <a:prstGeom prst="roundRect">
            <a:avLst/>
          </a:prstGeom>
          <a:solidFill>
            <a:srgbClr val="F4F7FB"/>
          </a:solidFill>
          <a:ln w="12700">
            <a:solidFill>
              <a:srgbClr val="D5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82998" y="0"/>
            <a:ext cx="10972800" cy="1143000"/>
          </a:xfrm>
        </p:spPr>
        <p:txBody>
          <a:bodyPr wrap="square" lIns="38100" tIns="19050" rIns="38100" bIns="19050" anchor="ctr"/>
          <a:lstStyle/>
          <a:p>
            <a:pPr algn="ctr" eaLnBrk="1" hangingPunct="1">
              <a:lnSpc>
                <a:spcPct val="100000"/>
              </a:lnSpc>
              <a:spcBef>
                <a:spcPts val="0"/>
              </a:spcBef>
              <a:spcAft>
                <a:spcPts val="0"/>
              </a:spcAft>
            </a:pPr>
            <a:br>
              <a:rPr lang="en-US" sz="3600" b="1" dirty="0">
                <a:latin typeface="Times New Roman" panose="02020603050405020304" pitchFamily="18" charset="0"/>
                <a:ea typeface="ＭＳ Ｐゴシック" pitchFamily="1" charset="-128"/>
                <a:cs typeface="Times New Roman" panose="02020603050405020304" pitchFamily="18" charset="0"/>
              </a:rPr>
            </a:br>
            <a:r>
              <a:rPr lang="en-US" sz="2500" b="1" i="0" dirty="0">
                <a:solidFill>
                  <a:srgbClr val="17273A"/>
                </a:solidFill>
                <a:latin typeface="Aptos Display" panose="02020603050405020304" pitchFamily="18" charset="0"/>
                <a:ea typeface="ＭＳ Ｐゴシック" pitchFamily="1" charset="-128"/>
                <a:cs typeface="Times New Roman" panose="02020603050405020304" pitchFamily="18" charset="0"/>
              </a:rPr>
              <a:t>IDEA TITLE</a:t>
            </a:r>
          </a:p>
        </p:txBody>
      </p:sp>
      <p:sp>
        <p:nvSpPr>
          <p:cNvPr id="6" name="Slide Number Placeholder 5"/>
          <p:cNvSpPr>
            <a:spLocks noGrp="1"/>
          </p:cNvSpPr>
          <p:nvPr>
            <p:ph type="sldNum" sz="quarter" idx="12"/>
          </p:nvPr>
        </p:nvSpPr>
        <p:spPr/>
        <p:txBody>
          <a:bodyPr lIns="38100" tIns="19050" rIns="38100" bIns="19050"/>
          <a:lstStyle/>
          <a:p>
            <a:pPr algn="r">
              <a:spcBef>
                <a:spcPts val="0"/>
              </a:spcBef>
              <a:spcAft>
                <a:spcPts val="0"/>
              </a:spcAft>
            </a:pPr>
            <a:fld id="{677C3CE7-23F7-4828-823C-E0205DF2CF97}" type="slidenum">
              <a:rPr lang="en-US" b="1" smtClean="0">
                <a:solidFill>
                  <a:schemeClr val="bg1"/>
                </a:solidFill>
              </a:rPr>
              <a:pPr/>
              <a:t>2</a:t>
            </a:fld>
            <a:endParaRPr lang="en-US" b="1" dirty="0">
              <a:solidFill>
                <a:schemeClr val="bg1"/>
              </a:solidFill>
            </a:endParaRPr>
          </a:p>
        </p:txBody>
      </p:sp>
      <p:sp>
        <p:nvSpPr>
          <p:cNvPr id="15362" name="TextBox 15361"/>
          <p:cNvSpPr txBox="1"/>
          <p:nvPr/>
        </p:nvSpPr>
        <p:spPr>
          <a:xfrm>
            <a:off x="502920" y="1087298"/>
            <a:ext cx="11064240" cy="330860"/>
          </a:xfrm>
          <a:prstGeom prst="rect">
            <a:avLst/>
          </a:prstGeom>
          <a:noFill/>
        </p:spPr>
        <p:txBody>
          <a:bodyPr wrap="square" lIns="38100" tIns="19050" rIns="38100" bIns="19050" anchor="ctr">
            <a:spAutoFit/>
          </a:bodyPr>
          <a:lstStyle/>
          <a:p>
            <a:pPr algn="l">
              <a:lnSpc>
                <a:spcPct val="100000"/>
              </a:lnSpc>
              <a:spcBef>
                <a:spcPts val="0"/>
              </a:spcBef>
              <a:spcAft>
                <a:spcPts val="0"/>
              </a:spcAft>
              <a:defRPr sz="1630" b="1">
                <a:solidFill>
                  <a:srgbClr val="152742"/>
                </a:solidFill>
              </a:defRPr>
            </a:pPr>
            <a:r>
              <a:rPr sz="1900" b="1" i="0" dirty="0" err="1">
                <a:solidFill>
                  <a:srgbClr val="17273A"/>
                </a:solidFill>
                <a:latin typeface="Aptos"/>
              </a:rPr>
              <a:t>DepthWizard: One Satellite Image → Measured 3D Heights You Can Fly Through and Verify</a:t>
            </a:r>
          </a:p>
        </p:txBody>
      </p:sp>
      <p:sp>
        <p:nvSpPr>
          <p:cNvPr id="15363" name="Rounded Rectangle 15362"/>
          <p:cNvSpPr/>
          <p:nvPr/>
        </p:nvSpPr>
        <p:spPr>
          <a:xfrm>
            <a:off x="502920" y="1572768"/>
            <a:ext cx="2157984" cy="896112"/>
          </a:xfrm>
          <a:prstGeom prst="roundRect">
            <a:avLst/>
          </a:prstGeom>
          <a:solidFill>
            <a:srgbClr val="FFFFFF"/>
          </a:solidFill>
          <a:ln w="12700">
            <a:solidFill>
              <a:srgbClr val="2068AA"/>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5364" name="Rounded Rectangle 15363"/>
          <p:cNvSpPr/>
          <p:nvPr/>
        </p:nvSpPr>
        <p:spPr>
          <a:xfrm>
            <a:off x="502920" y="1572768"/>
            <a:ext cx="2157984" cy="283464"/>
          </a:xfrm>
          <a:prstGeom prst="roundRect">
            <a:avLst/>
          </a:prstGeom>
          <a:solidFill>
            <a:srgbClr val="2068AA"/>
          </a:solidFill>
          <a:ln w="12700">
            <a:solidFill>
              <a:srgbClr val="2068AA"/>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5365" name="TextBox 15364"/>
          <p:cNvSpPr txBox="1"/>
          <p:nvPr/>
        </p:nvSpPr>
        <p:spPr>
          <a:xfrm>
            <a:off x="594360" y="1600200"/>
            <a:ext cx="1975103" cy="228600"/>
          </a:xfrm>
          <a:prstGeom prst="rect">
            <a:avLst/>
          </a:prstGeom>
          <a:noFill/>
        </p:spPr>
        <p:txBody>
          <a:bodyPr wrap="square" lIns="38100" tIns="19050" rIns="38100" bIns="19050" anchor="ctr">
            <a:spAutoFit/>
          </a:bodyPr>
          <a:lstStyle/>
          <a:p>
            <a:pPr algn="l">
              <a:lnSpc>
                <a:spcPct val="100000"/>
              </a:lnSpc>
              <a:spcBef>
                <a:spcPts val="0"/>
              </a:spcBef>
              <a:spcAft>
                <a:spcPts val="0"/>
              </a:spcAft>
              <a:defRPr sz="1120" b="1">
                <a:solidFill>
                  <a:srgbClr val="FFFFFF"/>
                </a:solidFill>
              </a:defRPr>
            </a:pPr>
            <a:r>
              <a:rPr sz="1280" b="1" i="0">
                <a:solidFill>
                  <a:srgbClr val="FFFFFF"/>
                </a:solidFill>
                <a:latin typeface="Aptos"/>
              </a:rPr>
              <a:t>INPUT</a:t>
            </a:r>
          </a:p>
        </p:txBody>
      </p:sp>
      <p:sp>
        <p:nvSpPr>
          <p:cNvPr id="15366" name="TextBox 15365"/>
          <p:cNvSpPr txBox="1"/>
          <p:nvPr/>
        </p:nvSpPr>
        <p:spPr>
          <a:xfrm>
            <a:off x="566928" y="1938528"/>
            <a:ext cx="2029968" cy="393192"/>
          </a:xfrm>
          <a:prstGeom prst="rect">
            <a:avLst/>
          </a:prstGeom>
          <a:noFill/>
        </p:spPr>
        <p:txBody>
          <a:bodyPr wrap="square" lIns="38100" tIns="19050" rIns="38100" bIns="19050" anchor="ctr">
            <a:spAutoFit/>
          </a:bodyPr>
          <a:lstStyle/>
          <a:p>
            <a:pPr algn="ctr">
              <a:lnSpc>
                <a:spcPct val="100000"/>
              </a:lnSpc>
              <a:spcBef>
                <a:spcPts val="0"/>
              </a:spcBef>
              <a:spcAft>
                <a:spcPts val="0"/>
              </a:spcAft>
              <a:defRPr sz="990" b="1">
                <a:solidFill>
                  <a:srgbClr val="232B36"/>
                </a:solidFill>
              </a:defRPr>
            </a:pPr>
            <a:r>
              <a:rPr sz="1340" b="1" i="0">
                <a:solidFill>
                  <a:srgbClr val="24313F"/>
                </a:solidFill>
                <a:latin typeface="Aptos"/>
              </a:rPr>
              <a:t>PNG / JPG / TIFF / GeoTIFF</a:t>
            </a:r>
          </a:p>
        </p:txBody>
      </p:sp>
      <p:sp>
        <p:nvSpPr>
          <p:cNvPr id="15367" name="Right Arrow 15366"/>
          <p:cNvSpPr/>
          <p:nvPr/>
        </p:nvSpPr>
        <p:spPr>
          <a:xfrm>
            <a:off x="2688336" y="1847088"/>
            <a:ext cx="283464" cy="292608"/>
          </a:xfrm>
          <a:prstGeom prst="rightArrow">
            <a:avLst/>
          </a:prstGeom>
          <a:solidFill>
            <a:srgbClr val="5C68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5368" name="Rounded Rectangle 15367"/>
          <p:cNvSpPr/>
          <p:nvPr/>
        </p:nvSpPr>
        <p:spPr>
          <a:xfrm>
            <a:off x="2807208" y="1572768"/>
            <a:ext cx="2157984" cy="896112"/>
          </a:xfrm>
          <a:prstGeom prst="roundRect">
            <a:avLst/>
          </a:prstGeom>
          <a:solidFill>
            <a:srgbClr val="FFFFFF"/>
          </a:solidFill>
          <a:ln w="12700">
            <a:solidFill>
              <a:srgbClr val="228989"/>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5369" name="Rounded Rectangle 15368"/>
          <p:cNvSpPr/>
          <p:nvPr/>
        </p:nvSpPr>
        <p:spPr>
          <a:xfrm>
            <a:off x="2807208" y="1572768"/>
            <a:ext cx="2157984" cy="283464"/>
          </a:xfrm>
          <a:prstGeom prst="roundRect">
            <a:avLst/>
          </a:prstGeom>
          <a:solidFill>
            <a:srgbClr val="228989"/>
          </a:solidFill>
          <a:ln w="12700">
            <a:solidFill>
              <a:srgbClr val="228989"/>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5370" name="TextBox 15369"/>
          <p:cNvSpPr txBox="1"/>
          <p:nvPr/>
        </p:nvSpPr>
        <p:spPr>
          <a:xfrm>
            <a:off x="2898648" y="1600200"/>
            <a:ext cx="1975103" cy="228600"/>
          </a:xfrm>
          <a:prstGeom prst="rect">
            <a:avLst/>
          </a:prstGeom>
          <a:noFill/>
        </p:spPr>
        <p:txBody>
          <a:bodyPr wrap="square" lIns="38100" tIns="19050" rIns="38100" bIns="19050" anchor="ctr">
            <a:spAutoFit/>
          </a:bodyPr>
          <a:lstStyle/>
          <a:p>
            <a:pPr algn="l">
              <a:lnSpc>
                <a:spcPct val="100000"/>
              </a:lnSpc>
              <a:spcBef>
                <a:spcPts val="0"/>
              </a:spcBef>
              <a:spcAft>
                <a:spcPts val="0"/>
              </a:spcAft>
              <a:defRPr sz="1120" b="1">
                <a:solidFill>
                  <a:srgbClr val="FFFFFF"/>
                </a:solidFill>
              </a:defRPr>
            </a:pPr>
            <a:r>
              <a:rPr sz="1280" b="1" i="0">
                <a:solidFill>
                  <a:srgbClr val="FFFFFF"/>
                </a:solidFill>
                <a:latin typeface="Aptos"/>
              </a:rPr>
              <a:t>AI HEIGHT</a:t>
            </a:r>
          </a:p>
        </p:txBody>
      </p:sp>
      <p:sp>
        <p:nvSpPr>
          <p:cNvPr id="15371" name="TextBox 15370"/>
          <p:cNvSpPr txBox="1"/>
          <p:nvPr/>
        </p:nvSpPr>
        <p:spPr>
          <a:xfrm>
            <a:off x="2871216" y="1938528"/>
            <a:ext cx="2029968" cy="393192"/>
          </a:xfrm>
          <a:prstGeom prst="rect">
            <a:avLst/>
          </a:prstGeom>
          <a:noFill/>
        </p:spPr>
        <p:txBody>
          <a:bodyPr wrap="square" lIns="38100" tIns="19050" rIns="38100" bIns="19050" anchor="ctr">
            <a:spAutoFit/>
          </a:bodyPr>
          <a:lstStyle/>
          <a:p>
            <a:pPr algn="ctr">
              <a:lnSpc>
                <a:spcPct val="100000"/>
              </a:lnSpc>
              <a:spcBef>
                <a:spcPts val="0"/>
              </a:spcBef>
              <a:spcAft>
                <a:spcPts val="0"/>
              </a:spcAft>
              <a:defRPr sz="990" b="1">
                <a:solidFill>
                  <a:srgbClr val="232B36"/>
                </a:solidFill>
              </a:defRPr>
            </a:pPr>
            <a:r>
              <a:rPr sz="1340" b="1" i="0">
                <a:solidFill>
                  <a:srgbClr val="24313F"/>
                </a:solidFill>
                <a:latin typeface="Aptos"/>
              </a:rPr>
              <a:t>Height above ground, every pixel</a:t>
            </a:r>
          </a:p>
        </p:txBody>
      </p:sp>
      <p:sp>
        <p:nvSpPr>
          <p:cNvPr id="15372" name="Right Arrow 15371"/>
          <p:cNvSpPr/>
          <p:nvPr/>
        </p:nvSpPr>
        <p:spPr>
          <a:xfrm>
            <a:off x="4992624" y="1847088"/>
            <a:ext cx="283464" cy="292608"/>
          </a:xfrm>
          <a:prstGeom prst="rightArrow">
            <a:avLst/>
          </a:prstGeom>
          <a:solidFill>
            <a:srgbClr val="5C68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5373" name="Rounded Rectangle 15372"/>
          <p:cNvSpPr/>
          <p:nvPr/>
        </p:nvSpPr>
        <p:spPr>
          <a:xfrm>
            <a:off x="5111496" y="1572768"/>
            <a:ext cx="2157984" cy="896112"/>
          </a:xfrm>
          <a:prstGeom prst="roundRect">
            <a:avLst/>
          </a:prstGeom>
          <a:solidFill>
            <a:srgbClr val="FFFFFF"/>
          </a:solidFill>
          <a:ln w="12700">
            <a:solidFill>
              <a:srgbClr val="45885C"/>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5374" name="Rounded Rectangle 15373"/>
          <p:cNvSpPr/>
          <p:nvPr/>
        </p:nvSpPr>
        <p:spPr>
          <a:xfrm>
            <a:off x="5111496" y="1572768"/>
            <a:ext cx="2157984" cy="283464"/>
          </a:xfrm>
          <a:prstGeom prst="roundRect">
            <a:avLst/>
          </a:prstGeom>
          <a:solidFill>
            <a:srgbClr val="45885C"/>
          </a:solidFill>
          <a:ln w="12700">
            <a:solidFill>
              <a:srgbClr val="45885C"/>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5375" name="TextBox 15374"/>
          <p:cNvSpPr txBox="1"/>
          <p:nvPr/>
        </p:nvSpPr>
        <p:spPr>
          <a:xfrm>
            <a:off x="5202936" y="1600200"/>
            <a:ext cx="1975103" cy="228600"/>
          </a:xfrm>
          <a:prstGeom prst="rect">
            <a:avLst/>
          </a:prstGeom>
          <a:noFill/>
        </p:spPr>
        <p:txBody>
          <a:bodyPr wrap="square" lIns="38100" tIns="19050" rIns="38100" bIns="19050" anchor="ctr">
            <a:spAutoFit/>
          </a:bodyPr>
          <a:lstStyle/>
          <a:p>
            <a:pPr algn="l">
              <a:lnSpc>
                <a:spcPct val="100000"/>
              </a:lnSpc>
              <a:spcBef>
                <a:spcPts val="0"/>
              </a:spcBef>
              <a:spcAft>
                <a:spcPts val="0"/>
              </a:spcAft>
              <a:defRPr sz="1120" b="1">
                <a:solidFill>
                  <a:srgbClr val="FFFFFF"/>
                </a:solidFill>
              </a:defRPr>
            </a:pPr>
            <a:r>
              <a:rPr sz="1280" b="1" i="0">
                <a:solidFill>
                  <a:srgbClr val="FFFFFF"/>
                </a:solidFill>
                <a:latin typeface="Aptos"/>
              </a:rPr>
              <a:t>CALIBRATE</a:t>
            </a:r>
          </a:p>
        </p:txBody>
      </p:sp>
      <p:sp>
        <p:nvSpPr>
          <p:cNvPr id="15376" name="TextBox 15375"/>
          <p:cNvSpPr txBox="1"/>
          <p:nvPr/>
        </p:nvSpPr>
        <p:spPr>
          <a:xfrm>
            <a:off x="5175504" y="1938528"/>
            <a:ext cx="2029968" cy="393192"/>
          </a:xfrm>
          <a:prstGeom prst="rect">
            <a:avLst/>
          </a:prstGeom>
          <a:noFill/>
        </p:spPr>
        <p:txBody>
          <a:bodyPr wrap="square" lIns="38100" tIns="19050" rIns="38100" bIns="19050" anchor="ctr">
            <a:spAutoFit/>
          </a:bodyPr>
          <a:lstStyle/>
          <a:p>
            <a:pPr algn="ctr">
              <a:lnSpc>
                <a:spcPct val="100000"/>
              </a:lnSpc>
              <a:spcBef>
                <a:spcPts val="0"/>
              </a:spcBef>
              <a:spcAft>
                <a:spcPts val="0"/>
              </a:spcAft>
              <a:defRPr sz="990" b="1">
                <a:solidFill>
                  <a:srgbClr val="232B36"/>
                </a:solidFill>
              </a:defRPr>
            </a:pPr>
            <a:r>
              <a:rPr sz="1340" b="1" i="0">
                <a:solidFill>
                  <a:srgbClr val="24313F"/>
                </a:solidFill>
                <a:latin typeface="Aptos"/>
              </a:rPr>
              <a:t>CartoDEM-guided real metres</a:t>
            </a:r>
          </a:p>
        </p:txBody>
      </p:sp>
      <p:sp>
        <p:nvSpPr>
          <p:cNvPr id="15377" name="Right Arrow 15376"/>
          <p:cNvSpPr/>
          <p:nvPr/>
        </p:nvSpPr>
        <p:spPr>
          <a:xfrm>
            <a:off x="7296912" y="1847088"/>
            <a:ext cx="283464" cy="292608"/>
          </a:xfrm>
          <a:prstGeom prst="rightArrow">
            <a:avLst/>
          </a:prstGeom>
          <a:solidFill>
            <a:srgbClr val="5C68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5378" name="Rounded Rectangle 15377"/>
          <p:cNvSpPr/>
          <p:nvPr/>
        </p:nvSpPr>
        <p:spPr>
          <a:xfrm>
            <a:off x="7415783" y="1572768"/>
            <a:ext cx="2157984" cy="896112"/>
          </a:xfrm>
          <a:prstGeom prst="roundRect">
            <a:avLst/>
          </a:prstGeom>
          <a:solidFill>
            <a:srgbClr val="FFFFFF"/>
          </a:solidFill>
          <a:ln w="12700">
            <a:solidFill>
              <a:srgbClr val="2068AA"/>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5379" name="Rounded Rectangle 15378"/>
          <p:cNvSpPr/>
          <p:nvPr/>
        </p:nvSpPr>
        <p:spPr>
          <a:xfrm>
            <a:off x="7415783" y="1572768"/>
            <a:ext cx="2157984" cy="283464"/>
          </a:xfrm>
          <a:prstGeom prst="roundRect">
            <a:avLst/>
          </a:prstGeom>
          <a:solidFill>
            <a:srgbClr val="2068AA"/>
          </a:solidFill>
          <a:ln w="12700">
            <a:solidFill>
              <a:srgbClr val="2068AA"/>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5380" name="TextBox 15379"/>
          <p:cNvSpPr txBox="1"/>
          <p:nvPr/>
        </p:nvSpPr>
        <p:spPr>
          <a:xfrm>
            <a:off x="7507223" y="1600200"/>
            <a:ext cx="1975103" cy="228600"/>
          </a:xfrm>
          <a:prstGeom prst="rect">
            <a:avLst/>
          </a:prstGeom>
          <a:noFill/>
        </p:spPr>
        <p:txBody>
          <a:bodyPr wrap="square" lIns="38100" tIns="19050" rIns="38100" bIns="19050" anchor="ctr">
            <a:spAutoFit/>
          </a:bodyPr>
          <a:lstStyle/>
          <a:p>
            <a:pPr algn="l">
              <a:lnSpc>
                <a:spcPct val="100000"/>
              </a:lnSpc>
              <a:spcBef>
                <a:spcPts val="0"/>
              </a:spcBef>
              <a:spcAft>
                <a:spcPts val="0"/>
              </a:spcAft>
              <a:defRPr sz="1120" b="1">
                <a:solidFill>
                  <a:srgbClr val="FFFFFF"/>
                </a:solidFill>
              </a:defRPr>
            </a:pPr>
            <a:r>
              <a:rPr sz="1280" b="1" i="0">
                <a:solidFill>
                  <a:srgbClr val="FFFFFF"/>
                </a:solidFill>
                <a:latin typeface="Aptos"/>
              </a:rPr>
              <a:t>VERIFY</a:t>
            </a:r>
          </a:p>
        </p:txBody>
      </p:sp>
      <p:sp>
        <p:nvSpPr>
          <p:cNvPr id="15381" name="TextBox 15380"/>
          <p:cNvSpPr txBox="1"/>
          <p:nvPr/>
        </p:nvSpPr>
        <p:spPr>
          <a:xfrm>
            <a:off x="7479792" y="1938528"/>
            <a:ext cx="2029968" cy="393192"/>
          </a:xfrm>
          <a:prstGeom prst="rect">
            <a:avLst/>
          </a:prstGeom>
          <a:noFill/>
        </p:spPr>
        <p:txBody>
          <a:bodyPr wrap="square" lIns="38100" tIns="19050" rIns="38100" bIns="19050" anchor="ctr">
            <a:spAutoFit/>
          </a:bodyPr>
          <a:lstStyle/>
          <a:p>
            <a:pPr algn="ctr">
              <a:lnSpc>
                <a:spcPct val="100000"/>
              </a:lnSpc>
              <a:spcBef>
                <a:spcPts val="0"/>
              </a:spcBef>
              <a:spcAft>
                <a:spcPts val="0"/>
              </a:spcAft>
              <a:defRPr sz="990" b="1">
                <a:solidFill>
                  <a:srgbClr val="232B36"/>
                </a:solidFill>
              </a:defRPr>
            </a:pPr>
            <a:r>
              <a:rPr sz="1340" b="1" i="0">
                <a:solidFill>
                  <a:srgbClr val="24313F"/>
                </a:solidFill>
                <a:latin typeface="Aptos"/>
              </a:rPr>
              <a:t>ICESat-2 laser check + click-to-measure</a:t>
            </a:r>
          </a:p>
        </p:txBody>
      </p:sp>
      <p:sp>
        <p:nvSpPr>
          <p:cNvPr id="15382" name="Right Arrow 15381"/>
          <p:cNvSpPr/>
          <p:nvPr/>
        </p:nvSpPr>
        <p:spPr>
          <a:xfrm>
            <a:off x="9601200" y="1847088"/>
            <a:ext cx="283464" cy="292608"/>
          </a:xfrm>
          <a:prstGeom prst="rightArrow">
            <a:avLst/>
          </a:prstGeom>
          <a:solidFill>
            <a:srgbClr val="5C68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5383" name="Rounded Rectangle 15382"/>
          <p:cNvSpPr/>
          <p:nvPr/>
        </p:nvSpPr>
        <p:spPr>
          <a:xfrm>
            <a:off x="9720072" y="1572768"/>
            <a:ext cx="2157984" cy="896112"/>
          </a:xfrm>
          <a:prstGeom prst="roundRect">
            <a:avLst/>
          </a:prstGeom>
          <a:solidFill>
            <a:srgbClr val="FFFFFF"/>
          </a:solidFill>
          <a:ln w="12700">
            <a:solidFill>
              <a:srgbClr val="D2742D"/>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5384" name="Rounded Rectangle 15383"/>
          <p:cNvSpPr/>
          <p:nvPr/>
        </p:nvSpPr>
        <p:spPr>
          <a:xfrm>
            <a:off x="9720072" y="1572768"/>
            <a:ext cx="2157984" cy="283464"/>
          </a:xfrm>
          <a:prstGeom prst="roundRect">
            <a:avLst/>
          </a:prstGeom>
          <a:solidFill>
            <a:srgbClr val="D2742D"/>
          </a:solidFill>
          <a:ln w="12700">
            <a:solidFill>
              <a:srgbClr val="D2742D"/>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5385" name="TextBox 15384"/>
          <p:cNvSpPr txBox="1"/>
          <p:nvPr/>
        </p:nvSpPr>
        <p:spPr>
          <a:xfrm>
            <a:off x="9811511" y="1600200"/>
            <a:ext cx="1975103" cy="228600"/>
          </a:xfrm>
          <a:prstGeom prst="rect">
            <a:avLst/>
          </a:prstGeom>
          <a:noFill/>
        </p:spPr>
        <p:txBody>
          <a:bodyPr wrap="square" lIns="38100" tIns="19050" rIns="38100" bIns="19050" anchor="ctr">
            <a:spAutoFit/>
          </a:bodyPr>
          <a:lstStyle/>
          <a:p>
            <a:pPr algn="l">
              <a:lnSpc>
                <a:spcPct val="100000"/>
              </a:lnSpc>
              <a:spcBef>
                <a:spcPts val="0"/>
              </a:spcBef>
              <a:spcAft>
                <a:spcPts val="0"/>
              </a:spcAft>
              <a:defRPr sz="1120" b="1">
                <a:solidFill>
                  <a:srgbClr val="FFFFFF"/>
                </a:solidFill>
              </a:defRPr>
            </a:pPr>
            <a:r>
              <a:rPr sz="1280" b="1" i="0">
                <a:solidFill>
                  <a:srgbClr val="FFFFFF"/>
                </a:solidFill>
                <a:latin typeface="Aptos"/>
              </a:rPr>
              <a:t>FLY &amp; ACT</a:t>
            </a:r>
          </a:p>
        </p:txBody>
      </p:sp>
      <p:sp>
        <p:nvSpPr>
          <p:cNvPr id="15386" name="TextBox 15385"/>
          <p:cNvSpPr txBox="1"/>
          <p:nvPr/>
        </p:nvSpPr>
        <p:spPr>
          <a:xfrm>
            <a:off x="9784080" y="1938528"/>
            <a:ext cx="2029968" cy="393192"/>
          </a:xfrm>
          <a:prstGeom prst="rect">
            <a:avLst/>
          </a:prstGeom>
          <a:noFill/>
        </p:spPr>
        <p:txBody>
          <a:bodyPr wrap="square" lIns="38100" tIns="19050" rIns="38100" bIns="19050" anchor="ctr">
            <a:spAutoFit/>
          </a:bodyPr>
          <a:lstStyle/>
          <a:p>
            <a:pPr algn="ctr">
              <a:lnSpc>
                <a:spcPct val="100000"/>
              </a:lnSpc>
              <a:spcBef>
                <a:spcPts val="0"/>
              </a:spcBef>
              <a:spcAft>
                <a:spcPts val="0"/>
              </a:spcAft>
              <a:defRPr sz="990" b="1">
                <a:solidFill>
                  <a:srgbClr val="232B36"/>
                </a:solidFill>
              </a:defRPr>
            </a:pPr>
            <a:r>
              <a:rPr sz="1340" b="1" i="0">
                <a:solidFill>
                  <a:srgbClr val="24313F"/>
                </a:solidFill>
                <a:latin typeface="Aptos"/>
              </a:rPr>
              <a:t>3D flythrough + flood / slope tools</a:t>
            </a:r>
          </a:p>
        </p:txBody>
      </p:sp>
      <p:sp>
        <p:nvSpPr>
          <p:cNvPr id="15387" name="Rounded Rectangle 15386"/>
          <p:cNvSpPr/>
          <p:nvPr/>
        </p:nvSpPr>
        <p:spPr>
          <a:xfrm>
            <a:off x="594360" y="2688336"/>
            <a:ext cx="5321808" cy="301752"/>
          </a:xfrm>
          <a:prstGeom prst="roundRect">
            <a:avLst/>
          </a:prstGeom>
          <a:solidFill>
            <a:srgbClr val="2068AA"/>
          </a:solidFill>
          <a:ln w="12700">
            <a:solidFill>
              <a:srgbClr val="2068AA"/>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5388" name="TextBox 15387"/>
          <p:cNvSpPr txBox="1"/>
          <p:nvPr/>
        </p:nvSpPr>
        <p:spPr>
          <a:xfrm>
            <a:off x="685800" y="2715768"/>
            <a:ext cx="5138928" cy="246888"/>
          </a:xfrm>
          <a:prstGeom prst="rect">
            <a:avLst/>
          </a:prstGeom>
          <a:noFill/>
        </p:spPr>
        <p:txBody>
          <a:bodyPr wrap="square" lIns="38100" tIns="19050" rIns="38100" bIns="19050" anchor="ctr">
            <a:spAutoFit/>
          </a:bodyPr>
          <a:lstStyle/>
          <a:p>
            <a:pPr algn="l">
              <a:lnSpc>
                <a:spcPct val="100000"/>
              </a:lnSpc>
              <a:spcBef>
                <a:spcPts val="0"/>
              </a:spcBef>
              <a:spcAft>
                <a:spcPts val="0"/>
              </a:spcAft>
              <a:defRPr sz="1120" b="1">
                <a:solidFill>
                  <a:srgbClr val="FFFFFF"/>
                </a:solidFill>
              </a:defRPr>
            </a:pPr>
            <a:r>
              <a:rPr sz="1280" b="1" i="0">
                <a:solidFill>
                  <a:srgbClr val="FFFFFF"/>
                </a:solidFill>
                <a:latin typeface="Aptos"/>
              </a:rPr>
              <a:t>HOW IT MEETS THE PROBLEM STATEMENT</a:t>
            </a:r>
          </a:p>
        </p:txBody>
      </p:sp>
      <p:sp>
        <p:nvSpPr>
          <p:cNvPr id="15390" name="TextBox 15389"/>
          <p:cNvSpPr txBox="1"/>
          <p:nvPr/>
        </p:nvSpPr>
        <p:spPr>
          <a:xfrm>
            <a:off x="795528" y="3235960"/>
            <a:ext cx="4919472" cy="1005840"/>
          </a:xfrm>
          <a:prstGeom prst="rect">
            <a:avLst/>
          </a:prstGeom>
          <a:noFill/>
        </p:spPr>
        <p:txBody>
          <a:bodyPr wrap="square" lIns="38100" tIns="19050" rIns="38100" bIns="19050" anchor="ctr">
            <a:spAutoFit/>
          </a:bodyPr>
          <a:lstStyle/>
          <a:p>
            <a:pPr algn="l">
              <a:lnSpc>
                <a:spcPct val="110000"/>
              </a:lnSpc>
              <a:spcBef>
                <a:spcPts val="0"/>
              </a:spcBef>
              <a:spcAft>
                <a:spcPts val="150"/>
              </a:spcAft>
              <a:defRPr sz="1055">
                <a:solidFill>
                  <a:srgbClr val="232B36"/>
                </a:solidFill>
              </a:defRPr>
            </a:pPr>
            <a:r>
              <a:rPr sz="1190" dirty="0"/>
              <a:t>✓ One optical image in: no stereo pair, LiDAR or InSAR needed</a:t>
            </a:r>
          </a:p>
          <a:p>
            <a:pPr algn="l">
              <a:lnSpc>
                <a:spcPct val="110000"/>
              </a:lnSpc>
              <a:spcBef>
                <a:spcPts val="0"/>
              </a:spcBef>
              <a:spcAft>
                <a:spcPts val="150"/>
              </a:spcAft>
              <a:defRPr sz="1055">
                <a:solidFill>
                  <a:srgbClr val="232B36"/>
                </a:solidFill>
              </a:defRPr>
            </a:pPr>
            <a:r>
              <a:rPr sz="1190" dirty="0"/>
              <a:t>✓ PNG/JPG → relative DSM · GeoTIFF → absolute DSM in metres</a:t>
            </a:r>
          </a:p>
          <a:p>
            <a:pPr algn="l">
              <a:lnSpc>
                <a:spcPct val="110000"/>
              </a:lnSpc>
              <a:spcBef>
                <a:spcPts val="0"/>
              </a:spcBef>
              <a:spcAft>
                <a:spcPts val="150"/>
              </a:spcAft>
              <a:defRPr sz="1055">
                <a:solidFill>
                  <a:srgbClr val="232B36"/>
                </a:solidFill>
              </a:defRPr>
            </a:pPr>
            <a:r>
              <a:rPr sz="1190" dirty="0"/>
              <a:t>✓ Upload → auto-process → fly through the reconstructed 3D terrain</a:t>
            </a:r>
          </a:p>
          <a:p>
            <a:pPr algn="l">
              <a:lnSpc>
                <a:spcPct val="110000"/>
              </a:lnSpc>
              <a:spcBef>
                <a:spcPts val="0"/>
              </a:spcBef>
              <a:spcAft>
                <a:spcPts val="150"/>
              </a:spcAft>
              <a:defRPr sz="1055">
                <a:solidFill>
                  <a:srgbClr val="232B36"/>
                </a:solidFill>
              </a:defRPr>
            </a:pPr>
            <a:r>
              <a:rPr sz="1190" dirty="0"/>
              <a:t>✓ Click any building: estimated height ± uncertainty vs reference</a:t>
            </a:r>
          </a:p>
          <a:p>
            <a:pPr algn="l">
              <a:lnSpc>
                <a:spcPct val="110000"/>
              </a:lnSpc>
              <a:spcBef>
                <a:spcPts val="0"/>
              </a:spcBef>
              <a:spcAft>
                <a:spcPts val="150"/>
              </a:spcAft>
              <a:defRPr sz="1055">
                <a:solidFill>
                  <a:srgbClr val="232B36"/>
                </a:solidFill>
              </a:defRPr>
            </a:pPr>
            <a:r>
              <a:rPr sz="1190" dirty="0"/>
              <a:t>✓ Complete suite: web app + offline desktop app, source code, docs</a:t>
            </a:r>
          </a:p>
        </p:txBody>
      </p:sp>
      <p:sp>
        <p:nvSpPr>
          <p:cNvPr id="15391" name="Rounded Rectangle 15390"/>
          <p:cNvSpPr/>
          <p:nvPr/>
        </p:nvSpPr>
        <p:spPr>
          <a:xfrm>
            <a:off x="6108192" y="2688336"/>
            <a:ext cx="5440680" cy="301752"/>
          </a:xfrm>
          <a:prstGeom prst="roundRect">
            <a:avLst/>
          </a:prstGeom>
          <a:solidFill>
            <a:srgbClr val="D2742D"/>
          </a:solidFill>
          <a:ln w="12700">
            <a:solidFill>
              <a:srgbClr val="D2742D"/>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5392" name="TextBox 15391"/>
          <p:cNvSpPr txBox="1"/>
          <p:nvPr/>
        </p:nvSpPr>
        <p:spPr>
          <a:xfrm>
            <a:off x="6199631" y="2715768"/>
            <a:ext cx="5257800" cy="246888"/>
          </a:xfrm>
          <a:prstGeom prst="rect">
            <a:avLst/>
          </a:prstGeom>
          <a:noFill/>
        </p:spPr>
        <p:txBody>
          <a:bodyPr wrap="square" lIns="38100" tIns="19050" rIns="38100" bIns="19050" anchor="ctr">
            <a:spAutoFit/>
          </a:bodyPr>
          <a:lstStyle/>
          <a:p>
            <a:pPr algn="l">
              <a:lnSpc>
                <a:spcPct val="100000"/>
              </a:lnSpc>
              <a:spcBef>
                <a:spcPts val="0"/>
              </a:spcBef>
              <a:spcAft>
                <a:spcPts val="0"/>
              </a:spcAft>
              <a:defRPr sz="1120" b="1">
                <a:solidFill>
                  <a:srgbClr val="FFFFFF"/>
                </a:solidFill>
              </a:defRPr>
            </a:pPr>
            <a:r>
              <a:rPr sz="1280" b="1" i="0">
                <a:solidFill>
                  <a:srgbClr val="FFFFFF"/>
                </a:solidFill>
                <a:latin typeface="Aptos"/>
              </a:rPr>
              <a:t>WHY DEPTHWIZARD IS DIFFERENT</a:t>
            </a:r>
          </a:p>
        </p:txBody>
      </p:sp>
      <p:sp>
        <p:nvSpPr>
          <p:cNvPr id="15394" name="TextBox 15393"/>
          <p:cNvSpPr txBox="1"/>
          <p:nvPr/>
        </p:nvSpPr>
        <p:spPr>
          <a:xfrm>
            <a:off x="6309360" y="3205480"/>
            <a:ext cx="5029200" cy="1005840"/>
          </a:xfrm>
          <a:prstGeom prst="rect">
            <a:avLst/>
          </a:prstGeom>
          <a:noFill/>
        </p:spPr>
        <p:txBody>
          <a:bodyPr wrap="square" lIns="38100" tIns="19050" rIns="38100" bIns="19050" anchor="ctr">
            <a:spAutoFit/>
          </a:bodyPr>
          <a:lstStyle/>
          <a:p>
            <a:pPr algn="l">
              <a:lnSpc>
                <a:spcPct val="110000"/>
              </a:lnSpc>
              <a:spcBef>
                <a:spcPts val="0"/>
              </a:spcBef>
              <a:spcAft>
                <a:spcPts val="150"/>
              </a:spcAft>
              <a:defRPr sz="1055">
                <a:solidFill>
                  <a:srgbClr val="232B36"/>
                </a:solidFill>
              </a:defRPr>
            </a:pPr>
            <a:r>
              <a:rPr sz="1190" dirty="0"/>
              <a:t>• Satellite-trained height model; generic depth AI fails on top-down images</a:t>
            </a:r>
          </a:p>
          <a:p>
            <a:pPr algn="l">
              <a:lnSpc>
                <a:spcPct val="110000"/>
              </a:lnSpc>
              <a:spcBef>
                <a:spcPts val="0"/>
              </a:spcBef>
              <a:spcAft>
                <a:spcPts val="150"/>
              </a:spcAft>
              <a:defRPr sz="1055">
                <a:solidFill>
                  <a:srgbClr val="232B36"/>
                </a:solidFill>
              </a:defRPr>
            </a:pPr>
            <a:r>
              <a:rPr sz="1190" dirty="0"/>
              <a:t>• Two accuracy boosters: CartoDEM calibration + ICESat-2 laser correction</a:t>
            </a:r>
          </a:p>
          <a:p>
            <a:pPr algn="l">
              <a:lnSpc>
                <a:spcPct val="110000"/>
              </a:lnSpc>
              <a:spcBef>
                <a:spcPts val="0"/>
              </a:spcBef>
              <a:spcAft>
                <a:spcPts val="150"/>
              </a:spcAft>
              <a:defRPr sz="1055">
                <a:solidFill>
                  <a:srgbClr val="232B36"/>
                </a:solidFill>
              </a:defRPr>
            </a:pPr>
            <a:r>
              <a:rPr sz="1190" dirty="0"/>
              <a:t>• Trust layer: per-pixel uncertainty + live error report in the viewer</a:t>
            </a:r>
          </a:p>
          <a:p>
            <a:pPr algn="l">
              <a:lnSpc>
                <a:spcPct val="110000"/>
              </a:lnSpc>
              <a:spcBef>
                <a:spcPts val="0"/>
              </a:spcBef>
              <a:spcAft>
                <a:spcPts val="150"/>
              </a:spcAft>
              <a:defRPr sz="1055">
                <a:solidFill>
                  <a:srgbClr val="232B36"/>
                </a:solidFill>
              </a:defRPr>
            </a:pPr>
            <a:r>
              <a:rPr sz="1190" dirty="0"/>
              <a:t>• Bird's-eye → street-level view in one click (Sat3DGen)</a:t>
            </a:r>
          </a:p>
          <a:p>
            <a:pPr algn="l">
              <a:lnSpc>
                <a:spcPct val="110000"/>
              </a:lnSpc>
              <a:spcBef>
                <a:spcPts val="0"/>
              </a:spcBef>
              <a:spcAft>
                <a:spcPts val="150"/>
              </a:spcAft>
              <a:defRPr sz="1055">
                <a:solidFill>
                  <a:srgbClr val="232B36"/>
                </a:solidFill>
              </a:defRPr>
            </a:pPr>
            <a:r>
              <a:rPr sz="1190" dirty="0"/>
              <a:t>• Disaster tools on top: flood depth, landslide slopes, affected buildings</a:t>
            </a:r>
          </a:p>
        </p:txBody>
      </p:sp>
      <p:sp>
        <p:nvSpPr>
          <p:cNvPr id="15395" name="Rounded Rectangle 15394"/>
          <p:cNvSpPr/>
          <p:nvPr/>
        </p:nvSpPr>
        <p:spPr>
          <a:xfrm>
            <a:off x="594360" y="4800600"/>
            <a:ext cx="10954512" cy="301752"/>
          </a:xfrm>
          <a:prstGeom prst="roundRect">
            <a:avLst/>
          </a:prstGeom>
          <a:solidFill>
            <a:srgbClr val="228989"/>
          </a:solidFill>
          <a:ln w="12700">
            <a:solidFill>
              <a:srgbClr val="228989"/>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5396" name="TextBox 15395"/>
          <p:cNvSpPr txBox="1"/>
          <p:nvPr/>
        </p:nvSpPr>
        <p:spPr>
          <a:xfrm>
            <a:off x="685800" y="4828032"/>
            <a:ext cx="10771632" cy="246888"/>
          </a:xfrm>
          <a:prstGeom prst="rect">
            <a:avLst/>
          </a:prstGeom>
          <a:noFill/>
        </p:spPr>
        <p:txBody>
          <a:bodyPr wrap="square" lIns="38100" tIns="19050" rIns="38100" bIns="19050" anchor="ctr">
            <a:spAutoFit/>
          </a:bodyPr>
          <a:lstStyle/>
          <a:p>
            <a:pPr algn="l">
              <a:lnSpc>
                <a:spcPct val="100000"/>
              </a:lnSpc>
              <a:spcBef>
                <a:spcPts val="0"/>
              </a:spcBef>
              <a:spcAft>
                <a:spcPts val="0"/>
              </a:spcAft>
              <a:defRPr sz="1120" b="1">
                <a:solidFill>
                  <a:srgbClr val="FFFFFF"/>
                </a:solidFill>
              </a:defRPr>
            </a:pPr>
            <a:r>
              <a:rPr sz="1280" b="1" i="0">
                <a:solidFill>
                  <a:srgbClr val="FFFFFF"/>
                </a:solidFill>
                <a:latin typeface="Aptos"/>
              </a:rPr>
              <a:t>INNOVATION &amp; UNIQUENESS</a:t>
            </a:r>
          </a:p>
        </p:txBody>
      </p:sp>
      <p:sp>
        <p:nvSpPr>
          <p:cNvPr id="15397" name="Rounded Rectangle 15396"/>
          <p:cNvSpPr/>
          <p:nvPr/>
        </p:nvSpPr>
        <p:spPr>
          <a:xfrm>
            <a:off x="594360" y="5193792"/>
            <a:ext cx="2578608" cy="594360"/>
          </a:xfrm>
          <a:prstGeom prst="roundRect">
            <a:avLst/>
          </a:prstGeom>
          <a:solidFill>
            <a:srgbClr val="FFFFFF"/>
          </a:solidFill>
          <a:ln w="12700">
            <a:solidFill>
              <a:srgbClr val="2068AA"/>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5398" name="TextBox 15397"/>
          <p:cNvSpPr txBox="1"/>
          <p:nvPr/>
        </p:nvSpPr>
        <p:spPr>
          <a:xfrm>
            <a:off x="667512" y="5349240"/>
            <a:ext cx="2432304" cy="237744"/>
          </a:xfrm>
          <a:prstGeom prst="rect">
            <a:avLst/>
          </a:prstGeom>
          <a:noFill/>
        </p:spPr>
        <p:txBody>
          <a:bodyPr wrap="square" lIns="38100" tIns="19050" rIns="38100" bIns="19050" anchor="ctr">
            <a:spAutoFit/>
          </a:bodyPr>
          <a:lstStyle/>
          <a:p>
            <a:pPr>
              <a:spcBef>
                <a:spcPts val="0"/>
              </a:spcBef>
            </a:pPr>
            <a:r>
              <a:rPr sz="1230" b="1"/>
              <a:t>Satellite-native height AI</a:t>
            </a:r>
          </a:p>
        </p:txBody>
      </p:sp>
      <p:sp>
        <p:nvSpPr>
          <p:cNvPr id="15399" name="Rounded Rectangle 15398"/>
          <p:cNvSpPr/>
          <p:nvPr/>
        </p:nvSpPr>
        <p:spPr>
          <a:xfrm>
            <a:off x="3355848" y="5193792"/>
            <a:ext cx="2578608" cy="594360"/>
          </a:xfrm>
          <a:prstGeom prst="roundRect">
            <a:avLst/>
          </a:prstGeom>
          <a:solidFill>
            <a:srgbClr val="FFFFFF"/>
          </a:solidFill>
          <a:ln w="12700">
            <a:solidFill>
              <a:srgbClr val="228989"/>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5400" name="TextBox 15399"/>
          <p:cNvSpPr txBox="1"/>
          <p:nvPr/>
        </p:nvSpPr>
        <p:spPr>
          <a:xfrm>
            <a:off x="3429000" y="5349240"/>
            <a:ext cx="2432304" cy="237744"/>
          </a:xfrm>
          <a:prstGeom prst="rect">
            <a:avLst/>
          </a:prstGeom>
          <a:noFill/>
        </p:spPr>
        <p:txBody>
          <a:bodyPr wrap="square" lIns="38100" tIns="19050" rIns="38100" bIns="19050" anchor="ctr">
            <a:spAutoFit/>
          </a:bodyPr>
          <a:lstStyle/>
          <a:p>
            <a:pPr>
              <a:spcBef>
                <a:spcPts val="0"/>
              </a:spcBef>
            </a:pPr>
            <a:r>
              <a:rPr sz="1230" b="1"/>
              <a:t>Real metres from CartoDEM</a:t>
            </a:r>
          </a:p>
        </p:txBody>
      </p:sp>
      <p:sp>
        <p:nvSpPr>
          <p:cNvPr id="15401" name="Rounded Rectangle 15400"/>
          <p:cNvSpPr/>
          <p:nvPr/>
        </p:nvSpPr>
        <p:spPr>
          <a:xfrm>
            <a:off x="6117336" y="5193792"/>
            <a:ext cx="2578608" cy="594360"/>
          </a:xfrm>
          <a:prstGeom prst="roundRect">
            <a:avLst/>
          </a:prstGeom>
          <a:solidFill>
            <a:srgbClr val="FFFFFF"/>
          </a:solidFill>
          <a:ln w="12700">
            <a:solidFill>
              <a:srgbClr val="45885C"/>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5402" name="TextBox 15401"/>
          <p:cNvSpPr txBox="1"/>
          <p:nvPr/>
        </p:nvSpPr>
        <p:spPr>
          <a:xfrm>
            <a:off x="6190488" y="5349240"/>
            <a:ext cx="2432304" cy="237744"/>
          </a:xfrm>
          <a:prstGeom prst="rect">
            <a:avLst/>
          </a:prstGeom>
          <a:noFill/>
        </p:spPr>
        <p:txBody>
          <a:bodyPr wrap="square" lIns="38100" tIns="19050" rIns="38100" bIns="19050" anchor="ctr">
            <a:spAutoFit/>
          </a:bodyPr>
          <a:lstStyle/>
          <a:p>
            <a:pPr>
              <a:spcBef>
                <a:spcPts val="0"/>
              </a:spcBef>
            </a:pPr>
            <a:r>
              <a:rPr sz="1230" b="1"/>
              <a:t>Laser-verified (ICESat-2)</a:t>
            </a:r>
          </a:p>
        </p:txBody>
      </p:sp>
      <p:sp>
        <p:nvSpPr>
          <p:cNvPr id="15403" name="Rounded Rectangle 15402"/>
          <p:cNvSpPr/>
          <p:nvPr/>
        </p:nvSpPr>
        <p:spPr>
          <a:xfrm>
            <a:off x="8878824" y="5193792"/>
            <a:ext cx="2578608" cy="594360"/>
          </a:xfrm>
          <a:prstGeom prst="roundRect">
            <a:avLst/>
          </a:prstGeom>
          <a:solidFill>
            <a:srgbClr val="FFFFFF"/>
          </a:solidFill>
          <a:ln w="12700">
            <a:solidFill>
              <a:srgbClr val="D2742D"/>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5404" name="TextBox 15403"/>
          <p:cNvSpPr txBox="1"/>
          <p:nvPr/>
        </p:nvSpPr>
        <p:spPr>
          <a:xfrm>
            <a:off x="8951976" y="5349240"/>
            <a:ext cx="2432304" cy="237744"/>
          </a:xfrm>
          <a:prstGeom prst="rect">
            <a:avLst/>
          </a:prstGeom>
          <a:noFill/>
        </p:spPr>
        <p:txBody>
          <a:bodyPr wrap="square" lIns="38100" tIns="19050" rIns="38100" bIns="19050" anchor="ctr">
            <a:spAutoFit/>
          </a:bodyPr>
          <a:lstStyle/>
          <a:p>
            <a:pPr>
              <a:spcBef>
                <a:spcPts val="0"/>
              </a:spcBef>
            </a:pPr>
            <a:r>
              <a:rPr sz="1230" b="1"/>
              <a:t>Bird's-eye → street flythrough</a:t>
            </a:r>
          </a:p>
        </p:txBody>
      </p:sp>
      <p:pic>
        <p:nvPicPr>
          <p:cNvPr id="15406" name="Picture 15405" descr="terravista_icon.png"/>
          <p:cNvPicPr>
            <a:picLocks noChangeAspect="1"/>
          </p:cNvPicPr>
          <p:nvPr/>
        </p:nvPicPr>
        <p:blipFill>
          <a:blip r:embed="rId3"/>
          <a:stretch>
            <a:fillRect/>
          </a:stretch>
        </p:blipFill>
        <p:spPr>
          <a:xfrm>
            <a:off x="338328" y="356616"/>
            <a:ext cx="347472" cy="347472"/>
          </a:xfrm>
          <a:prstGeom prst="rect">
            <a:avLst/>
          </a:prstGeom>
        </p:spPr>
      </p:pic>
      <p:sp>
        <p:nvSpPr>
          <p:cNvPr id="15407" name="TextBox 15406"/>
          <p:cNvSpPr txBox="1"/>
          <p:nvPr/>
        </p:nvSpPr>
        <p:spPr>
          <a:xfrm>
            <a:off x="740664" y="352044"/>
            <a:ext cx="914400" cy="310896"/>
          </a:xfrm>
          <a:prstGeom prst="rect">
            <a:avLst/>
          </a:prstGeom>
          <a:noFill/>
        </p:spPr>
        <p:txBody>
          <a:bodyPr wrap="none" lIns="0" tIns="0" rIns="0" bIns="0">
            <a:spAutoFit/>
          </a:bodyPr>
          <a:lstStyle/>
          <a:p>
            <a:pPr algn="l">
              <a:spcBef>
                <a:spcPts val="0"/>
              </a:spcBef>
              <a:spcAft>
                <a:spcPts val="0"/>
              </a:spcAft>
            </a:pPr>
            <a:r>
              <a:rPr sz="1050" b="1" i="0">
                <a:solidFill>
                  <a:srgbClr val="17273A"/>
                </a:solidFill>
                <a:latin typeface="Aptos"/>
              </a:rPr>
              <a:t>TerraVista</a:t>
            </a:r>
          </a:p>
        </p:txBody>
      </p:sp>
      <p:pic>
        <p:nvPicPr>
          <p:cNvPr id="15408" name="Picture 15407" descr="image2.png"/>
          <p:cNvPicPr>
            <a:picLocks noChangeAspect="1"/>
          </p:cNvPicPr>
          <p:nvPr/>
        </p:nvPicPr>
        <p:blipFill>
          <a:blip r:embed="rId4"/>
          <a:stretch>
            <a:fillRect/>
          </a:stretch>
        </p:blipFill>
        <p:spPr>
          <a:xfrm>
            <a:off x="9841366" y="57097"/>
            <a:ext cx="2209120" cy="112286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wrap="square" lIns="38100" tIns="19050" rIns="38100" bIns="19050" anchor="ctr"/>
          <a:lstStyle/>
          <a:p>
            <a:pPr algn="ctr" eaLnBrk="1" hangingPunct="1">
              <a:lnSpc>
                <a:spcPct val="100000"/>
              </a:lnSpc>
              <a:spcBef>
                <a:spcPts val="0"/>
              </a:spcBef>
              <a:spcAft>
                <a:spcPts val="0"/>
              </a:spcAft>
            </a:pPr>
            <a:r>
              <a:rPr lang="en-US" sz="2500" b="1" i="0" dirty="0">
                <a:solidFill>
                  <a:srgbClr val="17273A"/>
                </a:solidFill>
                <a:latin typeface="Aptos Display" panose="02020603050405020304" pitchFamily="18" charset="0"/>
                <a:ea typeface="ＭＳ Ｐゴシック" pitchFamily="1" charset="-128"/>
                <a:cs typeface="Times New Roman" panose="02020603050405020304" pitchFamily="18" charset="0"/>
              </a:rPr>
              <a:t>TECHNICAL APPROACH</a:t>
            </a:r>
          </a:p>
        </p:txBody>
      </p:sp>
      <p:sp>
        <p:nvSpPr>
          <p:cNvPr id="6" name="Slide Number Placeholder 5"/>
          <p:cNvSpPr>
            <a:spLocks noGrp="1"/>
          </p:cNvSpPr>
          <p:nvPr>
            <p:ph type="sldNum" sz="quarter" idx="12"/>
          </p:nvPr>
        </p:nvSpPr>
        <p:spPr/>
        <p:txBody>
          <a:bodyPr lIns="38100" tIns="19050" rIns="38100" bIns="19050"/>
          <a:lstStyle/>
          <a:p>
            <a:pPr algn="r">
              <a:spcBef>
                <a:spcPts val="0"/>
              </a:spcBef>
              <a:spcAft>
                <a:spcPts val="0"/>
              </a:spcAft>
            </a:pPr>
            <a:fld id="{677C3CE7-23F7-4828-823C-E0205DF2CF97}" type="slidenum">
              <a:rPr lang="en-US" b="1">
                <a:solidFill>
                  <a:schemeClr val="bg1"/>
                </a:solidFill>
              </a:rPr>
              <a:pPr/>
              <a:t>3</a:t>
            </a:fld>
            <a:endParaRPr lang="en-US" b="1" dirty="0">
              <a:solidFill>
                <a:schemeClr val="bg1"/>
              </a:solidFill>
            </a:endParaRPr>
          </a:p>
        </p:txBody>
      </p:sp>
      <p:sp>
        <p:nvSpPr>
          <p:cNvPr id="17410" name="TextBox 17409"/>
          <p:cNvSpPr txBox="1"/>
          <p:nvPr/>
        </p:nvSpPr>
        <p:spPr>
          <a:xfrm>
            <a:off x="634115" y="1078992"/>
            <a:ext cx="10972800" cy="329184"/>
          </a:xfrm>
          <a:prstGeom prst="rect">
            <a:avLst/>
          </a:prstGeom>
          <a:noFill/>
        </p:spPr>
        <p:txBody>
          <a:bodyPr wrap="square" lIns="38100" tIns="19050" rIns="38100" bIns="19050" anchor="ctr">
            <a:spAutoFit/>
          </a:bodyPr>
          <a:lstStyle/>
          <a:p>
            <a:pPr algn="l">
              <a:lnSpc>
                <a:spcPct val="100000"/>
              </a:lnSpc>
              <a:spcBef>
                <a:spcPts val="0"/>
              </a:spcBef>
              <a:spcAft>
                <a:spcPts val="0"/>
              </a:spcAft>
              <a:defRPr sz="1630" b="1">
                <a:solidFill>
                  <a:srgbClr val="152742"/>
                </a:solidFill>
              </a:defRPr>
            </a:pPr>
            <a:r>
              <a:rPr sz="1900" b="1" i="0">
                <a:solidFill>
                  <a:srgbClr val="17273A"/>
                </a:solidFill>
                <a:latin typeface="Aptos"/>
              </a:rPr>
              <a:t>Pipeline: Pixels → Height → Metres → Verified 3D</a:t>
            </a:r>
          </a:p>
        </p:txBody>
      </p:sp>
      <p:sp>
        <p:nvSpPr>
          <p:cNvPr id="17411" name="Rounded Rectangle 17410"/>
          <p:cNvSpPr/>
          <p:nvPr/>
        </p:nvSpPr>
        <p:spPr>
          <a:xfrm>
            <a:off x="594360" y="1600200"/>
            <a:ext cx="1499616" cy="914400"/>
          </a:xfrm>
          <a:prstGeom prst="roundRect">
            <a:avLst/>
          </a:prstGeom>
          <a:solidFill>
            <a:srgbClr val="FFFFFF"/>
          </a:solidFill>
          <a:ln w="12700">
            <a:solidFill>
              <a:srgbClr val="2068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12" name="Rounded Rectangle 17411"/>
          <p:cNvSpPr/>
          <p:nvPr/>
        </p:nvSpPr>
        <p:spPr>
          <a:xfrm>
            <a:off x="594360" y="1600200"/>
            <a:ext cx="1499616" cy="265176"/>
          </a:xfrm>
          <a:prstGeom prst="roundRect">
            <a:avLst/>
          </a:prstGeom>
          <a:solidFill>
            <a:srgbClr val="2068AA"/>
          </a:solidFill>
          <a:ln w="12700">
            <a:solidFill>
              <a:srgbClr val="2068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13" name="TextBox 17412"/>
          <p:cNvSpPr txBox="1"/>
          <p:nvPr/>
        </p:nvSpPr>
        <p:spPr>
          <a:xfrm>
            <a:off x="640080" y="1627632"/>
            <a:ext cx="1408175" cy="210312"/>
          </a:xfrm>
          <a:prstGeom prst="rect">
            <a:avLst/>
          </a:prstGeom>
          <a:noFill/>
        </p:spPr>
        <p:txBody>
          <a:bodyPr wrap="square" lIns="38100" tIns="19050" rIns="38100" bIns="19050" anchor="ctr">
            <a:spAutoFit/>
          </a:bodyPr>
          <a:lstStyle/>
          <a:p>
            <a:pPr algn="l">
              <a:lnSpc>
                <a:spcPct val="100000"/>
              </a:lnSpc>
              <a:spcBef>
                <a:spcPts val="0"/>
              </a:spcBef>
              <a:spcAft>
                <a:spcPts val="0"/>
              </a:spcAft>
              <a:defRPr sz="1120" b="1">
                <a:solidFill>
                  <a:srgbClr val="FFFFFF"/>
                </a:solidFill>
              </a:defRPr>
            </a:pPr>
            <a:r>
              <a:rPr sz="1180" b="1" i="0">
                <a:solidFill>
                  <a:srgbClr val="FFFFFF"/>
                </a:solidFill>
                <a:latin typeface="Aptos"/>
              </a:rPr>
              <a:t>INPUT</a:t>
            </a:r>
          </a:p>
        </p:txBody>
      </p:sp>
      <p:sp>
        <p:nvSpPr>
          <p:cNvPr id="17414" name="TextBox 17413"/>
          <p:cNvSpPr txBox="1"/>
          <p:nvPr/>
        </p:nvSpPr>
        <p:spPr>
          <a:xfrm>
            <a:off x="640080" y="1901952"/>
            <a:ext cx="1408175" cy="566928"/>
          </a:xfrm>
          <a:prstGeom prst="rect">
            <a:avLst/>
          </a:prstGeom>
          <a:noFill/>
        </p:spPr>
        <p:txBody>
          <a:bodyPr wrap="square" lIns="38100" tIns="19050" rIns="38100" bIns="19050" anchor="ctr">
            <a:spAutoFit/>
          </a:bodyPr>
          <a:lstStyle/>
          <a:p>
            <a:pPr algn="ctr">
              <a:lnSpc>
                <a:spcPct val="100000"/>
              </a:lnSpc>
              <a:spcBef>
                <a:spcPts val="0"/>
              </a:spcBef>
              <a:spcAft>
                <a:spcPts val="0"/>
              </a:spcAft>
              <a:defRPr sz="919" b="1">
                <a:solidFill>
                  <a:srgbClr val="232B36"/>
                </a:solidFill>
              </a:defRPr>
            </a:pPr>
            <a:r>
              <a:rPr sz="1000" b="1" i="0" dirty="0">
                <a:solidFill>
                  <a:srgbClr val="24313F"/>
                </a:solidFill>
                <a:latin typeface="Aptos"/>
              </a:rPr>
              <a:t>RGB image (PNG / JPG / TIFF)</a:t>
            </a:r>
          </a:p>
        </p:txBody>
      </p:sp>
      <p:sp>
        <p:nvSpPr>
          <p:cNvPr id="17415" name="Right Arrow 17414"/>
          <p:cNvSpPr/>
          <p:nvPr/>
        </p:nvSpPr>
        <p:spPr>
          <a:xfrm>
            <a:off x="2103120" y="1929384"/>
            <a:ext cx="201168" cy="237744"/>
          </a:xfrm>
          <a:prstGeom prst="rightArrow">
            <a:avLst/>
          </a:prstGeom>
          <a:solidFill>
            <a:srgbClr val="5C6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16" name="Rounded Rectangle 17415"/>
          <p:cNvSpPr/>
          <p:nvPr/>
        </p:nvSpPr>
        <p:spPr>
          <a:xfrm>
            <a:off x="2313432" y="1600200"/>
            <a:ext cx="1499616" cy="914400"/>
          </a:xfrm>
          <a:prstGeom prst="roundRect">
            <a:avLst/>
          </a:prstGeom>
          <a:solidFill>
            <a:srgbClr val="FFFFFF"/>
          </a:solidFill>
          <a:ln w="12700">
            <a:solidFill>
              <a:srgbClr val="22898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17" name="Rounded Rectangle 17416"/>
          <p:cNvSpPr/>
          <p:nvPr/>
        </p:nvSpPr>
        <p:spPr>
          <a:xfrm>
            <a:off x="2313432" y="1600200"/>
            <a:ext cx="1499616" cy="265176"/>
          </a:xfrm>
          <a:prstGeom prst="roundRect">
            <a:avLst/>
          </a:prstGeom>
          <a:solidFill>
            <a:srgbClr val="228989"/>
          </a:solidFill>
          <a:ln w="12700">
            <a:solidFill>
              <a:srgbClr val="22898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18" name="TextBox 17417"/>
          <p:cNvSpPr txBox="1"/>
          <p:nvPr/>
        </p:nvSpPr>
        <p:spPr>
          <a:xfrm>
            <a:off x="2359151" y="1627632"/>
            <a:ext cx="1408175" cy="210312"/>
          </a:xfrm>
          <a:prstGeom prst="rect">
            <a:avLst/>
          </a:prstGeom>
          <a:noFill/>
        </p:spPr>
        <p:txBody>
          <a:bodyPr wrap="square" lIns="38100" tIns="19050" rIns="38100" bIns="19050" anchor="ctr">
            <a:spAutoFit/>
          </a:bodyPr>
          <a:lstStyle/>
          <a:p>
            <a:pPr algn="l">
              <a:lnSpc>
                <a:spcPct val="100000"/>
              </a:lnSpc>
              <a:spcBef>
                <a:spcPts val="0"/>
              </a:spcBef>
              <a:spcAft>
                <a:spcPts val="0"/>
              </a:spcAft>
              <a:defRPr sz="1120" b="1">
                <a:solidFill>
                  <a:srgbClr val="FFFFFF"/>
                </a:solidFill>
              </a:defRPr>
            </a:pPr>
            <a:r>
              <a:rPr sz="1180" b="1" i="0">
                <a:solidFill>
                  <a:srgbClr val="FFFFFF"/>
                </a:solidFill>
                <a:latin typeface="Aptos"/>
              </a:rPr>
              <a:t>PREPROCESS</a:t>
            </a:r>
          </a:p>
        </p:txBody>
      </p:sp>
      <p:sp>
        <p:nvSpPr>
          <p:cNvPr id="17419" name="TextBox 17418"/>
          <p:cNvSpPr txBox="1"/>
          <p:nvPr/>
        </p:nvSpPr>
        <p:spPr>
          <a:xfrm>
            <a:off x="2359151" y="1901952"/>
            <a:ext cx="1408175" cy="566928"/>
          </a:xfrm>
          <a:prstGeom prst="rect">
            <a:avLst/>
          </a:prstGeom>
          <a:noFill/>
        </p:spPr>
        <p:txBody>
          <a:bodyPr wrap="square" lIns="38100" tIns="19050" rIns="38100" bIns="19050" anchor="ctr">
            <a:spAutoFit/>
          </a:bodyPr>
          <a:lstStyle/>
          <a:p>
            <a:pPr algn="ctr">
              <a:lnSpc>
                <a:spcPct val="100000"/>
              </a:lnSpc>
              <a:spcBef>
                <a:spcPts val="0"/>
              </a:spcBef>
              <a:spcAft>
                <a:spcPts val="0"/>
              </a:spcAft>
              <a:defRPr sz="919" b="1">
                <a:solidFill>
                  <a:srgbClr val="232B36"/>
                </a:solidFill>
              </a:defRPr>
            </a:pPr>
            <a:r>
              <a:rPr sz="1000" b="1" i="0" dirty="0">
                <a:solidFill>
                  <a:srgbClr val="24313F"/>
                </a:solidFill>
                <a:latin typeface="Aptos"/>
              </a:rPr>
              <a:t>Read GSD + CRS · overlapping 518 px tiles</a:t>
            </a:r>
          </a:p>
        </p:txBody>
      </p:sp>
      <p:sp>
        <p:nvSpPr>
          <p:cNvPr id="17420" name="Right Arrow 17419"/>
          <p:cNvSpPr/>
          <p:nvPr/>
        </p:nvSpPr>
        <p:spPr>
          <a:xfrm>
            <a:off x="3822191" y="1929384"/>
            <a:ext cx="201168" cy="237744"/>
          </a:xfrm>
          <a:prstGeom prst="rightArrow">
            <a:avLst/>
          </a:prstGeom>
          <a:solidFill>
            <a:srgbClr val="5C6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21" name="Rounded Rectangle 17420"/>
          <p:cNvSpPr/>
          <p:nvPr/>
        </p:nvSpPr>
        <p:spPr>
          <a:xfrm>
            <a:off x="4032504" y="1600200"/>
            <a:ext cx="1499616" cy="914400"/>
          </a:xfrm>
          <a:prstGeom prst="roundRect">
            <a:avLst/>
          </a:prstGeom>
          <a:solidFill>
            <a:srgbClr val="FFFFFF"/>
          </a:solidFill>
          <a:ln w="12700">
            <a:solidFill>
              <a:srgbClr val="4588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22" name="Rounded Rectangle 17421"/>
          <p:cNvSpPr/>
          <p:nvPr/>
        </p:nvSpPr>
        <p:spPr>
          <a:xfrm>
            <a:off x="4032504" y="1600200"/>
            <a:ext cx="1499616" cy="265176"/>
          </a:xfrm>
          <a:prstGeom prst="roundRect">
            <a:avLst/>
          </a:prstGeom>
          <a:solidFill>
            <a:srgbClr val="45885C"/>
          </a:solidFill>
          <a:ln w="12700">
            <a:solidFill>
              <a:srgbClr val="4588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23" name="TextBox 17422"/>
          <p:cNvSpPr txBox="1"/>
          <p:nvPr/>
        </p:nvSpPr>
        <p:spPr>
          <a:xfrm>
            <a:off x="4078224" y="1627632"/>
            <a:ext cx="1408175" cy="210312"/>
          </a:xfrm>
          <a:prstGeom prst="rect">
            <a:avLst/>
          </a:prstGeom>
          <a:noFill/>
        </p:spPr>
        <p:txBody>
          <a:bodyPr wrap="square" lIns="38100" tIns="19050" rIns="38100" bIns="19050" anchor="ctr">
            <a:normAutofit lnSpcReduction="10000"/>
          </a:bodyPr>
          <a:lstStyle/>
          <a:p>
            <a:pPr algn="l">
              <a:lnSpc>
                <a:spcPct val="100000"/>
              </a:lnSpc>
              <a:spcBef>
                <a:spcPts val="0"/>
              </a:spcBef>
              <a:spcAft>
                <a:spcPts val="0"/>
              </a:spcAft>
              <a:defRPr sz="1120" b="1">
                <a:solidFill>
                  <a:srgbClr val="FFFFFF"/>
                </a:solidFill>
              </a:defRPr>
            </a:pPr>
            <a:r>
              <a:rPr sz="1180" b="1" i="0">
                <a:solidFill>
                  <a:srgbClr val="FFFFFF"/>
                </a:solidFill>
                <a:latin typeface="Aptos"/>
              </a:rPr>
              <a:t>AI MODEL</a:t>
            </a:r>
          </a:p>
        </p:txBody>
      </p:sp>
      <p:sp>
        <p:nvSpPr>
          <p:cNvPr id="17424" name="TextBox 17423"/>
          <p:cNvSpPr txBox="1"/>
          <p:nvPr/>
        </p:nvSpPr>
        <p:spPr>
          <a:xfrm>
            <a:off x="4078224" y="1901952"/>
            <a:ext cx="1408175" cy="566928"/>
          </a:xfrm>
          <a:prstGeom prst="rect">
            <a:avLst/>
          </a:prstGeom>
          <a:noFill/>
        </p:spPr>
        <p:txBody>
          <a:bodyPr wrap="square" lIns="762" tIns="381" rIns="762" bIns="381" anchor="ctr">
            <a:noAutofit/>
          </a:bodyPr>
          <a:lstStyle/>
          <a:p>
            <a:pPr algn="ctr">
              <a:lnSpc>
                <a:spcPct val="100000"/>
              </a:lnSpc>
              <a:spcBef>
                <a:spcPts val="0"/>
              </a:spcBef>
              <a:spcAft>
                <a:spcPts val="150"/>
              </a:spcAft>
              <a:defRPr sz="919" b="1">
                <a:solidFill>
                  <a:srgbClr val="232B36"/>
                </a:solidFill>
              </a:defRPr>
            </a:pPr>
            <a:r>
              <a:rPr sz="1000" b="1" i="0" dirty="0">
                <a:solidFill>
                  <a:srgbClr val="24313F"/>
                </a:solidFill>
                <a:latin typeface="+mn-lt"/>
              </a:rPr>
              <a:t>RS3DAda (ViT-L + DPT) · challenger: DINOv3-SAT</a:t>
            </a:r>
          </a:p>
        </p:txBody>
      </p:sp>
      <p:sp>
        <p:nvSpPr>
          <p:cNvPr id="17425" name="Right Arrow 17424"/>
          <p:cNvSpPr/>
          <p:nvPr/>
        </p:nvSpPr>
        <p:spPr>
          <a:xfrm>
            <a:off x="5541264" y="1929384"/>
            <a:ext cx="201168" cy="237744"/>
          </a:xfrm>
          <a:prstGeom prst="rightArrow">
            <a:avLst/>
          </a:prstGeom>
          <a:solidFill>
            <a:srgbClr val="5C6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26" name="Rounded Rectangle 17425"/>
          <p:cNvSpPr/>
          <p:nvPr/>
        </p:nvSpPr>
        <p:spPr>
          <a:xfrm>
            <a:off x="5751576" y="1600200"/>
            <a:ext cx="1499616" cy="914400"/>
          </a:xfrm>
          <a:prstGeom prst="roundRect">
            <a:avLst/>
          </a:prstGeom>
          <a:solidFill>
            <a:srgbClr val="FFFFFF"/>
          </a:solidFill>
          <a:ln w="12700">
            <a:solidFill>
              <a:srgbClr val="22898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27" name="Rounded Rectangle 17426"/>
          <p:cNvSpPr/>
          <p:nvPr/>
        </p:nvSpPr>
        <p:spPr>
          <a:xfrm>
            <a:off x="5751576" y="1600200"/>
            <a:ext cx="1499616" cy="265176"/>
          </a:xfrm>
          <a:prstGeom prst="roundRect">
            <a:avLst/>
          </a:prstGeom>
          <a:solidFill>
            <a:srgbClr val="228989"/>
          </a:solidFill>
          <a:ln w="12700">
            <a:solidFill>
              <a:srgbClr val="22898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28" name="TextBox 17427"/>
          <p:cNvSpPr txBox="1"/>
          <p:nvPr/>
        </p:nvSpPr>
        <p:spPr>
          <a:xfrm>
            <a:off x="5797296" y="1627632"/>
            <a:ext cx="1408175" cy="210312"/>
          </a:xfrm>
          <a:prstGeom prst="rect">
            <a:avLst/>
          </a:prstGeom>
          <a:noFill/>
        </p:spPr>
        <p:txBody>
          <a:bodyPr wrap="square" lIns="38100" tIns="19050" rIns="38100" bIns="19050" anchor="ctr">
            <a:spAutoFit/>
          </a:bodyPr>
          <a:lstStyle/>
          <a:p>
            <a:pPr algn="l">
              <a:lnSpc>
                <a:spcPct val="100000"/>
              </a:lnSpc>
              <a:spcBef>
                <a:spcPts val="0"/>
              </a:spcBef>
              <a:spcAft>
                <a:spcPts val="0"/>
              </a:spcAft>
              <a:defRPr sz="1120" b="1">
                <a:solidFill>
                  <a:srgbClr val="FFFFFF"/>
                </a:solidFill>
              </a:defRPr>
            </a:pPr>
            <a:r>
              <a:rPr sz="1180" b="1" i="0">
                <a:solidFill>
                  <a:srgbClr val="FFFFFF"/>
                </a:solidFill>
                <a:latin typeface="Aptos"/>
              </a:rPr>
              <a:t>HEIGHT</a:t>
            </a:r>
          </a:p>
        </p:txBody>
      </p:sp>
      <p:sp>
        <p:nvSpPr>
          <p:cNvPr id="17429" name="TextBox 17428"/>
          <p:cNvSpPr txBox="1"/>
          <p:nvPr/>
        </p:nvSpPr>
        <p:spPr>
          <a:xfrm>
            <a:off x="5797296" y="1901952"/>
            <a:ext cx="1408175" cy="566928"/>
          </a:xfrm>
          <a:prstGeom prst="rect">
            <a:avLst/>
          </a:prstGeom>
          <a:noFill/>
        </p:spPr>
        <p:txBody>
          <a:bodyPr wrap="square" lIns="38100" tIns="19050" rIns="38100" bIns="19050" anchor="ctr">
            <a:spAutoFit/>
          </a:bodyPr>
          <a:lstStyle/>
          <a:p>
            <a:pPr algn="ctr">
              <a:lnSpc>
                <a:spcPct val="100000"/>
              </a:lnSpc>
              <a:spcBef>
                <a:spcPts val="0"/>
              </a:spcBef>
              <a:spcAft>
                <a:spcPts val="150"/>
              </a:spcAft>
              <a:defRPr sz="919" b="1">
                <a:solidFill>
                  <a:srgbClr val="232B36"/>
                </a:solidFill>
              </a:defRPr>
            </a:pPr>
            <a:r>
              <a:rPr sz="1000" dirty="0" err="1"/>
              <a:t>Height above ground + uncertainty map</a:t>
            </a:r>
          </a:p>
        </p:txBody>
      </p:sp>
      <p:sp>
        <p:nvSpPr>
          <p:cNvPr id="17430" name="Right Arrow 17429"/>
          <p:cNvSpPr/>
          <p:nvPr/>
        </p:nvSpPr>
        <p:spPr>
          <a:xfrm>
            <a:off x="7260336" y="1929384"/>
            <a:ext cx="201168" cy="237744"/>
          </a:xfrm>
          <a:prstGeom prst="rightArrow">
            <a:avLst/>
          </a:prstGeom>
          <a:solidFill>
            <a:srgbClr val="5C6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62" name="Right Arrow 17429"/>
          <p:cNvSpPr/>
          <p:nvPr/>
        </p:nvSpPr>
        <p:spPr>
          <a:xfrm>
            <a:off x="8979408" y="1929384"/>
            <a:ext cx="201168" cy="237744"/>
          </a:xfrm>
          <a:prstGeom prst="rightArrow">
            <a:avLst/>
          </a:prstGeom>
          <a:solidFill>
            <a:srgbClr val="5C6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31" name="Rounded Rectangle 17430"/>
          <p:cNvSpPr/>
          <p:nvPr/>
        </p:nvSpPr>
        <p:spPr>
          <a:xfrm>
            <a:off x="7470648" y="1600200"/>
            <a:ext cx="1499616" cy="914400"/>
          </a:xfrm>
          <a:prstGeom prst="roundRect">
            <a:avLst/>
          </a:prstGeom>
          <a:solidFill>
            <a:srgbClr val="FFFFFF"/>
          </a:solidFill>
          <a:ln w="12700">
            <a:solidFill>
              <a:srgbClr val="2068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58" name="Rounded Rectangle 17430"/>
          <p:cNvSpPr/>
          <p:nvPr/>
        </p:nvSpPr>
        <p:spPr>
          <a:xfrm>
            <a:off x="9189719" y="1600200"/>
            <a:ext cx="1499616" cy="914400"/>
          </a:xfrm>
          <a:prstGeom prst="roundRect">
            <a:avLst/>
          </a:prstGeom>
          <a:solidFill>
            <a:srgbClr val="FFFFFF"/>
          </a:solidFill>
          <a:ln w="12700">
            <a:solidFill>
              <a:srgbClr val="2068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32" name="Rounded Rectangle 17431"/>
          <p:cNvSpPr/>
          <p:nvPr/>
        </p:nvSpPr>
        <p:spPr>
          <a:xfrm>
            <a:off x="7470648" y="1600200"/>
            <a:ext cx="1499616" cy="265176"/>
          </a:xfrm>
          <a:prstGeom prst="roundRect">
            <a:avLst/>
          </a:prstGeom>
          <a:solidFill>
            <a:srgbClr val="2068AA"/>
          </a:solidFill>
          <a:ln w="12700">
            <a:solidFill>
              <a:srgbClr val="2068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59" name="Rounded Rectangle 17431"/>
          <p:cNvSpPr/>
          <p:nvPr/>
        </p:nvSpPr>
        <p:spPr>
          <a:xfrm>
            <a:off x="9189719" y="1600200"/>
            <a:ext cx="1499616" cy="265176"/>
          </a:xfrm>
          <a:prstGeom prst="roundRect">
            <a:avLst/>
          </a:prstGeom>
          <a:solidFill>
            <a:srgbClr val="D2742D"/>
          </a:solidFill>
          <a:ln w="12700">
            <a:solidFill>
              <a:srgbClr val="2068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33" name="TextBox 17432"/>
          <p:cNvSpPr txBox="1"/>
          <p:nvPr/>
        </p:nvSpPr>
        <p:spPr>
          <a:xfrm>
            <a:off x="7516368" y="1627632"/>
            <a:ext cx="1408175" cy="210312"/>
          </a:xfrm>
          <a:prstGeom prst="rect">
            <a:avLst/>
          </a:prstGeom>
          <a:noFill/>
        </p:spPr>
        <p:txBody>
          <a:bodyPr wrap="square" lIns="38100" tIns="19050" rIns="38100" bIns="19050" anchor="ctr">
            <a:spAutoFit/>
          </a:bodyPr>
          <a:lstStyle/>
          <a:p>
            <a:pPr algn="l">
              <a:lnSpc>
                <a:spcPct val="100000"/>
              </a:lnSpc>
              <a:spcBef>
                <a:spcPts val="0"/>
              </a:spcBef>
              <a:spcAft>
                <a:spcPts val="0"/>
              </a:spcAft>
              <a:defRPr sz="1120" b="1">
                <a:solidFill>
                  <a:srgbClr val="FFFFFF"/>
                </a:solidFill>
              </a:defRPr>
            </a:pPr>
            <a:r>
              <a:rPr sz="1180" b="1" i="0">
                <a:solidFill>
                  <a:srgbClr val="FFFFFF"/>
                </a:solidFill>
                <a:latin typeface="Aptos"/>
              </a:rPr>
              <a:t>CALIBRATE</a:t>
            </a:r>
          </a:p>
        </p:txBody>
      </p:sp>
      <p:sp>
        <p:nvSpPr>
          <p:cNvPr id="17460" name="TextBox 17432"/>
          <p:cNvSpPr txBox="1"/>
          <p:nvPr/>
        </p:nvSpPr>
        <p:spPr>
          <a:xfrm>
            <a:off x="9235440" y="1627632"/>
            <a:ext cx="1408175" cy="210312"/>
          </a:xfrm>
          <a:prstGeom prst="rect">
            <a:avLst/>
          </a:prstGeom>
          <a:noFill/>
        </p:spPr>
        <p:txBody>
          <a:bodyPr wrap="square" lIns="38100" tIns="19050" rIns="38100" bIns="19050" anchor="ctr">
            <a:spAutoFit/>
          </a:bodyPr>
          <a:lstStyle/>
          <a:p>
            <a:pPr algn="l">
              <a:lnSpc>
                <a:spcPct val="100000"/>
              </a:lnSpc>
              <a:spcBef>
                <a:spcPts val="0"/>
              </a:spcBef>
              <a:spcAft>
                <a:spcPts val="0"/>
              </a:spcAft>
              <a:defRPr sz="1120" b="1">
                <a:solidFill>
                  <a:srgbClr val="FFFFFF"/>
                </a:solidFill>
              </a:defRPr>
            </a:pPr>
            <a:r>
              <a:rPr sz="1180" b="1" i="0">
                <a:solidFill>
                  <a:srgbClr val="FFFFFF"/>
                </a:solidFill>
                <a:latin typeface="Aptos"/>
              </a:rPr>
              <a:t>VERIFY</a:t>
            </a:r>
          </a:p>
        </p:txBody>
      </p:sp>
      <p:sp>
        <p:nvSpPr>
          <p:cNvPr id="17434" name="TextBox 17433"/>
          <p:cNvSpPr txBox="1"/>
          <p:nvPr/>
        </p:nvSpPr>
        <p:spPr>
          <a:xfrm>
            <a:off x="7516368" y="1901952"/>
            <a:ext cx="1408175" cy="566928"/>
          </a:xfrm>
          <a:prstGeom prst="rect">
            <a:avLst/>
          </a:prstGeom>
          <a:noFill/>
        </p:spPr>
        <p:txBody>
          <a:bodyPr wrap="square" lIns="38100" tIns="19050" rIns="38100" bIns="19050" anchor="ctr">
            <a:spAutoFit/>
          </a:bodyPr>
          <a:lstStyle/>
          <a:p>
            <a:pPr algn="ctr">
              <a:lnSpc>
                <a:spcPct val="100000"/>
              </a:lnSpc>
              <a:spcBef>
                <a:spcPts val="0"/>
              </a:spcBef>
              <a:spcAft>
                <a:spcPts val="0"/>
              </a:spcAft>
              <a:defRPr sz="919" b="1">
                <a:solidFill>
                  <a:srgbClr val="232B36"/>
                </a:solidFill>
              </a:defRPr>
            </a:pPr>
            <a:r>
              <a:rPr sz="1000" b="1" i="0">
                <a:solidFill>
                  <a:srgbClr val="24313F"/>
                </a:solidFill>
                <a:latin typeface="Aptos"/>
              </a:rPr>
              <a:t>CartoDEM / SRTM prior → metres (Prompt2DEM)</a:t>
            </a:r>
          </a:p>
        </p:txBody>
      </p:sp>
      <p:sp>
        <p:nvSpPr>
          <p:cNvPr id="17461" name="TextBox 17433"/>
          <p:cNvSpPr txBox="1"/>
          <p:nvPr/>
        </p:nvSpPr>
        <p:spPr>
          <a:xfrm>
            <a:off x="9235440" y="1901952"/>
            <a:ext cx="1408175" cy="566928"/>
          </a:xfrm>
          <a:prstGeom prst="rect">
            <a:avLst/>
          </a:prstGeom>
          <a:noFill/>
        </p:spPr>
        <p:txBody>
          <a:bodyPr wrap="square" lIns="38100" tIns="19050" rIns="38100" bIns="19050" anchor="ctr">
            <a:spAutoFit/>
          </a:bodyPr>
          <a:lstStyle/>
          <a:p>
            <a:pPr algn="ctr">
              <a:lnSpc>
                <a:spcPct val="100000"/>
              </a:lnSpc>
              <a:spcBef>
                <a:spcPts val="0"/>
              </a:spcBef>
              <a:spcAft>
                <a:spcPts val="0"/>
              </a:spcAft>
              <a:defRPr sz="919" b="1">
                <a:solidFill>
                  <a:srgbClr val="232B36"/>
                </a:solidFill>
              </a:defRPr>
            </a:pPr>
            <a:r>
              <a:rPr sz="1000" b="1" i="0">
                <a:solidFill>
                  <a:srgbClr val="24313F"/>
                </a:solidFill>
                <a:latin typeface="Aptos"/>
              </a:rPr>
              <a:t>ICESat-2 correction + error report</a:t>
            </a:r>
          </a:p>
        </p:txBody>
      </p:sp>
      <p:sp>
        <p:nvSpPr>
          <p:cNvPr id="17435" name="Rounded Rectangle 17434"/>
          <p:cNvSpPr/>
          <p:nvPr/>
        </p:nvSpPr>
        <p:spPr>
          <a:xfrm>
            <a:off x="10927080" y="1600200"/>
            <a:ext cx="621792" cy="914400"/>
          </a:xfrm>
          <a:prstGeom prst="roundRect">
            <a:avLst/>
          </a:prstGeom>
          <a:solidFill>
            <a:srgbClr val="FFFFFF"/>
          </a:solidFill>
          <a:ln w="12700">
            <a:solidFill>
              <a:srgbClr val="D2742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36" name="TextBox 17435"/>
          <p:cNvSpPr txBox="1"/>
          <p:nvPr/>
        </p:nvSpPr>
        <p:spPr>
          <a:xfrm>
            <a:off x="10954512" y="1874519"/>
            <a:ext cx="566928" cy="365760"/>
          </a:xfrm>
          <a:prstGeom prst="rect">
            <a:avLst/>
          </a:prstGeom>
          <a:noFill/>
        </p:spPr>
        <p:txBody>
          <a:bodyPr wrap="square" lIns="38100" tIns="19050" rIns="38100" bIns="19050" anchor="ctr">
            <a:spAutoFit/>
          </a:bodyPr>
          <a:lstStyle/>
          <a:p>
            <a:pPr algn="ctr">
              <a:lnSpc>
                <a:spcPct val="100000"/>
              </a:lnSpc>
              <a:spcBef>
                <a:spcPts val="0"/>
              </a:spcBef>
              <a:spcAft>
                <a:spcPts val="0"/>
              </a:spcAft>
              <a:defRPr sz="919" b="1">
                <a:solidFill>
                  <a:srgbClr val="D2742D"/>
                </a:solidFill>
              </a:defRPr>
            </a:pPr>
            <a:r>
              <a:rPr sz="950" b="1">
                <a:solidFill>
                  <a:srgbClr val="17273A"/>
                </a:solidFill>
                <a:latin typeface="Aptos"/>
              </a:rPr>
              <a:t>OUT
DSM + 3D</a:t>
            </a:r>
          </a:p>
        </p:txBody>
      </p:sp>
      <p:sp>
        <p:nvSpPr>
          <p:cNvPr id="17437" name="Right Arrow 17436"/>
          <p:cNvSpPr/>
          <p:nvPr/>
        </p:nvSpPr>
        <p:spPr>
          <a:xfrm>
            <a:off x="10698480" y="1929384"/>
            <a:ext cx="219456" cy="237744"/>
          </a:xfrm>
          <a:prstGeom prst="rightArrow">
            <a:avLst/>
          </a:prstGeom>
          <a:solidFill>
            <a:srgbClr val="D274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38" name="Rounded Rectangle 17437"/>
          <p:cNvSpPr/>
          <p:nvPr/>
        </p:nvSpPr>
        <p:spPr>
          <a:xfrm>
            <a:off x="594360" y="2633472"/>
            <a:ext cx="3566160" cy="1389888"/>
          </a:xfrm>
          <a:prstGeom prst="roundRect">
            <a:avLst/>
          </a:prstGeom>
          <a:solidFill>
            <a:srgbClr val="FFFFFF"/>
          </a:solidFill>
          <a:ln w="12700">
            <a:solidFill>
              <a:srgbClr val="2068AA"/>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39" name="Rounded Rectangle 17438"/>
          <p:cNvSpPr/>
          <p:nvPr/>
        </p:nvSpPr>
        <p:spPr>
          <a:xfrm>
            <a:off x="594360" y="2633472"/>
            <a:ext cx="3566160" cy="301752"/>
          </a:xfrm>
          <a:prstGeom prst="roundRect">
            <a:avLst/>
          </a:prstGeom>
          <a:solidFill>
            <a:srgbClr val="2068AA"/>
          </a:solidFill>
          <a:ln w="12700">
            <a:solidFill>
              <a:srgbClr val="2068AA"/>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40" name="TextBox 17439"/>
          <p:cNvSpPr txBox="1"/>
          <p:nvPr/>
        </p:nvSpPr>
        <p:spPr>
          <a:xfrm>
            <a:off x="685800" y="2660904"/>
            <a:ext cx="3383279" cy="246888"/>
          </a:xfrm>
          <a:prstGeom prst="rect">
            <a:avLst/>
          </a:prstGeom>
          <a:noFill/>
        </p:spPr>
        <p:txBody>
          <a:bodyPr wrap="square" lIns="38100" tIns="19050" rIns="38100" bIns="19050" anchor="ctr">
            <a:spAutoFit/>
          </a:bodyPr>
          <a:lstStyle/>
          <a:p>
            <a:pPr algn="l">
              <a:lnSpc>
                <a:spcPct val="100000"/>
              </a:lnSpc>
              <a:spcBef>
                <a:spcPts val="0"/>
              </a:spcBef>
              <a:spcAft>
                <a:spcPts val="0"/>
              </a:spcAft>
              <a:defRPr sz="1120" b="1">
                <a:solidFill>
                  <a:srgbClr val="FFFFFF"/>
                </a:solidFill>
              </a:defRPr>
            </a:pPr>
            <a:r>
              <a:rPr sz="1180" b="1" i="0">
                <a:solidFill>
                  <a:srgbClr val="FFFFFF"/>
                </a:solidFill>
                <a:latin typeface="Aptos"/>
              </a:rPr>
              <a:t>AI / ML</a:t>
            </a:r>
          </a:p>
        </p:txBody>
      </p:sp>
      <p:sp>
        <p:nvSpPr>
          <p:cNvPr id="17441" name="TextBox 17440"/>
          <p:cNvSpPr txBox="1"/>
          <p:nvPr/>
        </p:nvSpPr>
        <p:spPr>
          <a:xfrm>
            <a:off x="704088" y="2990088"/>
            <a:ext cx="3346704" cy="1005840"/>
          </a:xfrm>
          <a:prstGeom prst="rect">
            <a:avLst/>
          </a:prstGeom>
          <a:noFill/>
        </p:spPr>
        <p:txBody>
          <a:bodyPr wrap="square" lIns="38100" tIns="19050" rIns="38100" bIns="19050" anchor="t">
            <a:noAutofit/>
          </a:bodyPr>
          <a:lstStyle/>
          <a:p>
            <a:pPr algn="l">
              <a:lnSpc>
                <a:spcPct val="105000"/>
              </a:lnSpc>
              <a:spcBef>
                <a:spcPts val="0"/>
              </a:spcBef>
              <a:spcAft>
                <a:spcPts val="150"/>
              </a:spcAft>
              <a:defRPr sz="1030">
                <a:solidFill>
                  <a:srgbClr val="232B36"/>
                </a:solidFill>
              </a:defRPr>
            </a:pPr>
            <a:r>
              <a:rPr sz="1000"/>
              <a:t>• RS3DAda (NeurIPS 2024, MIT): released weights</a:t>
            </a:r>
          </a:p>
          <a:p>
            <a:pPr algn="l">
              <a:lnSpc>
                <a:spcPct val="105000"/>
              </a:lnSpc>
              <a:spcBef>
                <a:spcPts val="0"/>
              </a:spcBef>
              <a:spcAft>
                <a:spcPts val="150"/>
              </a:spcAft>
              <a:defRPr sz="1030">
                <a:solidFill>
                  <a:srgbClr val="232B36"/>
                </a:solidFill>
              </a:defRPr>
            </a:pPr>
            <a:r>
              <a:rPr sz="1000"/>
              <a:t>• Challenger: DINOv3-SAT + DPT (CHMv2 init), GAMUS-tuned</a:t>
            </a:r>
          </a:p>
          <a:p>
            <a:pPr algn="l">
              <a:lnSpc>
                <a:spcPct val="105000"/>
              </a:lnSpc>
              <a:spcBef>
                <a:spcPts val="0"/>
              </a:spcBef>
              <a:spcAft>
                <a:spcPts val="150"/>
              </a:spcAft>
              <a:defRPr sz="1030">
                <a:solidFill>
                  <a:srgbClr val="232B36"/>
                </a:solidFill>
              </a:defRPr>
            </a:pPr>
            <a:r>
              <a:rPr sz="1000"/>
              <a:t>• Keep the winner on the GAMUS test set (MAE / RMSE)</a:t>
            </a:r>
          </a:p>
          <a:p>
            <a:pPr algn="l">
              <a:lnSpc>
                <a:spcPct val="105000"/>
              </a:lnSpc>
              <a:spcBef>
                <a:spcPts val="0"/>
              </a:spcBef>
              <a:spcAft>
                <a:spcPts val="150"/>
              </a:spcAft>
              <a:defRPr sz="1030">
                <a:solidFill>
                  <a:srgbClr val="232B36"/>
                </a:solidFill>
              </a:defRPr>
            </a:pPr>
            <a:r>
              <a:rPr sz="1000"/>
              <a:t>• TTA → uncertainty map · Gaussian tile blending</a:t>
            </a:r>
          </a:p>
          <a:p>
            <a:pPr algn="l">
              <a:lnSpc>
                <a:spcPct val="105000"/>
              </a:lnSpc>
              <a:spcBef>
                <a:spcPts val="0"/>
              </a:spcBef>
              <a:spcAft>
                <a:spcPts val="150"/>
              </a:spcAft>
              <a:defRPr sz="1030">
                <a:solidFill>
                  <a:srgbClr val="232B36"/>
                </a:solidFill>
              </a:defRPr>
            </a:pPr>
            <a:r>
              <a:rPr sz="1000"/>
              <a:t>• Distilled small model → ONNX Runtime on CPU</a:t>
            </a:r>
          </a:p>
        </p:txBody>
      </p:sp>
      <p:sp>
        <p:nvSpPr>
          <p:cNvPr id="17442" name="Rounded Rectangle 17441"/>
          <p:cNvSpPr/>
          <p:nvPr/>
        </p:nvSpPr>
        <p:spPr>
          <a:xfrm>
            <a:off x="4407408" y="2633472"/>
            <a:ext cx="3566160" cy="1389888"/>
          </a:xfrm>
          <a:prstGeom prst="roundRect">
            <a:avLst/>
          </a:prstGeom>
          <a:solidFill>
            <a:srgbClr val="FFFFFF"/>
          </a:solidFill>
          <a:ln w="12700">
            <a:solidFill>
              <a:srgbClr val="228989"/>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43" name="Rounded Rectangle 17442"/>
          <p:cNvSpPr/>
          <p:nvPr/>
        </p:nvSpPr>
        <p:spPr>
          <a:xfrm>
            <a:off x="4407408" y="2633472"/>
            <a:ext cx="3566160" cy="301752"/>
          </a:xfrm>
          <a:prstGeom prst="roundRect">
            <a:avLst/>
          </a:prstGeom>
          <a:solidFill>
            <a:srgbClr val="228989"/>
          </a:solidFill>
          <a:ln w="12700">
            <a:solidFill>
              <a:srgbClr val="228989"/>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44" name="TextBox 17443"/>
          <p:cNvSpPr txBox="1"/>
          <p:nvPr/>
        </p:nvSpPr>
        <p:spPr>
          <a:xfrm>
            <a:off x="4498848" y="2660904"/>
            <a:ext cx="3383279" cy="246888"/>
          </a:xfrm>
          <a:prstGeom prst="rect">
            <a:avLst/>
          </a:prstGeom>
          <a:noFill/>
        </p:spPr>
        <p:txBody>
          <a:bodyPr wrap="square" lIns="38100" tIns="19050" rIns="38100" bIns="19050" anchor="ctr">
            <a:spAutoFit/>
          </a:bodyPr>
          <a:lstStyle/>
          <a:p>
            <a:pPr algn="l">
              <a:lnSpc>
                <a:spcPct val="100000"/>
              </a:lnSpc>
              <a:spcBef>
                <a:spcPts val="0"/>
              </a:spcBef>
              <a:spcAft>
                <a:spcPts val="0"/>
              </a:spcAft>
              <a:defRPr sz="1120" b="1">
                <a:solidFill>
                  <a:srgbClr val="FFFFFF"/>
                </a:solidFill>
              </a:defRPr>
            </a:pPr>
            <a:r>
              <a:rPr sz="1180" b="1" i="0">
                <a:solidFill>
                  <a:srgbClr val="FFFFFF"/>
                </a:solidFill>
                <a:latin typeface="Aptos"/>
              </a:rPr>
              <a:t>GEOSPATIAL</a:t>
            </a:r>
          </a:p>
        </p:txBody>
      </p:sp>
      <p:sp>
        <p:nvSpPr>
          <p:cNvPr id="17445" name="TextBox 17444"/>
          <p:cNvSpPr txBox="1"/>
          <p:nvPr/>
        </p:nvSpPr>
        <p:spPr>
          <a:xfrm>
            <a:off x="4517136" y="2990088"/>
            <a:ext cx="3346704" cy="1005840"/>
          </a:xfrm>
          <a:prstGeom prst="rect">
            <a:avLst/>
          </a:prstGeom>
          <a:noFill/>
        </p:spPr>
        <p:txBody>
          <a:bodyPr wrap="square" lIns="38100" tIns="19050" rIns="38100" bIns="19050" anchor="t">
            <a:noAutofit/>
          </a:bodyPr>
          <a:lstStyle/>
          <a:p>
            <a:pPr algn="l">
              <a:lnSpc>
                <a:spcPct val="105000"/>
              </a:lnSpc>
              <a:spcBef>
                <a:spcPts val="0"/>
              </a:spcBef>
              <a:spcAft>
                <a:spcPts val="150"/>
              </a:spcAft>
              <a:defRPr sz="1030">
                <a:solidFill>
                  <a:srgbClr val="232B36"/>
                </a:solidFill>
              </a:defRPr>
            </a:pPr>
            <a:r>
              <a:rPr sz="1000"/>
              <a:t>• GDAL · Rasterio · PyProj; GeoTIFF float32 in / out</a:t>
            </a:r>
          </a:p>
          <a:p>
            <a:pPr algn="l">
              <a:lnSpc>
                <a:spcPct val="105000"/>
              </a:lnSpc>
              <a:spcBef>
                <a:spcPts val="0"/>
              </a:spcBef>
              <a:spcAft>
                <a:spcPts val="150"/>
              </a:spcAft>
              <a:defRPr sz="1030">
                <a:solidFill>
                  <a:srgbClr val="232B36"/>
                </a:solidFill>
              </a:defRPr>
            </a:pPr>
            <a:r>
              <a:rPr sz="1000"/>
              <a:t>• DSM = terrain (CartoDEM / SRTM / GLO-30) + height</a:t>
            </a:r>
          </a:p>
          <a:p>
            <a:pPr algn="l">
              <a:lnSpc>
                <a:spcPct val="105000"/>
              </a:lnSpc>
              <a:spcBef>
                <a:spcPts val="0"/>
              </a:spcBef>
              <a:spcAft>
                <a:spcPts val="150"/>
              </a:spcAft>
              <a:defRPr sz="1030">
                <a:solidFill>
                  <a:srgbClr val="232B36"/>
                </a:solidFill>
              </a:defRPr>
            </a:pPr>
            <a:r>
              <a:rPr sz="1000"/>
              <a:t>• Prompt2DEM (2025): 30 m DEM + RGB → 30 cm heights</a:t>
            </a:r>
          </a:p>
          <a:p>
            <a:pPr algn="l">
              <a:lnSpc>
                <a:spcPct val="105000"/>
              </a:lnSpc>
              <a:spcBef>
                <a:spcPts val="0"/>
              </a:spcBef>
              <a:spcAft>
                <a:spcPts val="150"/>
              </a:spcAft>
              <a:defRPr sz="1030">
                <a:solidFill>
                  <a:srgbClr val="232B36"/>
                </a:solidFill>
              </a:defRPr>
            </a:pPr>
            <a:r>
              <a:rPr sz="1000"/>
              <a:t>• ICESat-2 ATL03 / ATL08: correct bias + report RMSE</a:t>
            </a:r>
          </a:p>
          <a:p>
            <a:pPr algn="l">
              <a:lnSpc>
                <a:spcPct val="105000"/>
              </a:lnSpc>
              <a:spcBef>
                <a:spcPts val="0"/>
              </a:spcBef>
              <a:spcAft>
                <a:spcPts val="150"/>
              </a:spcAft>
              <a:defRPr sz="1030">
                <a:solidFill>
                  <a:srgbClr val="232B36"/>
                </a:solidFill>
              </a:defRPr>
            </a:pPr>
            <a:r>
              <a:rPr sz="1000"/>
              <a:t>• One vertical datum (ICESat-2 is ellipsoidal)</a:t>
            </a:r>
          </a:p>
        </p:txBody>
      </p:sp>
      <p:sp>
        <p:nvSpPr>
          <p:cNvPr id="17446" name="Rounded Rectangle 17445"/>
          <p:cNvSpPr/>
          <p:nvPr/>
        </p:nvSpPr>
        <p:spPr>
          <a:xfrm>
            <a:off x="8220456" y="2633472"/>
            <a:ext cx="3328416" cy="1389888"/>
          </a:xfrm>
          <a:prstGeom prst="roundRect">
            <a:avLst/>
          </a:prstGeom>
          <a:solidFill>
            <a:srgbClr val="FFFFFF"/>
          </a:solidFill>
          <a:ln w="12700">
            <a:solidFill>
              <a:srgbClr val="45885C"/>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47" name="Rounded Rectangle 17446"/>
          <p:cNvSpPr/>
          <p:nvPr/>
        </p:nvSpPr>
        <p:spPr>
          <a:xfrm>
            <a:off x="8220456" y="2633472"/>
            <a:ext cx="3328416" cy="301752"/>
          </a:xfrm>
          <a:prstGeom prst="roundRect">
            <a:avLst/>
          </a:prstGeom>
          <a:solidFill>
            <a:srgbClr val="45885C"/>
          </a:solidFill>
          <a:ln w="12700">
            <a:solidFill>
              <a:srgbClr val="45885C"/>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48" name="TextBox 17447"/>
          <p:cNvSpPr txBox="1"/>
          <p:nvPr/>
        </p:nvSpPr>
        <p:spPr>
          <a:xfrm>
            <a:off x="8311896" y="2660904"/>
            <a:ext cx="3145536" cy="246888"/>
          </a:xfrm>
          <a:prstGeom prst="rect">
            <a:avLst/>
          </a:prstGeom>
          <a:noFill/>
        </p:spPr>
        <p:txBody>
          <a:bodyPr wrap="square" lIns="38100" tIns="19050" rIns="38100" bIns="19050" anchor="ctr">
            <a:spAutoFit/>
          </a:bodyPr>
          <a:lstStyle/>
          <a:p>
            <a:pPr algn="l">
              <a:lnSpc>
                <a:spcPct val="100000"/>
              </a:lnSpc>
              <a:spcBef>
                <a:spcPts val="0"/>
              </a:spcBef>
              <a:spcAft>
                <a:spcPts val="0"/>
              </a:spcAft>
              <a:defRPr sz="1120" b="1">
                <a:solidFill>
                  <a:srgbClr val="FFFFFF"/>
                </a:solidFill>
              </a:defRPr>
            </a:pPr>
            <a:r>
              <a:rPr sz="1180" b="1" i="0">
                <a:solidFill>
                  <a:srgbClr val="FFFFFF"/>
                </a:solidFill>
                <a:latin typeface="Aptos"/>
              </a:rPr>
              <a:t>APPLICATION &amp; 3D VIEWER</a:t>
            </a:r>
          </a:p>
        </p:txBody>
      </p:sp>
      <p:sp>
        <p:nvSpPr>
          <p:cNvPr id="17449" name="TextBox 17448"/>
          <p:cNvSpPr txBox="1"/>
          <p:nvPr/>
        </p:nvSpPr>
        <p:spPr>
          <a:xfrm>
            <a:off x="8330183" y="2990088"/>
            <a:ext cx="3108960" cy="1005840"/>
          </a:xfrm>
          <a:prstGeom prst="rect">
            <a:avLst/>
          </a:prstGeom>
          <a:noFill/>
        </p:spPr>
        <p:txBody>
          <a:bodyPr wrap="square" lIns="38100" tIns="19050" rIns="38100" bIns="19050" anchor="t">
            <a:noAutofit/>
          </a:bodyPr>
          <a:lstStyle/>
          <a:p>
            <a:pPr algn="l">
              <a:lnSpc>
                <a:spcPct val="105000"/>
              </a:lnSpc>
              <a:spcBef>
                <a:spcPts val="0"/>
              </a:spcBef>
              <a:spcAft>
                <a:spcPts val="150"/>
              </a:spcAft>
              <a:defRPr sz="1030">
                <a:solidFill>
                  <a:srgbClr val="232B36"/>
                </a:solidFill>
              </a:defRPr>
            </a:pPr>
            <a:r>
              <a:rPr sz="1000"/>
              <a:t>• React + Three.js viewer; GLB mesh + terrain tiles</a:t>
            </a:r>
          </a:p>
          <a:p>
            <a:pPr algn="l">
              <a:lnSpc>
                <a:spcPct val="105000"/>
              </a:lnSpc>
              <a:spcBef>
                <a:spcPts val="0"/>
              </a:spcBef>
              <a:spcAft>
                <a:spcPts val="150"/>
              </a:spcAft>
              <a:defRPr sz="1030">
                <a:solidFill>
                  <a:srgbClr val="232B36"/>
                </a:solidFill>
              </a:defRPr>
            </a:pPr>
            <a:r>
              <a:rPr sz="1000"/>
              <a:t>• Free-fly (WASD), draw-a-path auto-fly, MP4 export</a:t>
            </a:r>
          </a:p>
          <a:p>
            <a:pPr algn="l">
              <a:lnSpc>
                <a:spcPct val="105000"/>
              </a:lnSpc>
              <a:spcBef>
                <a:spcPts val="0"/>
              </a:spcBef>
              <a:spcAft>
                <a:spcPts val="150"/>
              </a:spcAft>
              <a:defRPr sz="1030">
                <a:solidFill>
                  <a:srgbClr val="232B36"/>
                </a:solidFill>
              </a:defRPr>
            </a:pPr>
            <a:r>
              <a:rPr sz="1000"/>
              <a:t>• Street mode: Sat3DGen (ICLR 2026) street mesh</a:t>
            </a:r>
          </a:p>
          <a:p>
            <a:pPr algn="l">
              <a:lnSpc>
                <a:spcPct val="105000"/>
              </a:lnSpc>
              <a:spcBef>
                <a:spcPts val="0"/>
              </a:spcBef>
              <a:spcAft>
                <a:spcPts val="150"/>
              </a:spcAft>
              <a:defRPr sz="1030">
                <a:solidFill>
                  <a:srgbClr val="232B36"/>
                </a:solidFill>
              </a:defRPr>
            </a:pPr>
            <a:r>
              <a:rPr sz="1000"/>
              <a:t>• Click-to-measure: height ± uncertainty anywhere</a:t>
            </a:r>
          </a:p>
          <a:p>
            <a:pPr algn="l">
              <a:lnSpc>
                <a:spcPct val="105000"/>
              </a:lnSpc>
              <a:spcBef>
                <a:spcPts val="0"/>
              </a:spcBef>
              <a:spcAft>
                <a:spcPts val="150"/>
              </a:spcAft>
              <a:defRPr sz="1030">
                <a:solidFill>
                  <a:srgbClr val="232B36"/>
                </a:solidFill>
              </a:defRPr>
            </a:pPr>
            <a:r>
              <a:rPr sz="1000"/>
              <a:t>• FastAPI + CLI; Tauri desktop app, fully offline</a:t>
            </a:r>
          </a:p>
        </p:txBody>
      </p:sp>
      <p:sp>
        <p:nvSpPr>
          <p:cNvPr id="17450" name="TextBox 17449"/>
          <p:cNvSpPr txBox="1"/>
          <p:nvPr/>
        </p:nvSpPr>
        <p:spPr>
          <a:xfrm>
            <a:off x="731520" y="5870448"/>
            <a:ext cx="10835640" cy="292608"/>
          </a:xfrm>
          <a:prstGeom prst="rect">
            <a:avLst/>
          </a:prstGeom>
          <a:noFill/>
        </p:spPr>
        <p:txBody>
          <a:bodyPr wrap="square" lIns="38100" tIns="19050" rIns="38100" bIns="19050" anchor="ctr">
            <a:spAutoFit/>
          </a:bodyPr>
          <a:lstStyle/>
          <a:p>
            <a:pPr algn="ctr">
              <a:lnSpc>
                <a:spcPct val="100000"/>
              </a:lnSpc>
              <a:spcBef>
                <a:spcPts val="0"/>
              </a:spcBef>
              <a:spcAft>
                <a:spcPts val="200"/>
              </a:spcAft>
              <a:defRPr sz="1000" b="1">
                <a:solidFill>
                  <a:srgbClr val="152742"/>
                </a:solidFill>
              </a:defRPr>
            </a:pPr>
            <a:r>
              <a:rPr sz="1600" b="1"/>
              <a:t>Built for both halves of the score: DSM accuracy (RMSE / MAE by terrain) + Rendering &amp; UX (flythrough, measuring, offline)</a:t>
            </a:r>
          </a:p>
        </p:txBody>
      </p:sp>
      <p:pic>
        <p:nvPicPr>
          <p:cNvPr id="17452" name="Picture 17451" descr="terravista_icon.png"/>
          <p:cNvPicPr>
            <a:picLocks noChangeAspect="1"/>
          </p:cNvPicPr>
          <p:nvPr/>
        </p:nvPicPr>
        <p:blipFill>
          <a:blip r:embed="rId3"/>
          <a:stretch>
            <a:fillRect/>
          </a:stretch>
        </p:blipFill>
        <p:spPr>
          <a:xfrm>
            <a:off x="338328" y="356616"/>
            <a:ext cx="347472" cy="347472"/>
          </a:xfrm>
          <a:prstGeom prst="rect">
            <a:avLst/>
          </a:prstGeom>
        </p:spPr>
      </p:pic>
      <p:sp>
        <p:nvSpPr>
          <p:cNvPr id="17453" name="TextBox 17452"/>
          <p:cNvSpPr txBox="1"/>
          <p:nvPr/>
        </p:nvSpPr>
        <p:spPr>
          <a:xfrm>
            <a:off x="740664" y="352044"/>
            <a:ext cx="914400" cy="310896"/>
          </a:xfrm>
          <a:prstGeom prst="rect">
            <a:avLst/>
          </a:prstGeom>
          <a:noFill/>
        </p:spPr>
        <p:txBody>
          <a:bodyPr wrap="none" lIns="0" tIns="0" rIns="0" bIns="0">
            <a:spAutoFit/>
          </a:bodyPr>
          <a:lstStyle/>
          <a:p>
            <a:pPr algn="l">
              <a:spcBef>
                <a:spcPts val="0"/>
              </a:spcBef>
              <a:spcAft>
                <a:spcPts val="0"/>
              </a:spcAft>
            </a:pPr>
            <a:r>
              <a:rPr sz="1050" b="1" i="0">
                <a:solidFill>
                  <a:srgbClr val="17273A"/>
                </a:solidFill>
                <a:latin typeface="Aptos"/>
              </a:rPr>
              <a:t>TerraVista</a:t>
            </a:r>
          </a:p>
        </p:txBody>
      </p:sp>
      <p:pic>
        <p:nvPicPr>
          <p:cNvPr id="17454" name="Picture 17453" descr="image2.png"/>
          <p:cNvPicPr>
            <a:picLocks noChangeAspect="1"/>
          </p:cNvPicPr>
          <p:nvPr/>
        </p:nvPicPr>
        <p:blipFill>
          <a:blip r:embed="rId4"/>
          <a:stretch>
            <a:fillRect/>
          </a:stretch>
        </p:blipFill>
        <p:spPr>
          <a:xfrm>
            <a:off x="9841366" y="57097"/>
            <a:ext cx="2209120" cy="1122868"/>
          </a:xfrm>
          <a:prstGeom prst="rect">
            <a:avLst/>
          </a:prstGeom>
        </p:spPr>
      </p:pic>
      <p:graphicFrame>
        <p:nvGraphicFramePr>
          <p:cNvPr id="17463" name="Chart 17462"/>
          <p:cNvGraphicFramePr>
            <a:graphicFrameLocks noGrp="1"/>
          </p:cNvGraphicFramePr>
          <p:nvPr/>
        </p:nvGraphicFramePr>
        <p:xfrm>
          <a:off x="594360" y="4114800"/>
          <a:ext cx="3520440" cy="1408175"/>
        </p:xfrm>
        <a:graphic>
          <a:graphicData uri="http://schemas.openxmlformats.org/drawingml/2006/chart">
            <c:chart xmlns:c="http://schemas.openxmlformats.org/drawingml/2006/chart" r:id="rId5"/>
          </a:graphicData>
        </a:graphic>
      </p:graphicFrame>
      <p:sp>
        <p:nvSpPr>
          <p:cNvPr id="17464" name="TextBox 17463"/>
          <p:cNvSpPr txBox="1"/>
          <p:nvPr/>
        </p:nvSpPr>
        <p:spPr>
          <a:xfrm>
            <a:off x="594360" y="5541264"/>
            <a:ext cx="3520440" cy="292608"/>
          </a:xfrm>
          <a:prstGeom prst="rect">
            <a:avLst/>
          </a:prstGeom>
          <a:noFill/>
        </p:spPr>
        <p:txBody>
          <a:bodyPr wrap="square" lIns="0" rIns="0" tIns="0" bIns="0">
            <a:spAutoFit/>
          </a:bodyPr>
          <a:lstStyle/>
          <a:p>
            <a:r>
              <a:rPr sz="800">
                <a:solidFill>
                  <a:srgbClr val="5C6878"/>
                </a:solidFill>
                <a:latin typeface="Aptos"/>
              </a:rPr>
              <a:t>Rafaeli et al., arXiv 2507.09681 (2025) · Song et al., ISPRS J. P&amp;RS vol. 232 (2026)</a:t>
            </a:r>
          </a:p>
        </p:txBody>
      </p:sp>
      <p:graphicFrame>
        <p:nvGraphicFramePr>
          <p:cNvPr id="17465" name="Chart 17464"/>
          <p:cNvGraphicFramePr>
            <a:graphicFrameLocks noGrp="1"/>
          </p:cNvGraphicFramePr>
          <p:nvPr/>
        </p:nvGraphicFramePr>
        <p:xfrm>
          <a:off x="4315968" y="4114800"/>
          <a:ext cx="3520440" cy="1536192"/>
        </p:xfrm>
        <a:graphic>
          <a:graphicData uri="http://schemas.openxmlformats.org/drawingml/2006/chart">
            <c:chart xmlns:c="http://schemas.openxmlformats.org/drawingml/2006/chart" r:id="rId6"/>
          </a:graphicData>
        </a:graphic>
      </p:graphicFrame>
      <p:sp>
        <p:nvSpPr>
          <p:cNvPr id="17466" name="TextBox 17465"/>
          <p:cNvSpPr txBox="1"/>
          <p:nvPr/>
        </p:nvSpPr>
        <p:spPr>
          <a:xfrm>
            <a:off x="4315968" y="5669279"/>
            <a:ext cx="3520440" cy="164592"/>
          </a:xfrm>
          <a:prstGeom prst="rect">
            <a:avLst/>
          </a:prstGeom>
          <a:noFill/>
        </p:spPr>
        <p:txBody>
          <a:bodyPr wrap="square" lIns="0" rIns="0" tIns="0" bIns="0">
            <a:spAutoFit/>
          </a:bodyPr>
          <a:lstStyle/>
          <a:p>
            <a:r>
              <a:rPr sz="800">
                <a:solidFill>
                  <a:srgbClr val="5C6878"/>
                </a:solidFill>
                <a:latin typeface="Aptos"/>
              </a:rPr>
              <a:t>Sat3R, arXiv 2605.07264 (2026): DFC2019 multi-view benchmark</a:t>
            </a:r>
          </a:p>
        </p:txBody>
      </p:sp>
      <p:graphicFrame>
        <p:nvGraphicFramePr>
          <p:cNvPr id="17467" name="Chart 17466"/>
          <p:cNvGraphicFramePr>
            <a:graphicFrameLocks noGrp="1"/>
          </p:cNvGraphicFramePr>
          <p:nvPr/>
        </p:nvGraphicFramePr>
        <p:xfrm>
          <a:off x="8037575" y="4114800"/>
          <a:ext cx="3520440" cy="1536192"/>
        </p:xfrm>
        <a:graphic>
          <a:graphicData uri="http://schemas.openxmlformats.org/drawingml/2006/chart">
            <c:chart xmlns:c="http://schemas.openxmlformats.org/drawingml/2006/chart" r:id="rId7"/>
          </a:graphicData>
        </a:graphic>
      </p:graphicFrame>
      <p:sp>
        <p:nvSpPr>
          <p:cNvPr id="17468" name="TextBox 17467"/>
          <p:cNvSpPr txBox="1"/>
          <p:nvPr/>
        </p:nvSpPr>
        <p:spPr>
          <a:xfrm>
            <a:off x="8037575" y="5669279"/>
            <a:ext cx="3520440" cy="164592"/>
          </a:xfrm>
          <a:prstGeom prst="rect">
            <a:avLst/>
          </a:prstGeom>
          <a:noFill/>
        </p:spPr>
        <p:txBody>
          <a:bodyPr wrap="square" lIns="0" rIns="0" tIns="0" bIns="0">
            <a:spAutoFit/>
          </a:bodyPr>
          <a:lstStyle/>
          <a:p>
            <a:r>
              <a:rPr sz="800">
                <a:solidFill>
                  <a:srgbClr val="5C6878"/>
                </a:solidFill>
                <a:latin typeface="Aptos"/>
              </a:rPr>
              <a:t>Prompt2DEM, arXiv 2507.09681 (2025) → we report accuracy per terrain type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wrap="square" lIns="38100" tIns="19050" rIns="38100" bIns="19050" anchor="ctr"/>
          <a:lstStyle/>
          <a:p>
            <a:pPr algn="ctr" eaLnBrk="1" hangingPunct="1">
              <a:lnSpc>
                <a:spcPct val="100000"/>
              </a:lnSpc>
              <a:spcBef>
                <a:spcPts val="0"/>
              </a:spcBef>
              <a:spcAft>
                <a:spcPts val="0"/>
              </a:spcAft>
            </a:pPr>
            <a:r>
              <a:rPr lang="en-US" sz="2500" b="1" i="0" dirty="0">
                <a:solidFill>
                  <a:srgbClr val="17273A"/>
                </a:solidFill>
                <a:latin typeface="Aptos Display" panose="02020603050405020304" pitchFamily="18" charset="0"/>
                <a:ea typeface="ＭＳ Ｐゴシック" pitchFamily="1" charset="-128"/>
                <a:cs typeface="Times New Roman" panose="02020603050405020304" pitchFamily="18" charset="0"/>
              </a:rPr>
              <a:t>FEASIBILITY AND VIABILITY</a:t>
            </a:r>
          </a:p>
        </p:txBody>
      </p:sp>
      <p:sp>
        <p:nvSpPr>
          <p:cNvPr id="6" name="Slide Number Placeholder 5"/>
          <p:cNvSpPr>
            <a:spLocks noGrp="1"/>
          </p:cNvSpPr>
          <p:nvPr>
            <p:ph type="sldNum" sz="quarter" idx="12"/>
          </p:nvPr>
        </p:nvSpPr>
        <p:spPr/>
        <p:txBody>
          <a:bodyPr lIns="38100" tIns="19050" rIns="38100" bIns="19050"/>
          <a:lstStyle/>
          <a:p>
            <a:pPr marL="0" marR="0" lvl="0" indent="0" algn="r" defTabSz="457200" rtl="0" eaLnBrk="1" fontAlgn="base" latinLnBrk="0" hangingPunct="1">
              <a:lnSpc>
                <a:spcPct val="100000"/>
              </a:lnSpc>
              <a:spcBef>
                <a:spcPts val="0"/>
              </a:spcBef>
              <a:spcAft>
                <a:spcPts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17410" name="TextBox 17409"/>
          <p:cNvSpPr txBox="1"/>
          <p:nvPr/>
        </p:nvSpPr>
        <p:spPr>
          <a:xfrm>
            <a:off x="594360" y="1078992"/>
            <a:ext cx="10972800" cy="329184"/>
          </a:xfrm>
          <a:prstGeom prst="rect">
            <a:avLst/>
          </a:prstGeom>
          <a:noFill/>
        </p:spPr>
        <p:txBody>
          <a:bodyPr wrap="square" lIns="38100" tIns="19050" rIns="38100" bIns="19050" anchor="ctr">
            <a:spAutoFit/>
          </a:bodyPr>
          <a:lstStyle/>
          <a:p>
            <a:pPr algn="l">
              <a:lnSpc>
                <a:spcPct val="100000"/>
              </a:lnSpc>
              <a:spcBef>
                <a:spcPts val="0"/>
              </a:spcBef>
              <a:spcAft>
                <a:spcPts val="0"/>
              </a:spcAft>
              <a:defRPr sz="1580" b="1">
                <a:solidFill>
                  <a:srgbClr val="152742"/>
                </a:solidFill>
              </a:defRPr>
            </a:pPr>
            <a:r>
              <a:rPr sz="1900" b="1" i="0">
                <a:solidFill>
                  <a:srgbClr val="17273A"/>
                </a:solidFill>
                <a:latin typeface="Aptos"/>
              </a:rPr>
              <a:t>Built on Released Models, Free Data and Offline-Ready Software</a:t>
            </a:r>
          </a:p>
        </p:txBody>
      </p:sp>
      <p:sp>
        <p:nvSpPr>
          <p:cNvPr id="17411" name="Rounded Rectangle 17410"/>
          <p:cNvSpPr/>
          <p:nvPr/>
        </p:nvSpPr>
        <p:spPr>
          <a:xfrm>
            <a:off x="594360" y="1536192"/>
            <a:ext cx="5303520" cy="301752"/>
          </a:xfrm>
          <a:prstGeom prst="roundRect">
            <a:avLst/>
          </a:prstGeom>
          <a:solidFill>
            <a:srgbClr val="2068AA"/>
          </a:solidFill>
          <a:ln w="12700">
            <a:solidFill>
              <a:srgbClr val="2068AA"/>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12" name="TextBox 17411"/>
          <p:cNvSpPr txBox="1"/>
          <p:nvPr/>
        </p:nvSpPr>
        <p:spPr>
          <a:xfrm>
            <a:off x="685800" y="1563624"/>
            <a:ext cx="5120640" cy="246888"/>
          </a:xfrm>
          <a:prstGeom prst="rect">
            <a:avLst/>
          </a:prstGeom>
          <a:noFill/>
        </p:spPr>
        <p:txBody>
          <a:bodyPr wrap="square" lIns="38100" tIns="19050" rIns="38100" bIns="19050" anchor="ctr">
            <a:spAutoFit/>
          </a:bodyPr>
          <a:lstStyle/>
          <a:p>
            <a:pPr algn="l">
              <a:lnSpc>
                <a:spcPct val="100000"/>
              </a:lnSpc>
              <a:spcBef>
                <a:spcPts val="0"/>
              </a:spcBef>
              <a:spcAft>
                <a:spcPts val="0"/>
              </a:spcAft>
              <a:defRPr sz="1120" b="1">
                <a:solidFill>
                  <a:srgbClr val="FFFFFF"/>
                </a:solidFill>
              </a:defRPr>
            </a:pPr>
            <a:r>
              <a:rPr sz="1180" b="1" i="0">
                <a:solidFill>
                  <a:srgbClr val="FFFFFF"/>
                </a:solidFill>
                <a:latin typeface="Aptos"/>
              </a:rPr>
              <a:t>FEASIBILITY</a:t>
            </a:r>
          </a:p>
        </p:txBody>
      </p:sp>
      <p:sp>
        <p:nvSpPr>
          <p:cNvPr id="17413" name="Rounded Rectangle 17412"/>
          <p:cNvSpPr/>
          <p:nvPr/>
        </p:nvSpPr>
        <p:spPr>
          <a:xfrm>
            <a:off x="594360" y="1874519"/>
            <a:ext cx="5303520" cy="1353312"/>
          </a:xfrm>
          <a:prstGeom prst="roundRect">
            <a:avLst/>
          </a:prstGeom>
          <a:solidFill>
            <a:srgbClr val="F4F7FB"/>
          </a:solidFill>
          <a:ln w="12700">
            <a:solidFill>
              <a:srgbClr val="D5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14" name="TextBox 17413"/>
          <p:cNvSpPr txBox="1"/>
          <p:nvPr/>
        </p:nvSpPr>
        <p:spPr>
          <a:xfrm>
            <a:off x="795528" y="2112264"/>
            <a:ext cx="4919472" cy="960120"/>
          </a:xfrm>
          <a:prstGeom prst="rect">
            <a:avLst/>
          </a:prstGeom>
          <a:noFill/>
        </p:spPr>
        <p:txBody>
          <a:bodyPr wrap="square" lIns="38100" tIns="19050" rIns="38100" bIns="19050" anchor="ctr">
            <a:spAutoFit/>
          </a:bodyPr>
          <a:lstStyle/>
          <a:p>
            <a:pPr algn="l">
              <a:lnSpc>
                <a:spcPct val="108000"/>
              </a:lnSpc>
              <a:spcBef>
                <a:spcPts val="0"/>
              </a:spcBef>
              <a:spcAft>
                <a:spcPts val="150"/>
              </a:spcAft>
              <a:defRPr sz="1045">
                <a:solidFill>
                  <a:srgbClr val="232B36"/>
                </a:solidFill>
              </a:defRPr>
            </a:pPr>
            <a:r>
              <a:rPr sz="1090"/>
              <a:t>• Working baseline on day 1: RS3DAda weights + inference script are public (MIT)</a:t>
            </a:r>
          </a:p>
          <a:p>
            <a:pPr algn="l">
              <a:lnSpc>
                <a:spcPct val="108000"/>
              </a:lnSpc>
              <a:spcBef>
                <a:spcPts val="0"/>
              </a:spcBef>
              <a:spcAft>
                <a:spcPts val="150"/>
              </a:spcAft>
              <a:defRPr sz="1045">
                <a:solidFill>
                  <a:srgbClr val="232B36"/>
                </a:solidFill>
              </a:defRPr>
            </a:pPr>
            <a:r>
              <a:rPr sz="1090"/>
              <a:t>• Training data ready: GAMUS (PS-recommended), DFC2019/US3D, SynRS3D (69k synthetic images)</a:t>
            </a:r>
          </a:p>
          <a:p>
            <a:pPr algn="l">
              <a:lnSpc>
                <a:spcPct val="108000"/>
              </a:lnSpc>
              <a:spcBef>
                <a:spcPts val="0"/>
              </a:spcBef>
              <a:spcAft>
                <a:spcPts val="150"/>
              </a:spcAft>
              <a:defRPr sz="1045">
                <a:solidFill>
                  <a:srgbClr val="232B36"/>
                </a:solidFill>
              </a:defRPr>
            </a:pPr>
            <a:r>
              <a:rPr sz="1090"/>
              <a:t>• Free terrain + truth data: CartoDEM (Bhuvan), SRTM, Copernicus GLO-30, ICESat-2</a:t>
            </a:r>
          </a:p>
          <a:p>
            <a:pPr algn="l">
              <a:lnSpc>
                <a:spcPct val="108000"/>
              </a:lnSpc>
              <a:spcBef>
                <a:spcPts val="0"/>
              </a:spcBef>
              <a:spcAft>
                <a:spcPts val="150"/>
              </a:spcAft>
              <a:defRPr sz="1045">
                <a:solidFill>
                  <a:srgbClr val="232B36"/>
                </a:solidFill>
              </a:defRPr>
            </a:pPr>
            <a:r>
              <a:rPr sz="1090"/>
              <a:t>• Fine-tuning fits one cloud GPU; frozen-backbone option for low budgets</a:t>
            </a:r>
          </a:p>
        </p:txBody>
      </p:sp>
      <p:sp>
        <p:nvSpPr>
          <p:cNvPr id="17415" name="Rounded Rectangle 17414"/>
          <p:cNvSpPr/>
          <p:nvPr/>
        </p:nvSpPr>
        <p:spPr>
          <a:xfrm>
            <a:off x="6099048" y="1536192"/>
            <a:ext cx="5449824" cy="301752"/>
          </a:xfrm>
          <a:prstGeom prst="roundRect">
            <a:avLst/>
          </a:prstGeom>
          <a:solidFill>
            <a:srgbClr val="228989"/>
          </a:solidFill>
          <a:ln w="12700">
            <a:solidFill>
              <a:srgbClr val="228989"/>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16" name="TextBox 17415"/>
          <p:cNvSpPr txBox="1"/>
          <p:nvPr/>
        </p:nvSpPr>
        <p:spPr>
          <a:xfrm>
            <a:off x="6190488" y="1563624"/>
            <a:ext cx="5266944" cy="246888"/>
          </a:xfrm>
          <a:prstGeom prst="rect">
            <a:avLst/>
          </a:prstGeom>
          <a:noFill/>
        </p:spPr>
        <p:txBody>
          <a:bodyPr wrap="square" lIns="38100" tIns="19050" rIns="38100" bIns="19050" anchor="ctr">
            <a:spAutoFit/>
          </a:bodyPr>
          <a:lstStyle/>
          <a:p>
            <a:pPr algn="l">
              <a:lnSpc>
                <a:spcPct val="100000"/>
              </a:lnSpc>
              <a:spcBef>
                <a:spcPts val="0"/>
              </a:spcBef>
              <a:spcAft>
                <a:spcPts val="0"/>
              </a:spcAft>
              <a:defRPr sz="1120" b="1">
                <a:solidFill>
                  <a:srgbClr val="FFFFFF"/>
                </a:solidFill>
              </a:defRPr>
            </a:pPr>
            <a:r>
              <a:rPr sz="1180" b="1" i="0">
                <a:solidFill>
                  <a:srgbClr val="FFFFFF"/>
                </a:solidFill>
                <a:latin typeface="Aptos"/>
              </a:rPr>
              <a:t>VIABILITY</a:t>
            </a:r>
          </a:p>
        </p:txBody>
      </p:sp>
      <p:sp>
        <p:nvSpPr>
          <p:cNvPr id="17417" name="Rounded Rectangle 17416"/>
          <p:cNvSpPr/>
          <p:nvPr/>
        </p:nvSpPr>
        <p:spPr>
          <a:xfrm>
            <a:off x="6099048" y="1874519"/>
            <a:ext cx="5449824" cy="1353312"/>
          </a:xfrm>
          <a:prstGeom prst="roundRect">
            <a:avLst/>
          </a:prstGeom>
          <a:solidFill>
            <a:srgbClr val="F4F7FB"/>
          </a:solidFill>
          <a:ln w="12700">
            <a:solidFill>
              <a:srgbClr val="D5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18" name="TextBox 17417"/>
          <p:cNvSpPr txBox="1"/>
          <p:nvPr/>
        </p:nvSpPr>
        <p:spPr>
          <a:xfrm>
            <a:off x="6300216" y="2112264"/>
            <a:ext cx="5029200" cy="960120"/>
          </a:xfrm>
          <a:prstGeom prst="rect">
            <a:avLst/>
          </a:prstGeom>
          <a:noFill/>
        </p:spPr>
        <p:txBody>
          <a:bodyPr wrap="square" lIns="38100" tIns="19050" rIns="38100" bIns="19050" anchor="ctr">
            <a:spAutoFit/>
          </a:bodyPr>
          <a:lstStyle/>
          <a:p>
            <a:pPr algn="l">
              <a:lnSpc>
                <a:spcPct val="108000"/>
              </a:lnSpc>
              <a:spcBef>
                <a:spcPts val="0"/>
              </a:spcBef>
              <a:spcAft>
                <a:spcPts val="150"/>
              </a:spcAft>
              <a:defRPr sz="1045">
                <a:solidFill>
                  <a:srgbClr val="232B36"/>
                </a:solidFill>
              </a:defRPr>
            </a:pPr>
            <a:r>
              <a:rPr sz="1090"/>
              <a:t>• Modular: swap the height model without touching calibration or the viewer</a:t>
            </a:r>
          </a:p>
          <a:p>
            <a:pPr algn="l">
              <a:lnSpc>
                <a:spcPct val="108000"/>
              </a:lnSpc>
              <a:spcBef>
                <a:spcPts val="0"/>
              </a:spcBef>
              <a:spcAft>
                <a:spcPts val="150"/>
              </a:spcAft>
              <a:defRPr sz="1045">
                <a:solidFill>
                  <a:srgbClr val="232B36"/>
                </a:solidFill>
              </a:defRPr>
            </a:pPr>
            <a:r>
              <a:rPr sz="1090"/>
              <a:t>• Standard outputs (GeoTIFF DSM, GLB) open in QGIS, ArcGIS and Bhuvan workflows</a:t>
            </a:r>
          </a:p>
          <a:p>
            <a:pPr algn="l">
              <a:lnSpc>
                <a:spcPct val="108000"/>
              </a:lnSpc>
              <a:spcBef>
                <a:spcPts val="0"/>
              </a:spcBef>
              <a:spcAft>
                <a:spcPts val="150"/>
              </a:spcAft>
              <a:defRPr sz="1045">
                <a:solidFill>
                  <a:srgbClr val="232B36"/>
                </a:solidFill>
              </a:defRPr>
            </a:pPr>
            <a:r>
              <a:rPr sz="1090"/>
              <a:t>• Offline: distilled ONNX model + Tauri desktop app + bundled demo data</a:t>
            </a:r>
          </a:p>
          <a:p>
            <a:pPr algn="l">
              <a:lnSpc>
                <a:spcPct val="108000"/>
              </a:lnSpc>
              <a:spcBef>
                <a:spcPts val="0"/>
              </a:spcBef>
              <a:spcAft>
                <a:spcPts val="150"/>
              </a:spcAft>
              <a:defRPr sz="1045">
                <a:solidFill>
                  <a:srgbClr val="232B36"/>
                </a:solidFill>
              </a:defRPr>
            </a:pPr>
            <a:r>
              <a:rPr sz="1090"/>
              <a:t>• License-clean: MIT / Apache / DINOv3 license; no non-commercial weights</a:t>
            </a:r>
          </a:p>
        </p:txBody>
      </p:sp>
      <p:sp>
        <p:nvSpPr>
          <p:cNvPr id="17419" name="TextBox 17418"/>
          <p:cNvSpPr txBox="1"/>
          <p:nvPr/>
        </p:nvSpPr>
        <p:spPr>
          <a:xfrm>
            <a:off x="594360" y="3456432"/>
            <a:ext cx="4572000" cy="256032"/>
          </a:xfrm>
          <a:prstGeom prst="rect">
            <a:avLst/>
          </a:prstGeom>
          <a:noFill/>
        </p:spPr>
        <p:txBody>
          <a:bodyPr wrap="square" lIns="38100" tIns="19050" rIns="38100" bIns="19050" anchor="ctr">
            <a:spAutoFit/>
          </a:bodyPr>
          <a:lstStyle/>
          <a:p>
            <a:pPr algn="l">
              <a:lnSpc>
                <a:spcPct val="100000"/>
              </a:lnSpc>
              <a:spcBef>
                <a:spcPts val="0"/>
              </a:spcBef>
              <a:spcAft>
                <a:spcPts val="0"/>
              </a:spcAft>
              <a:defRPr sz="1200" b="1">
                <a:solidFill>
                  <a:srgbClr val="152742"/>
                </a:solidFill>
              </a:defRPr>
            </a:pPr>
            <a:r>
              <a:rPr sz="1180" b="1" i="0">
                <a:solidFill>
                  <a:srgbClr val="17273A"/>
                </a:solidFill>
                <a:latin typeface="Aptos"/>
              </a:rPr>
              <a:t>CHALLENGE → RISK → MITIGATION</a:t>
            </a:r>
          </a:p>
        </p:txBody>
      </p:sp>
      <p:sp>
        <p:nvSpPr>
          <p:cNvPr id="17420" name="Rounded Rectangle 17419"/>
          <p:cNvSpPr/>
          <p:nvPr/>
        </p:nvSpPr>
        <p:spPr>
          <a:xfrm>
            <a:off x="594360" y="3776472"/>
            <a:ext cx="1874519" cy="301752"/>
          </a:xfrm>
          <a:prstGeom prst="roundRect">
            <a:avLst/>
          </a:prstGeom>
          <a:solidFill>
            <a:srgbClr val="2068AA"/>
          </a:solidFill>
          <a:ln w="12700">
            <a:solidFill>
              <a:srgbClr val="2068AA"/>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21" name="TextBox 17420"/>
          <p:cNvSpPr txBox="1"/>
          <p:nvPr/>
        </p:nvSpPr>
        <p:spPr>
          <a:xfrm>
            <a:off x="685800" y="3803904"/>
            <a:ext cx="1746504" cy="246888"/>
          </a:xfrm>
          <a:prstGeom prst="rect">
            <a:avLst/>
          </a:prstGeom>
          <a:noFill/>
        </p:spPr>
        <p:txBody>
          <a:bodyPr wrap="square" lIns="38100" tIns="19050" rIns="38100" bIns="19050" anchor="ctr">
            <a:spAutoFit/>
          </a:bodyPr>
          <a:lstStyle/>
          <a:p>
            <a:pPr algn="l">
              <a:lnSpc>
                <a:spcPct val="100000"/>
              </a:lnSpc>
              <a:spcBef>
                <a:spcPts val="0"/>
              </a:spcBef>
              <a:spcAft>
                <a:spcPts val="0"/>
              </a:spcAft>
              <a:defRPr sz="1120" b="1">
                <a:solidFill>
                  <a:srgbClr val="FFFFFF"/>
                </a:solidFill>
              </a:defRPr>
            </a:pPr>
            <a:r>
              <a:rPr sz="1180" b="1" i="0">
                <a:solidFill>
                  <a:srgbClr val="FFFFFF"/>
                </a:solidFill>
                <a:latin typeface="Aptos"/>
              </a:rPr>
              <a:t>CHALLENGE</a:t>
            </a:r>
          </a:p>
        </p:txBody>
      </p:sp>
      <p:sp>
        <p:nvSpPr>
          <p:cNvPr id="17422" name="Rounded Rectangle 17421"/>
          <p:cNvSpPr/>
          <p:nvPr/>
        </p:nvSpPr>
        <p:spPr>
          <a:xfrm>
            <a:off x="2514600" y="3776472"/>
            <a:ext cx="2011680" cy="301752"/>
          </a:xfrm>
          <a:prstGeom prst="roundRect">
            <a:avLst/>
          </a:prstGeom>
          <a:solidFill>
            <a:srgbClr val="5C6878"/>
          </a:solidFill>
          <a:ln w="12700">
            <a:solidFill>
              <a:srgbClr val="5C6878"/>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23" name="TextBox 17422"/>
          <p:cNvSpPr txBox="1"/>
          <p:nvPr/>
        </p:nvSpPr>
        <p:spPr>
          <a:xfrm>
            <a:off x="2606040" y="3803904"/>
            <a:ext cx="1883664" cy="246888"/>
          </a:xfrm>
          <a:prstGeom prst="rect">
            <a:avLst/>
          </a:prstGeom>
          <a:noFill/>
        </p:spPr>
        <p:txBody>
          <a:bodyPr wrap="square" lIns="38100" tIns="19050" rIns="38100" bIns="19050" anchor="ctr">
            <a:spAutoFit/>
          </a:bodyPr>
          <a:lstStyle/>
          <a:p>
            <a:pPr algn="l">
              <a:lnSpc>
                <a:spcPct val="100000"/>
              </a:lnSpc>
              <a:spcBef>
                <a:spcPts val="0"/>
              </a:spcBef>
              <a:spcAft>
                <a:spcPts val="0"/>
              </a:spcAft>
              <a:defRPr sz="1120" b="1">
                <a:solidFill>
                  <a:srgbClr val="FFFFFF"/>
                </a:solidFill>
              </a:defRPr>
            </a:pPr>
            <a:r>
              <a:rPr sz="1180" b="1" i="0">
                <a:solidFill>
                  <a:srgbClr val="FFFFFF"/>
                </a:solidFill>
                <a:latin typeface="Aptos"/>
              </a:rPr>
              <a:t>RISK</a:t>
            </a:r>
          </a:p>
        </p:txBody>
      </p:sp>
      <p:sp>
        <p:nvSpPr>
          <p:cNvPr id="17424" name="Rounded Rectangle 17423"/>
          <p:cNvSpPr/>
          <p:nvPr/>
        </p:nvSpPr>
        <p:spPr>
          <a:xfrm>
            <a:off x="4572000" y="3776472"/>
            <a:ext cx="3154680" cy="301752"/>
          </a:xfrm>
          <a:prstGeom prst="roundRect">
            <a:avLst/>
          </a:prstGeom>
          <a:solidFill>
            <a:srgbClr val="45885C"/>
          </a:solidFill>
          <a:ln w="12700">
            <a:solidFill>
              <a:srgbClr val="45885C"/>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25" name="TextBox 17424"/>
          <p:cNvSpPr txBox="1"/>
          <p:nvPr/>
        </p:nvSpPr>
        <p:spPr>
          <a:xfrm>
            <a:off x="4663440" y="3803904"/>
            <a:ext cx="3026664" cy="246888"/>
          </a:xfrm>
          <a:prstGeom prst="rect">
            <a:avLst/>
          </a:prstGeom>
          <a:noFill/>
        </p:spPr>
        <p:txBody>
          <a:bodyPr wrap="square" lIns="38100" tIns="19050" rIns="38100" bIns="19050" anchor="ctr">
            <a:spAutoFit/>
          </a:bodyPr>
          <a:lstStyle/>
          <a:p>
            <a:pPr algn="l">
              <a:lnSpc>
                <a:spcPct val="100000"/>
              </a:lnSpc>
              <a:spcBef>
                <a:spcPts val="0"/>
              </a:spcBef>
              <a:spcAft>
                <a:spcPts val="0"/>
              </a:spcAft>
              <a:defRPr sz="1120" b="1">
                <a:solidFill>
                  <a:srgbClr val="FFFFFF"/>
                </a:solidFill>
              </a:defRPr>
            </a:pPr>
            <a:r>
              <a:rPr sz="1180" b="1" i="0">
                <a:solidFill>
                  <a:srgbClr val="FFFFFF"/>
                </a:solidFill>
                <a:latin typeface="Aptos"/>
              </a:rPr>
              <a:t>MITIGATION</a:t>
            </a:r>
          </a:p>
        </p:txBody>
      </p:sp>
      <p:sp>
        <p:nvSpPr>
          <p:cNvPr id="17426" name="Rounded Rectangle 17425"/>
          <p:cNvSpPr/>
          <p:nvPr/>
        </p:nvSpPr>
        <p:spPr>
          <a:xfrm>
            <a:off x="594360" y="4114800"/>
            <a:ext cx="1874519" cy="356616"/>
          </a:xfrm>
          <a:prstGeom prst="roundRect">
            <a:avLst/>
          </a:prstGeom>
          <a:solidFill>
            <a:srgbClr val="FFFFFF"/>
          </a:solidFill>
          <a:ln w="12700">
            <a:solidFill>
              <a:srgbClr val="D5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27" name="TextBox 17426"/>
          <p:cNvSpPr txBox="1"/>
          <p:nvPr/>
        </p:nvSpPr>
        <p:spPr>
          <a:xfrm>
            <a:off x="658368" y="4137659"/>
            <a:ext cx="1746504" cy="246888"/>
          </a:xfrm>
          <a:prstGeom prst="rect">
            <a:avLst/>
          </a:prstGeom>
          <a:noFill/>
        </p:spPr>
        <p:txBody>
          <a:bodyPr wrap="square" lIns="38100" tIns="19050" rIns="38100" bIns="19050" anchor="ctr">
            <a:spAutoFit/>
          </a:bodyPr>
          <a:lstStyle/>
          <a:p>
            <a:pPr algn="l">
              <a:lnSpc>
                <a:spcPct val="100000"/>
              </a:lnSpc>
              <a:spcBef>
                <a:spcPts val="0"/>
              </a:spcBef>
              <a:spcAft>
                <a:spcPts val="0"/>
              </a:spcAft>
              <a:defRPr sz="890" b="0">
                <a:solidFill>
                  <a:srgbClr val="232B36"/>
                </a:solidFill>
              </a:defRPr>
            </a:pPr>
            <a:r>
              <a:rPr sz="950" b="0" i="0">
                <a:solidFill>
                  <a:srgbClr val="24313F"/>
                </a:solidFill>
                <a:latin typeface="Aptos"/>
              </a:rPr>
              <a:t>New image resolution (GSD)</a:t>
            </a:r>
          </a:p>
        </p:txBody>
      </p:sp>
      <p:sp>
        <p:nvSpPr>
          <p:cNvPr id="17428" name="Rounded Rectangle 17427"/>
          <p:cNvSpPr/>
          <p:nvPr/>
        </p:nvSpPr>
        <p:spPr>
          <a:xfrm>
            <a:off x="2514600" y="4114800"/>
            <a:ext cx="2011680" cy="356616"/>
          </a:xfrm>
          <a:prstGeom prst="roundRect">
            <a:avLst/>
          </a:prstGeom>
          <a:solidFill>
            <a:srgbClr val="FFFFFF"/>
          </a:solidFill>
          <a:ln w="12700">
            <a:solidFill>
              <a:srgbClr val="D5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29" name="TextBox 17428"/>
          <p:cNvSpPr txBox="1"/>
          <p:nvPr/>
        </p:nvSpPr>
        <p:spPr>
          <a:xfrm>
            <a:off x="2578608" y="4137659"/>
            <a:ext cx="1883664" cy="246888"/>
          </a:xfrm>
          <a:prstGeom prst="rect">
            <a:avLst/>
          </a:prstGeom>
          <a:noFill/>
        </p:spPr>
        <p:txBody>
          <a:bodyPr wrap="square" lIns="38100" tIns="19050" rIns="38100" bIns="19050" anchor="ctr">
            <a:spAutoFit/>
          </a:bodyPr>
          <a:lstStyle/>
          <a:p>
            <a:pPr algn="l">
              <a:lnSpc>
                <a:spcPct val="100000"/>
              </a:lnSpc>
              <a:spcBef>
                <a:spcPts val="0"/>
              </a:spcBef>
              <a:spcAft>
                <a:spcPts val="0"/>
              </a:spcAft>
              <a:defRPr sz="890" b="0">
                <a:solidFill>
                  <a:srgbClr val="232B36"/>
                </a:solidFill>
              </a:defRPr>
            </a:pPr>
            <a:r>
              <a:rPr sz="950" b="0" i="0">
                <a:solidFill>
                  <a:srgbClr val="24313F"/>
                </a:solidFill>
                <a:latin typeface="Aptos"/>
              </a:rPr>
              <a:t>Wrong height scale</a:t>
            </a:r>
          </a:p>
        </p:txBody>
      </p:sp>
      <p:sp>
        <p:nvSpPr>
          <p:cNvPr id="17430" name="Rounded Rectangle 17429"/>
          <p:cNvSpPr/>
          <p:nvPr/>
        </p:nvSpPr>
        <p:spPr>
          <a:xfrm>
            <a:off x="4572000" y="4114800"/>
            <a:ext cx="3154680" cy="356616"/>
          </a:xfrm>
          <a:prstGeom prst="roundRect">
            <a:avLst/>
          </a:prstGeom>
          <a:solidFill>
            <a:srgbClr val="FFFFFF"/>
          </a:solidFill>
          <a:ln w="12700">
            <a:solidFill>
              <a:srgbClr val="D5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31" name="TextBox 17430"/>
          <p:cNvSpPr txBox="1"/>
          <p:nvPr/>
        </p:nvSpPr>
        <p:spPr>
          <a:xfrm>
            <a:off x="4636008" y="4137659"/>
            <a:ext cx="3026664" cy="246888"/>
          </a:xfrm>
          <a:prstGeom prst="rect">
            <a:avLst/>
          </a:prstGeom>
          <a:noFill/>
        </p:spPr>
        <p:txBody>
          <a:bodyPr wrap="square" lIns="38100" tIns="19050" rIns="38100" bIns="19050" anchor="ctr">
            <a:spAutoFit/>
          </a:bodyPr>
          <a:lstStyle/>
          <a:p>
            <a:pPr algn="l">
              <a:lnSpc>
                <a:spcPct val="100000"/>
              </a:lnSpc>
              <a:spcBef>
                <a:spcPts val="0"/>
              </a:spcBef>
              <a:spcAft>
                <a:spcPts val="0"/>
              </a:spcAft>
              <a:defRPr sz="890" b="1">
                <a:solidFill>
                  <a:srgbClr val="232B36"/>
                </a:solidFill>
              </a:defRPr>
            </a:pPr>
            <a:r>
              <a:rPr sz="950" b="0" i="0">
                <a:solidFill>
                  <a:srgbClr val="24313F"/>
                </a:solidFill>
                <a:latin typeface="Aptos"/>
              </a:rPr>
              <a:t>Read GSD from metadata · resample · multi-resolution fine-tuning</a:t>
            </a:r>
          </a:p>
        </p:txBody>
      </p:sp>
      <p:sp>
        <p:nvSpPr>
          <p:cNvPr id="17432" name="Rounded Rectangle 17431"/>
          <p:cNvSpPr/>
          <p:nvPr/>
        </p:nvSpPr>
        <p:spPr>
          <a:xfrm>
            <a:off x="594360" y="4498848"/>
            <a:ext cx="1874519" cy="356616"/>
          </a:xfrm>
          <a:prstGeom prst="roundRect">
            <a:avLst/>
          </a:prstGeom>
          <a:solidFill>
            <a:srgbClr val="FFFFFF"/>
          </a:solidFill>
          <a:ln w="12700">
            <a:solidFill>
              <a:srgbClr val="D5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33" name="TextBox 17432"/>
          <p:cNvSpPr txBox="1"/>
          <p:nvPr/>
        </p:nvSpPr>
        <p:spPr>
          <a:xfrm>
            <a:off x="658368" y="4521708"/>
            <a:ext cx="1746504" cy="246888"/>
          </a:xfrm>
          <a:prstGeom prst="rect">
            <a:avLst/>
          </a:prstGeom>
          <a:noFill/>
        </p:spPr>
        <p:txBody>
          <a:bodyPr wrap="square" lIns="38100" tIns="19050" rIns="38100" bIns="19050" anchor="ctr">
            <a:spAutoFit/>
          </a:bodyPr>
          <a:lstStyle/>
          <a:p>
            <a:pPr algn="l">
              <a:lnSpc>
                <a:spcPct val="100000"/>
              </a:lnSpc>
              <a:spcBef>
                <a:spcPts val="0"/>
              </a:spcBef>
              <a:spcAft>
                <a:spcPts val="0"/>
              </a:spcAft>
              <a:defRPr sz="890" b="0">
                <a:solidFill>
                  <a:srgbClr val="232B36"/>
                </a:solidFill>
              </a:defRPr>
            </a:pPr>
            <a:r>
              <a:rPr sz="950" b="0" i="0">
                <a:solidFill>
                  <a:srgbClr val="24313F"/>
                </a:solidFill>
                <a:latin typeface="Aptos"/>
              </a:rPr>
              <a:t>One image can't see ground level</a:t>
            </a:r>
          </a:p>
        </p:txBody>
      </p:sp>
      <p:sp>
        <p:nvSpPr>
          <p:cNvPr id="17434" name="Rounded Rectangle 17433"/>
          <p:cNvSpPr/>
          <p:nvPr/>
        </p:nvSpPr>
        <p:spPr>
          <a:xfrm>
            <a:off x="2514600" y="4498848"/>
            <a:ext cx="2011680" cy="356616"/>
          </a:xfrm>
          <a:prstGeom prst="roundRect">
            <a:avLst/>
          </a:prstGeom>
          <a:solidFill>
            <a:srgbClr val="FFFFFF"/>
          </a:solidFill>
          <a:ln w="12700">
            <a:solidFill>
              <a:srgbClr val="D5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35" name="TextBox 17434"/>
          <p:cNvSpPr txBox="1"/>
          <p:nvPr/>
        </p:nvSpPr>
        <p:spPr>
          <a:xfrm>
            <a:off x="2578608" y="4521708"/>
            <a:ext cx="1883664" cy="246888"/>
          </a:xfrm>
          <a:prstGeom prst="rect">
            <a:avLst/>
          </a:prstGeom>
          <a:noFill/>
        </p:spPr>
        <p:txBody>
          <a:bodyPr wrap="square" lIns="38100" tIns="19050" rIns="38100" bIns="19050" anchor="ctr">
            <a:spAutoFit/>
          </a:bodyPr>
          <a:lstStyle/>
          <a:p>
            <a:pPr algn="l">
              <a:lnSpc>
                <a:spcPct val="100000"/>
              </a:lnSpc>
              <a:spcBef>
                <a:spcPts val="0"/>
              </a:spcBef>
              <a:spcAft>
                <a:spcPts val="0"/>
              </a:spcAft>
              <a:defRPr sz="890" b="0">
                <a:solidFill>
                  <a:srgbClr val="232B36"/>
                </a:solidFill>
              </a:defRPr>
            </a:pPr>
            <a:r>
              <a:rPr sz="950" b="0" i="0">
                <a:solidFill>
                  <a:srgbClr val="24313F"/>
                </a:solidFill>
                <a:latin typeface="Aptos"/>
              </a:rPr>
              <a:t>Heights off in metres</a:t>
            </a:r>
          </a:p>
        </p:txBody>
      </p:sp>
      <p:sp>
        <p:nvSpPr>
          <p:cNvPr id="17436" name="Rounded Rectangle 17435"/>
          <p:cNvSpPr/>
          <p:nvPr/>
        </p:nvSpPr>
        <p:spPr>
          <a:xfrm>
            <a:off x="4572000" y="4498848"/>
            <a:ext cx="3154680" cy="356616"/>
          </a:xfrm>
          <a:prstGeom prst="roundRect">
            <a:avLst/>
          </a:prstGeom>
          <a:solidFill>
            <a:srgbClr val="FFFFFF"/>
          </a:solidFill>
          <a:ln w="12700">
            <a:solidFill>
              <a:srgbClr val="D5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37" name="TextBox 17436"/>
          <p:cNvSpPr txBox="1"/>
          <p:nvPr/>
        </p:nvSpPr>
        <p:spPr>
          <a:xfrm>
            <a:off x="4636008" y="4521708"/>
            <a:ext cx="3026664" cy="246888"/>
          </a:xfrm>
          <a:prstGeom prst="rect">
            <a:avLst/>
          </a:prstGeom>
          <a:noFill/>
        </p:spPr>
        <p:txBody>
          <a:bodyPr wrap="square" lIns="38100" tIns="19050" rIns="38100" bIns="19050" anchor="ctr">
            <a:spAutoFit/>
          </a:bodyPr>
          <a:lstStyle/>
          <a:p>
            <a:pPr algn="l">
              <a:lnSpc>
                <a:spcPct val="100000"/>
              </a:lnSpc>
              <a:spcBef>
                <a:spcPts val="0"/>
              </a:spcBef>
              <a:spcAft>
                <a:spcPts val="0"/>
              </a:spcAft>
              <a:defRPr sz="890" b="1">
                <a:solidFill>
                  <a:srgbClr val="232B36"/>
                </a:solidFill>
              </a:defRPr>
            </a:pPr>
            <a:r>
              <a:rPr sz="950" b="0" i="0">
                <a:solidFill>
                  <a:srgbClr val="24313F"/>
                </a:solidFill>
                <a:latin typeface="Aptos"/>
              </a:rPr>
              <a:t>CartoDEM-guided calibration + ICESat-2 correction</a:t>
            </a:r>
          </a:p>
        </p:txBody>
      </p:sp>
      <p:sp>
        <p:nvSpPr>
          <p:cNvPr id="17438" name="Rounded Rectangle 17437"/>
          <p:cNvSpPr/>
          <p:nvPr/>
        </p:nvSpPr>
        <p:spPr>
          <a:xfrm>
            <a:off x="594360" y="4882896"/>
            <a:ext cx="1874519" cy="356616"/>
          </a:xfrm>
          <a:prstGeom prst="roundRect">
            <a:avLst/>
          </a:prstGeom>
          <a:solidFill>
            <a:srgbClr val="FFFFFF"/>
          </a:solidFill>
          <a:ln w="12700">
            <a:solidFill>
              <a:srgbClr val="D5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39" name="TextBox 17438"/>
          <p:cNvSpPr txBox="1"/>
          <p:nvPr/>
        </p:nvSpPr>
        <p:spPr>
          <a:xfrm>
            <a:off x="658368" y="4905756"/>
            <a:ext cx="1746504" cy="246888"/>
          </a:xfrm>
          <a:prstGeom prst="rect">
            <a:avLst/>
          </a:prstGeom>
          <a:noFill/>
        </p:spPr>
        <p:txBody>
          <a:bodyPr wrap="square" lIns="38100" tIns="19050" rIns="38100" bIns="19050" anchor="ctr">
            <a:spAutoFit/>
          </a:bodyPr>
          <a:lstStyle/>
          <a:p>
            <a:pPr algn="l">
              <a:lnSpc>
                <a:spcPct val="100000"/>
              </a:lnSpc>
              <a:spcBef>
                <a:spcPts val="0"/>
              </a:spcBef>
              <a:spcAft>
                <a:spcPts val="0"/>
              </a:spcAft>
              <a:defRPr sz="890" b="0">
                <a:solidFill>
                  <a:srgbClr val="232B36"/>
                </a:solidFill>
              </a:defRPr>
            </a:pPr>
            <a:r>
              <a:rPr sz="950" b="0" i="0">
                <a:solidFill>
                  <a:srgbClr val="24313F"/>
                </a:solidFill>
                <a:latin typeface="Aptos"/>
              </a:rPr>
              <a:t>Few tall buildings in training data</a:t>
            </a:r>
          </a:p>
        </p:txBody>
      </p:sp>
      <p:sp>
        <p:nvSpPr>
          <p:cNvPr id="17440" name="Rounded Rectangle 17439"/>
          <p:cNvSpPr/>
          <p:nvPr/>
        </p:nvSpPr>
        <p:spPr>
          <a:xfrm>
            <a:off x="2514600" y="4882896"/>
            <a:ext cx="2011680" cy="356616"/>
          </a:xfrm>
          <a:prstGeom prst="roundRect">
            <a:avLst/>
          </a:prstGeom>
          <a:solidFill>
            <a:srgbClr val="FFFFFF"/>
          </a:solidFill>
          <a:ln w="12700">
            <a:solidFill>
              <a:srgbClr val="D5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41" name="TextBox 17440"/>
          <p:cNvSpPr txBox="1"/>
          <p:nvPr/>
        </p:nvSpPr>
        <p:spPr>
          <a:xfrm>
            <a:off x="2578608" y="4905756"/>
            <a:ext cx="1883664" cy="246888"/>
          </a:xfrm>
          <a:prstGeom prst="rect">
            <a:avLst/>
          </a:prstGeom>
          <a:noFill/>
        </p:spPr>
        <p:txBody>
          <a:bodyPr wrap="square" lIns="38100" tIns="19050" rIns="38100" bIns="19050" anchor="ctr">
            <a:spAutoFit/>
          </a:bodyPr>
          <a:lstStyle/>
          <a:p>
            <a:pPr algn="l">
              <a:lnSpc>
                <a:spcPct val="100000"/>
              </a:lnSpc>
              <a:spcBef>
                <a:spcPts val="0"/>
              </a:spcBef>
              <a:spcAft>
                <a:spcPts val="0"/>
              </a:spcAft>
              <a:defRPr sz="890" b="0">
                <a:solidFill>
                  <a:srgbClr val="232B36"/>
                </a:solidFill>
              </a:defRPr>
            </a:pPr>
            <a:r>
              <a:rPr sz="950" b="0" i="0">
                <a:solidFill>
                  <a:srgbClr val="24313F"/>
                </a:solidFill>
                <a:latin typeface="Aptos"/>
              </a:rPr>
              <a:t>Tall buildings under-estimated</a:t>
            </a:r>
          </a:p>
        </p:txBody>
      </p:sp>
      <p:sp>
        <p:nvSpPr>
          <p:cNvPr id="17442" name="Rounded Rectangle 17441"/>
          <p:cNvSpPr/>
          <p:nvPr/>
        </p:nvSpPr>
        <p:spPr>
          <a:xfrm>
            <a:off x="4572000" y="4882896"/>
            <a:ext cx="3154680" cy="356616"/>
          </a:xfrm>
          <a:prstGeom prst="roundRect">
            <a:avLst/>
          </a:prstGeom>
          <a:solidFill>
            <a:srgbClr val="FFFFFF"/>
          </a:solidFill>
          <a:ln w="12700">
            <a:solidFill>
              <a:srgbClr val="D5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43" name="TextBox 17442"/>
          <p:cNvSpPr txBox="1"/>
          <p:nvPr/>
        </p:nvSpPr>
        <p:spPr>
          <a:xfrm>
            <a:off x="4636008" y="4905756"/>
            <a:ext cx="3026664" cy="246888"/>
          </a:xfrm>
          <a:prstGeom prst="rect">
            <a:avLst/>
          </a:prstGeom>
          <a:noFill/>
        </p:spPr>
        <p:txBody>
          <a:bodyPr wrap="square" lIns="38100" tIns="19050" rIns="38100" bIns="19050" anchor="ctr">
            <a:spAutoFit/>
          </a:bodyPr>
          <a:lstStyle/>
          <a:p>
            <a:pPr algn="l">
              <a:lnSpc>
                <a:spcPct val="100000"/>
              </a:lnSpc>
              <a:spcBef>
                <a:spcPts val="0"/>
              </a:spcBef>
              <a:spcAft>
                <a:spcPts val="0"/>
              </a:spcAft>
              <a:defRPr sz="890" b="1">
                <a:solidFill>
                  <a:srgbClr val="232B36"/>
                </a:solidFill>
              </a:defRPr>
            </a:pPr>
            <a:r>
              <a:rPr sz="950" b="0" i="0">
                <a:solidFill>
                  <a:srgbClr val="24313F"/>
                </a:solidFill>
                <a:latin typeface="Aptos"/>
              </a:rPr>
              <a:t>Oversample tall buildings · report error by height band</a:t>
            </a:r>
          </a:p>
        </p:txBody>
      </p:sp>
      <p:sp>
        <p:nvSpPr>
          <p:cNvPr id="17444" name="Rounded Rectangle 17443"/>
          <p:cNvSpPr/>
          <p:nvPr/>
        </p:nvSpPr>
        <p:spPr>
          <a:xfrm>
            <a:off x="594360" y="5266944"/>
            <a:ext cx="1874519" cy="356616"/>
          </a:xfrm>
          <a:prstGeom prst="roundRect">
            <a:avLst/>
          </a:prstGeom>
          <a:solidFill>
            <a:srgbClr val="FFFFFF"/>
          </a:solidFill>
          <a:ln w="12700">
            <a:solidFill>
              <a:srgbClr val="D5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45" name="TextBox 17444"/>
          <p:cNvSpPr txBox="1"/>
          <p:nvPr/>
        </p:nvSpPr>
        <p:spPr>
          <a:xfrm>
            <a:off x="658368" y="5289804"/>
            <a:ext cx="1746504" cy="246888"/>
          </a:xfrm>
          <a:prstGeom prst="rect">
            <a:avLst/>
          </a:prstGeom>
          <a:noFill/>
        </p:spPr>
        <p:txBody>
          <a:bodyPr wrap="square" lIns="38100" tIns="19050" rIns="38100" bIns="19050" anchor="ctr">
            <a:spAutoFit/>
          </a:bodyPr>
          <a:lstStyle/>
          <a:p>
            <a:pPr algn="l">
              <a:lnSpc>
                <a:spcPct val="100000"/>
              </a:lnSpc>
              <a:spcBef>
                <a:spcPts val="0"/>
              </a:spcBef>
              <a:spcAft>
                <a:spcPts val="0"/>
              </a:spcAft>
              <a:defRPr sz="890" b="0">
                <a:solidFill>
                  <a:srgbClr val="232B36"/>
                </a:solidFill>
              </a:defRPr>
            </a:pPr>
            <a:r>
              <a:rPr sz="950" b="0" i="0">
                <a:solidFill>
                  <a:srgbClr val="24313F"/>
                </a:solidFill>
                <a:latin typeface="Aptos"/>
              </a:rPr>
              <a:t>Tilted (off-nadir) images</a:t>
            </a:r>
          </a:p>
        </p:txBody>
      </p:sp>
      <p:sp>
        <p:nvSpPr>
          <p:cNvPr id="17446" name="Rounded Rectangle 17445"/>
          <p:cNvSpPr/>
          <p:nvPr/>
        </p:nvSpPr>
        <p:spPr>
          <a:xfrm>
            <a:off x="2514600" y="5266944"/>
            <a:ext cx="2011680" cy="356616"/>
          </a:xfrm>
          <a:prstGeom prst="roundRect">
            <a:avLst/>
          </a:prstGeom>
          <a:solidFill>
            <a:srgbClr val="FFFFFF"/>
          </a:solidFill>
          <a:ln w="12700">
            <a:solidFill>
              <a:srgbClr val="D5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47" name="TextBox 17446"/>
          <p:cNvSpPr txBox="1"/>
          <p:nvPr/>
        </p:nvSpPr>
        <p:spPr>
          <a:xfrm>
            <a:off x="2578608" y="5289804"/>
            <a:ext cx="1883664" cy="246888"/>
          </a:xfrm>
          <a:prstGeom prst="rect">
            <a:avLst/>
          </a:prstGeom>
          <a:noFill/>
        </p:spPr>
        <p:txBody>
          <a:bodyPr wrap="square" lIns="38100" tIns="19050" rIns="38100" bIns="19050" anchor="ctr">
            <a:spAutoFit/>
          </a:bodyPr>
          <a:lstStyle/>
          <a:p>
            <a:pPr algn="l">
              <a:lnSpc>
                <a:spcPct val="100000"/>
              </a:lnSpc>
              <a:spcBef>
                <a:spcPts val="0"/>
              </a:spcBef>
              <a:spcAft>
                <a:spcPts val="0"/>
              </a:spcAft>
              <a:defRPr sz="890" b="0">
                <a:solidFill>
                  <a:srgbClr val="232B36"/>
                </a:solidFill>
              </a:defRPr>
            </a:pPr>
            <a:r>
              <a:rPr sz="950" b="0" i="0">
                <a:solidFill>
                  <a:srgbClr val="24313F"/>
                </a:solidFill>
                <a:latin typeface="Aptos"/>
              </a:rPr>
              <a:t>Leaning buildings, shifted roofs</a:t>
            </a:r>
          </a:p>
        </p:txBody>
      </p:sp>
      <p:sp>
        <p:nvSpPr>
          <p:cNvPr id="17448" name="Rounded Rectangle 17447"/>
          <p:cNvSpPr/>
          <p:nvPr/>
        </p:nvSpPr>
        <p:spPr>
          <a:xfrm>
            <a:off x="4572000" y="5266944"/>
            <a:ext cx="3154680" cy="356616"/>
          </a:xfrm>
          <a:prstGeom prst="roundRect">
            <a:avLst/>
          </a:prstGeom>
          <a:solidFill>
            <a:srgbClr val="FFFFFF"/>
          </a:solidFill>
          <a:ln w="12700">
            <a:solidFill>
              <a:srgbClr val="D5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49" name="TextBox 17448"/>
          <p:cNvSpPr txBox="1"/>
          <p:nvPr/>
        </p:nvSpPr>
        <p:spPr>
          <a:xfrm>
            <a:off x="4636008" y="5289804"/>
            <a:ext cx="3026664" cy="246888"/>
          </a:xfrm>
          <a:prstGeom prst="rect">
            <a:avLst/>
          </a:prstGeom>
          <a:noFill/>
        </p:spPr>
        <p:txBody>
          <a:bodyPr wrap="square" lIns="38100" tIns="19050" rIns="38100" bIns="19050" anchor="ctr">
            <a:spAutoFit/>
          </a:bodyPr>
          <a:lstStyle/>
          <a:p>
            <a:pPr algn="l">
              <a:lnSpc>
                <a:spcPct val="100000"/>
              </a:lnSpc>
              <a:spcBef>
                <a:spcPts val="0"/>
              </a:spcBef>
              <a:spcAft>
                <a:spcPts val="0"/>
              </a:spcAft>
              <a:defRPr sz="890" b="1">
                <a:solidFill>
                  <a:srgbClr val="232B36"/>
                </a:solidFill>
              </a:defRPr>
            </a:pPr>
            <a:r>
              <a:rPr sz="950" b="0" i="0">
                <a:solidFill>
                  <a:srgbClr val="24313F"/>
                </a:solidFill>
                <a:latin typeface="Aptos"/>
              </a:rPr>
              <a:t>Off-nadir training data (US3D) · warning in UI</a:t>
            </a:r>
          </a:p>
        </p:txBody>
      </p:sp>
      <p:sp>
        <p:nvSpPr>
          <p:cNvPr id="17450" name="Rounded Rectangle 17449"/>
          <p:cNvSpPr/>
          <p:nvPr/>
        </p:nvSpPr>
        <p:spPr>
          <a:xfrm>
            <a:off x="594360" y="5650992"/>
            <a:ext cx="1874519" cy="356616"/>
          </a:xfrm>
          <a:prstGeom prst="roundRect">
            <a:avLst/>
          </a:prstGeom>
          <a:solidFill>
            <a:srgbClr val="FFFFFF"/>
          </a:solidFill>
          <a:ln w="12700">
            <a:solidFill>
              <a:srgbClr val="D5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51" name="TextBox 17450"/>
          <p:cNvSpPr txBox="1"/>
          <p:nvPr/>
        </p:nvSpPr>
        <p:spPr>
          <a:xfrm>
            <a:off x="658368" y="5673851"/>
            <a:ext cx="1746504" cy="246888"/>
          </a:xfrm>
          <a:prstGeom prst="rect">
            <a:avLst/>
          </a:prstGeom>
          <a:noFill/>
        </p:spPr>
        <p:txBody>
          <a:bodyPr wrap="square" lIns="38100" tIns="19050" rIns="38100" bIns="19050" anchor="ctr">
            <a:spAutoFit/>
          </a:bodyPr>
          <a:lstStyle/>
          <a:p>
            <a:pPr algn="l">
              <a:lnSpc>
                <a:spcPct val="100000"/>
              </a:lnSpc>
              <a:spcBef>
                <a:spcPts val="0"/>
              </a:spcBef>
              <a:spcAft>
                <a:spcPts val="0"/>
              </a:spcAft>
              <a:defRPr sz="890" b="0">
                <a:solidFill>
                  <a:srgbClr val="232B36"/>
                </a:solidFill>
              </a:defRPr>
            </a:pPr>
            <a:r>
              <a:rPr sz="950" b="0" i="0">
                <a:solidFill>
                  <a:srgbClr val="24313F"/>
                </a:solidFill>
                <a:latin typeface="Aptos"/>
              </a:rPr>
              <a:t>No GPU / no internet in the field</a:t>
            </a:r>
          </a:p>
        </p:txBody>
      </p:sp>
      <p:sp>
        <p:nvSpPr>
          <p:cNvPr id="17452" name="Rounded Rectangle 17451"/>
          <p:cNvSpPr/>
          <p:nvPr/>
        </p:nvSpPr>
        <p:spPr>
          <a:xfrm>
            <a:off x="2514600" y="5650992"/>
            <a:ext cx="2011680" cy="356616"/>
          </a:xfrm>
          <a:prstGeom prst="roundRect">
            <a:avLst/>
          </a:prstGeom>
          <a:solidFill>
            <a:srgbClr val="FFFFFF"/>
          </a:solidFill>
          <a:ln w="12700">
            <a:solidFill>
              <a:srgbClr val="D5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53" name="TextBox 17452"/>
          <p:cNvSpPr txBox="1"/>
          <p:nvPr/>
        </p:nvSpPr>
        <p:spPr>
          <a:xfrm>
            <a:off x="2578608" y="5673851"/>
            <a:ext cx="1883664" cy="246888"/>
          </a:xfrm>
          <a:prstGeom prst="rect">
            <a:avLst/>
          </a:prstGeom>
          <a:noFill/>
        </p:spPr>
        <p:txBody>
          <a:bodyPr wrap="square" lIns="38100" tIns="19050" rIns="38100" bIns="19050" anchor="ctr">
            <a:spAutoFit/>
          </a:bodyPr>
          <a:lstStyle/>
          <a:p>
            <a:pPr algn="l">
              <a:lnSpc>
                <a:spcPct val="100000"/>
              </a:lnSpc>
              <a:spcBef>
                <a:spcPts val="0"/>
              </a:spcBef>
              <a:spcAft>
                <a:spcPts val="0"/>
              </a:spcAft>
              <a:defRPr sz="890" b="0">
                <a:solidFill>
                  <a:srgbClr val="232B36"/>
                </a:solidFill>
              </a:defRPr>
            </a:pPr>
            <a:r>
              <a:rPr sz="950" b="0" i="0">
                <a:solidFill>
                  <a:srgbClr val="24313F"/>
                </a:solidFill>
                <a:latin typeface="Aptos"/>
              </a:rPr>
              <a:t>Tool unusable</a:t>
            </a:r>
          </a:p>
        </p:txBody>
      </p:sp>
      <p:sp>
        <p:nvSpPr>
          <p:cNvPr id="17454" name="Rounded Rectangle 17453"/>
          <p:cNvSpPr/>
          <p:nvPr/>
        </p:nvSpPr>
        <p:spPr>
          <a:xfrm>
            <a:off x="4572000" y="5650992"/>
            <a:ext cx="3154680" cy="356616"/>
          </a:xfrm>
          <a:prstGeom prst="roundRect">
            <a:avLst/>
          </a:prstGeom>
          <a:solidFill>
            <a:srgbClr val="FFFFFF"/>
          </a:solidFill>
          <a:ln w="12700">
            <a:solidFill>
              <a:srgbClr val="D5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55" name="TextBox 17454"/>
          <p:cNvSpPr txBox="1"/>
          <p:nvPr/>
        </p:nvSpPr>
        <p:spPr>
          <a:xfrm>
            <a:off x="4636008" y="5673851"/>
            <a:ext cx="3026664" cy="246888"/>
          </a:xfrm>
          <a:prstGeom prst="rect">
            <a:avLst/>
          </a:prstGeom>
          <a:noFill/>
        </p:spPr>
        <p:txBody>
          <a:bodyPr wrap="square" lIns="38100" tIns="19050" rIns="38100" bIns="19050" anchor="ctr">
            <a:spAutoFit/>
          </a:bodyPr>
          <a:lstStyle/>
          <a:p>
            <a:pPr algn="l">
              <a:lnSpc>
                <a:spcPct val="100000"/>
              </a:lnSpc>
              <a:spcBef>
                <a:spcPts val="0"/>
              </a:spcBef>
              <a:spcAft>
                <a:spcPts val="0"/>
              </a:spcAft>
              <a:defRPr sz="890" b="1">
                <a:solidFill>
                  <a:srgbClr val="232B36"/>
                </a:solidFill>
              </a:defRPr>
            </a:pPr>
            <a:r>
              <a:rPr sz="950" b="0" i="0">
                <a:solidFill>
                  <a:srgbClr val="24313F"/>
                </a:solidFill>
                <a:latin typeface="Aptos"/>
              </a:rPr>
              <a:t>ONNX CPU model · offline desktop app</a:t>
            </a:r>
          </a:p>
        </p:txBody>
      </p:sp>
      <p:pic>
        <p:nvPicPr>
          <p:cNvPr id="17457" name="Picture 17456" descr="terravista_icon.png"/>
          <p:cNvPicPr>
            <a:picLocks noChangeAspect="1"/>
          </p:cNvPicPr>
          <p:nvPr/>
        </p:nvPicPr>
        <p:blipFill>
          <a:blip r:embed="rId3"/>
          <a:stretch>
            <a:fillRect/>
          </a:stretch>
        </p:blipFill>
        <p:spPr>
          <a:xfrm>
            <a:off x="338328" y="356616"/>
            <a:ext cx="347472" cy="347472"/>
          </a:xfrm>
          <a:prstGeom prst="rect">
            <a:avLst/>
          </a:prstGeom>
        </p:spPr>
      </p:pic>
      <p:sp>
        <p:nvSpPr>
          <p:cNvPr id="17458" name="TextBox 17457"/>
          <p:cNvSpPr txBox="1"/>
          <p:nvPr/>
        </p:nvSpPr>
        <p:spPr>
          <a:xfrm>
            <a:off x="740664" y="352044"/>
            <a:ext cx="914400" cy="310896"/>
          </a:xfrm>
          <a:prstGeom prst="rect">
            <a:avLst/>
          </a:prstGeom>
          <a:noFill/>
        </p:spPr>
        <p:txBody>
          <a:bodyPr wrap="none" lIns="0" tIns="0" rIns="0" bIns="0">
            <a:spAutoFit/>
          </a:bodyPr>
          <a:lstStyle/>
          <a:p>
            <a:pPr algn="l">
              <a:spcBef>
                <a:spcPts val="0"/>
              </a:spcBef>
              <a:spcAft>
                <a:spcPts val="0"/>
              </a:spcAft>
            </a:pPr>
            <a:r>
              <a:rPr sz="1050" b="1" i="0">
                <a:solidFill>
                  <a:srgbClr val="17273A"/>
                </a:solidFill>
                <a:latin typeface="Aptos"/>
              </a:rPr>
              <a:t>TerraVista</a:t>
            </a:r>
          </a:p>
        </p:txBody>
      </p:sp>
      <p:pic>
        <p:nvPicPr>
          <p:cNvPr id="17459" name="Picture 17458" descr="image2.png"/>
          <p:cNvPicPr>
            <a:picLocks noChangeAspect="1"/>
          </p:cNvPicPr>
          <p:nvPr/>
        </p:nvPicPr>
        <p:blipFill>
          <a:blip r:embed="rId4"/>
          <a:stretch>
            <a:fillRect/>
          </a:stretch>
        </p:blipFill>
        <p:spPr>
          <a:xfrm>
            <a:off x="9841366" y="57097"/>
            <a:ext cx="2209120" cy="1122868"/>
          </a:xfrm>
          <a:prstGeom prst="rect">
            <a:avLst/>
          </a:prstGeom>
        </p:spPr>
      </p:pic>
      <p:graphicFrame>
        <p:nvGraphicFramePr>
          <p:cNvPr id="17460" name="Chart 17459"/>
          <p:cNvGraphicFramePr>
            <a:graphicFrameLocks noGrp="1"/>
          </p:cNvGraphicFramePr>
          <p:nvPr/>
        </p:nvGraphicFramePr>
        <p:xfrm>
          <a:off x="8028431" y="3703320"/>
          <a:ext cx="3566160" cy="2020824"/>
        </p:xfrm>
        <a:graphic>
          <a:graphicData uri="http://schemas.openxmlformats.org/drawingml/2006/chart">
            <c:chart xmlns:c="http://schemas.openxmlformats.org/drawingml/2006/chart" r:id="rId5"/>
          </a:graphicData>
        </a:graphic>
      </p:graphicFrame>
      <p:sp>
        <p:nvSpPr>
          <p:cNvPr id="17461" name="TextBox 17460"/>
          <p:cNvSpPr txBox="1"/>
          <p:nvPr/>
        </p:nvSpPr>
        <p:spPr>
          <a:xfrm>
            <a:off x="8028431" y="5742431"/>
            <a:ext cx="3566160" cy="292608"/>
          </a:xfrm>
          <a:prstGeom prst="rect">
            <a:avLst/>
          </a:prstGeom>
          <a:noFill/>
        </p:spPr>
        <p:txBody>
          <a:bodyPr wrap="square" lIns="0" rIns="0" tIns="0" bIns="0">
            <a:spAutoFit/>
          </a:bodyPr>
          <a:lstStyle/>
          <a:p>
            <a:r>
              <a:rPr sz="800">
                <a:solidFill>
                  <a:srgbClr val="5C6878"/>
                </a:solidFill>
                <a:latin typeface="Aptos"/>
              </a:rPr>
              <a:t>Score = fit to PS + public weights + reported accuracy + effort. Multi-view models (need several images) excluded.</a:t>
            </a:r>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wrap="square" lIns="38100" tIns="19050" rIns="38100" bIns="19050" anchor="ctr"/>
          <a:lstStyle/>
          <a:p>
            <a:pPr algn="ctr" eaLnBrk="1" hangingPunct="1">
              <a:lnSpc>
                <a:spcPct val="100000"/>
              </a:lnSpc>
              <a:spcBef>
                <a:spcPts val="0"/>
              </a:spcBef>
              <a:spcAft>
                <a:spcPts val="0"/>
              </a:spcAft>
            </a:pPr>
            <a:r>
              <a:rPr lang="en-US" sz="2500" b="1" i="0" dirty="0">
                <a:solidFill>
                  <a:srgbClr val="17273A"/>
                </a:solidFill>
                <a:latin typeface="Aptos Display" panose="02020603050405020304" pitchFamily="18" charset="0"/>
                <a:ea typeface="ＭＳ Ｐゴシック" pitchFamily="1" charset="-128"/>
                <a:cs typeface="Times New Roman" panose="02020603050405020304" pitchFamily="18" charset="0"/>
              </a:rPr>
              <a:t>IMPACT AND BENEFITS</a:t>
            </a:r>
          </a:p>
        </p:txBody>
      </p:sp>
      <p:sp>
        <p:nvSpPr>
          <p:cNvPr id="6" name="Slide Number Placeholder 5"/>
          <p:cNvSpPr>
            <a:spLocks noGrp="1"/>
          </p:cNvSpPr>
          <p:nvPr>
            <p:ph type="sldNum" sz="quarter" idx="12"/>
          </p:nvPr>
        </p:nvSpPr>
        <p:spPr/>
        <p:txBody>
          <a:bodyPr lIns="38100" tIns="19050" rIns="38100" bIns="19050"/>
          <a:lstStyle/>
          <a:p>
            <a:pPr marL="0" marR="0" lvl="0" indent="0" algn="r" defTabSz="457200" rtl="0" eaLnBrk="1" fontAlgn="base" latinLnBrk="0" hangingPunct="1">
              <a:lnSpc>
                <a:spcPct val="100000"/>
              </a:lnSpc>
              <a:spcBef>
                <a:spcPts val="0"/>
              </a:spcBef>
              <a:spcAft>
                <a:spcPts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17410" name="TextBox 17409"/>
          <p:cNvSpPr txBox="1"/>
          <p:nvPr/>
        </p:nvSpPr>
        <p:spPr>
          <a:xfrm>
            <a:off x="594360" y="1078992"/>
            <a:ext cx="10972800" cy="329184"/>
          </a:xfrm>
          <a:prstGeom prst="rect">
            <a:avLst/>
          </a:prstGeom>
          <a:noFill/>
        </p:spPr>
        <p:txBody>
          <a:bodyPr wrap="square" lIns="38100" tIns="19050" rIns="38100" bIns="19050" anchor="ctr">
            <a:spAutoFit/>
          </a:bodyPr>
          <a:lstStyle/>
          <a:p>
            <a:pPr algn="l">
              <a:lnSpc>
                <a:spcPct val="100000"/>
              </a:lnSpc>
              <a:spcBef>
                <a:spcPts val="0"/>
              </a:spcBef>
              <a:spcAft>
                <a:spcPts val="0"/>
              </a:spcAft>
              <a:defRPr sz="1630" b="1">
                <a:solidFill>
                  <a:srgbClr val="152742"/>
                </a:solidFill>
              </a:defRPr>
            </a:pPr>
            <a:r>
              <a:rPr sz="1900" b="1" i="0">
                <a:solidFill>
                  <a:srgbClr val="17273A"/>
                </a:solidFill>
                <a:latin typeface="Aptos"/>
              </a:rPr>
              <a:t>From One Image to Faster, Verifiable Disaster Decisions</a:t>
            </a:r>
          </a:p>
        </p:txBody>
      </p:sp>
      <p:sp>
        <p:nvSpPr>
          <p:cNvPr id="17411" name="Rounded Rectangle 17410"/>
          <p:cNvSpPr/>
          <p:nvPr/>
        </p:nvSpPr>
        <p:spPr>
          <a:xfrm>
            <a:off x="4628254" y="1571575"/>
            <a:ext cx="2834640" cy="987552"/>
          </a:xfrm>
          <a:prstGeom prst="roundRect">
            <a:avLst/>
          </a:prstGeom>
          <a:solidFill>
            <a:srgbClr val="152742"/>
          </a:solidFill>
          <a:ln w="12700">
            <a:solidFill>
              <a:srgbClr val="152742"/>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12" name="TextBox 17411"/>
          <p:cNvSpPr txBox="1"/>
          <p:nvPr/>
        </p:nvSpPr>
        <p:spPr>
          <a:xfrm>
            <a:off x="4747126" y="1781887"/>
            <a:ext cx="2596896" cy="256032"/>
          </a:xfrm>
          <a:prstGeom prst="rect">
            <a:avLst/>
          </a:prstGeom>
          <a:noFill/>
        </p:spPr>
        <p:txBody>
          <a:bodyPr wrap="square" lIns="38100" tIns="19050" rIns="38100" bIns="19050" anchor="ctr">
            <a:spAutoFit/>
          </a:bodyPr>
          <a:lstStyle/>
          <a:p>
            <a:pPr algn="ctr">
              <a:lnSpc>
                <a:spcPct val="100000"/>
              </a:lnSpc>
              <a:spcBef>
                <a:spcPts val="0"/>
              </a:spcBef>
              <a:spcAft>
                <a:spcPts val="0"/>
              </a:spcAft>
              <a:defRPr sz="1650" b="1">
                <a:solidFill>
                  <a:srgbClr val="FFFFFF"/>
                </a:solidFill>
              </a:defRPr>
            </a:pPr>
            <a:r>
              <a:rPr sz="1160" b="1" i="0" dirty="0">
                <a:solidFill>
                  <a:srgbClr val="FFFFFF"/>
                </a:solidFill>
                <a:latin typeface="Aptos"/>
              </a:rPr>
              <a:t>DEPTHWIZARD</a:t>
            </a:r>
          </a:p>
        </p:txBody>
      </p:sp>
      <p:sp>
        <p:nvSpPr>
          <p:cNvPr id="17413" name="TextBox 17412"/>
          <p:cNvSpPr txBox="1"/>
          <p:nvPr/>
        </p:nvSpPr>
        <p:spPr>
          <a:xfrm>
            <a:off x="4747126" y="2138503"/>
            <a:ext cx="2596896" cy="201168"/>
          </a:xfrm>
          <a:prstGeom prst="rect">
            <a:avLst/>
          </a:prstGeom>
          <a:noFill/>
        </p:spPr>
        <p:txBody>
          <a:bodyPr wrap="square" lIns="38100" tIns="19050" rIns="38100" bIns="19050" anchor="ctr">
            <a:spAutoFit/>
          </a:bodyPr>
          <a:lstStyle/>
          <a:p>
            <a:pPr algn="ctr">
              <a:lnSpc>
                <a:spcPct val="100000"/>
              </a:lnSpc>
              <a:spcBef>
                <a:spcPts val="0"/>
              </a:spcBef>
              <a:spcAft>
                <a:spcPts val="0"/>
              </a:spcAft>
              <a:defRPr sz="940" b="0">
                <a:solidFill>
                  <a:srgbClr val="FFFFFF"/>
                </a:solidFill>
              </a:defRPr>
            </a:pPr>
            <a:r>
              <a:rPr sz="1040" b="0" i="0">
                <a:solidFill>
                  <a:srgbClr val="FFFFFF"/>
                </a:solidFill>
                <a:latin typeface="Aptos"/>
              </a:rPr>
              <a:t>Measured 3D from one image</a:t>
            </a:r>
          </a:p>
        </p:txBody>
      </p:sp>
      <p:sp>
        <p:nvSpPr>
          <p:cNvPr id="17414" name="Rounded Rectangle 17413"/>
          <p:cNvSpPr/>
          <p:nvPr/>
        </p:nvSpPr>
        <p:spPr>
          <a:xfrm>
            <a:off x="640080" y="1554480"/>
            <a:ext cx="3364992" cy="1170432"/>
          </a:xfrm>
          <a:prstGeom prst="roundRect">
            <a:avLst/>
          </a:prstGeom>
          <a:solidFill>
            <a:srgbClr val="FFFFFF"/>
          </a:solidFill>
          <a:ln w="12700">
            <a:solidFill>
              <a:srgbClr val="D2742D"/>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15" name="Rounded Rectangle 17414"/>
          <p:cNvSpPr/>
          <p:nvPr/>
        </p:nvSpPr>
        <p:spPr>
          <a:xfrm>
            <a:off x="640080" y="1554480"/>
            <a:ext cx="3364992" cy="283464"/>
          </a:xfrm>
          <a:prstGeom prst="roundRect">
            <a:avLst/>
          </a:prstGeom>
          <a:solidFill>
            <a:srgbClr val="D2742D"/>
          </a:solidFill>
          <a:ln w="12700">
            <a:solidFill>
              <a:srgbClr val="D2742D"/>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16" name="TextBox 17415"/>
          <p:cNvSpPr txBox="1"/>
          <p:nvPr/>
        </p:nvSpPr>
        <p:spPr>
          <a:xfrm>
            <a:off x="731519" y="1581912"/>
            <a:ext cx="3182112" cy="228600"/>
          </a:xfrm>
          <a:prstGeom prst="rect">
            <a:avLst/>
          </a:prstGeom>
          <a:noFill/>
        </p:spPr>
        <p:txBody>
          <a:bodyPr wrap="square" lIns="38100" tIns="19050" rIns="38100" bIns="19050" anchor="ctr">
            <a:spAutoFit/>
          </a:bodyPr>
          <a:lstStyle/>
          <a:p>
            <a:pPr algn="l">
              <a:lnSpc>
                <a:spcPct val="100000"/>
              </a:lnSpc>
              <a:spcBef>
                <a:spcPts val="0"/>
              </a:spcBef>
              <a:spcAft>
                <a:spcPts val="0"/>
              </a:spcAft>
              <a:defRPr sz="1120" b="1">
                <a:solidFill>
                  <a:srgbClr val="FFFFFF"/>
                </a:solidFill>
              </a:defRPr>
            </a:pPr>
            <a:r>
              <a:rPr sz="1160" b="1" i="0">
                <a:solidFill>
                  <a:srgbClr val="FFFFFF"/>
                </a:solidFill>
                <a:latin typeface="Aptos"/>
              </a:rPr>
              <a:t>DISASTER MANAGEMENT</a:t>
            </a:r>
          </a:p>
        </p:txBody>
      </p:sp>
      <p:sp>
        <p:nvSpPr>
          <p:cNvPr id="17417" name="TextBox 17416"/>
          <p:cNvSpPr txBox="1"/>
          <p:nvPr/>
        </p:nvSpPr>
        <p:spPr>
          <a:xfrm>
            <a:off x="768096" y="2002536"/>
            <a:ext cx="3108960" cy="502920"/>
          </a:xfrm>
          <a:prstGeom prst="rect">
            <a:avLst/>
          </a:prstGeom>
          <a:noFill/>
        </p:spPr>
        <p:txBody>
          <a:bodyPr wrap="square" lIns="38100" tIns="19050" rIns="38100" bIns="19050" anchor="ctr">
            <a:spAutoFit/>
          </a:bodyPr>
          <a:lstStyle/>
          <a:p>
            <a:pPr>
              <a:spcBef>
                <a:spcPts val="0"/>
              </a:spcBef>
            </a:pPr>
            <a:r>
              <a:rPr sz="1000"/>
              <a:t>Flood-depth simulation · landslide-prone slopes · affected-building counts</a:t>
            </a:r>
          </a:p>
          <a:p>
            <a:pPr>
              <a:spcBef>
                <a:spcPts val="0"/>
              </a:spcBef>
            </a:pPr>
            <a:r>
              <a:rPr sz="1000" i="1" b="0"/>
              <a:t>Example: raise water to 3 m → see which buildings go under</a:t>
            </a:r>
          </a:p>
        </p:txBody>
      </p:sp>
      <p:sp>
        <p:nvSpPr>
          <p:cNvPr id="17418" name="Rounded Rectangle 17417"/>
          <p:cNvSpPr/>
          <p:nvPr/>
        </p:nvSpPr>
        <p:spPr>
          <a:xfrm>
            <a:off x="8183879" y="1554480"/>
            <a:ext cx="3364992" cy="1170432"/>
          </a:xfrm>
          <a:prstGeom prst="roundRect">
            <a:avLst/>
          </a:prstGeom>
          <a:solidFill>
            <a:srgbClr val="FFFFFF"/>
          </a:solidFill>
          <a:ln w="12700">
            <a:solidFill>
              <a:srgbClr val="2068AA"/>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19" name="Rounded Rectangle 17418"/>
          <p:cNvSpPr/>
          <p:nvPr/>
        </p:nvSpPr>
        <p:spPr>
          <a:xfrm>
            <a:off x="8183879" y="1554480"/>
            <a:ext cx="3364992" cy="283464"/>
          </a:xfrm>
          <a:prstGeom prst="roundRect">
            <a:avLst/>
          </a:prstGeom>
          <a:solidFill>
            <a:srgbClr val="2068AA"/>
          </a:solidFill>
          <a:ln w="12700">
            <a:solidFill>
              <a:srgbClr val="2068AA"/>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20" name="TextBox 17419"/>
          <p:cNvSpPr txBox="1"/>
          <p:nvPr/>
        </p:nvSpPr>
        <p:spPr>
          <a:xfrm>
            <a:off x="8275319" y="1581912"/>
            <a:ext cx="3182112" cy="228600"/>
          </a:xfrm>
          <a:prstGeom prst="rect">
            <a:avLst/>
          </a:prstGeom>
          <a:noFill/>
        </p:spPr>
        <p:txBody>
          <a:bodyPr wrap="square" lIns="38100" tIns="19050" rIns="38100" bIns="19050" anchor="ctr">
            <a:spAutoFit/>
          </a:bodyPr>
          <a:lstStyle/>
          <a:p>
            <a:pPr algn="l">
              <a:lnSpc>
                <a:spcPct val="100000"/>
              </a:lnSpc>
              <a:spcBef>
                <a:spcPts val="0"/>
              </a:spcBef>
              <a:spcAft>
                <a:spcPts val="0"/>
              </a:spcAft>
              <a:defRPr sz="1120" b="1">
                <a:solidFill>
                  <a:srgbClr val="FFFFFF"/>
                </a:solidFill>
              </a:defRPr>
            </a:pPr>
            <a:r>
              <a:rPr sz="1160" b="1" i="0">
                <a:solidFill>
                  <a:srgbClr val="FFFFFF"/>
                </a:solidFill>
                <a:latin typeface="Aptos"/>
              </a:rPr>
              <a:t>URBAN PLANNING</a:t>
            </a:r>
          </a:p>
        </p:txBody>
      </p:sp>
      <p:sp>
        <p:nvSpPr>
          <p:cNvPr id="17421" name="TextBox 17420"/>
          <p:cNvSpPr txBox="1"/>
          <p:nvPr/>
        </p:nvSpPr>
        <p:spPr>
          <a:xfrm>
            <a:off x="8311896" y="2002536"/>
            <a:ext cx="3108960" cy="502920"/>
          </a:xfrm>
          <a:prstGeom prst="rect">
            <a:avLst/>
          </a:prstGeom>
          <a:noFill/>
        </p:spPr>
        <p:txBody>
          <a:bodyPr wrap="square" lIns="38100" tIns="19050" rIns="38100" bIns="19050" anchor="ctr">
            <a:spAutoFit/>
          </a:bodyPr>
          <a:lstStyle/>
          <a:p>
            <a:pPr algn="l">
              <a:lnSpc>
                <a:spcPct val="108000"/>
              </a:lnSpc>
              <a:spcBef>
                <a:spcPts val="0"/>
              </a:spcBef>
              <a:spcAft>
                <a:spcPts val="0"/>
              </a:spcAft>
              <a:defRPr sz="990" b="0">
                <a:solidFill>
                  <a:srgbClr val="232B36"/>
                </a:solidFill>
              </a:defRPr>
            </a:pPr>
            <a:r>
              <a:rPr sz="1040" b="0" i="0">
                <a:solidFill>
                  <a:srgbClr val="24313F"/>
                </a:solidFill>
                <a:latin typeface="Aptos"/>
              </a:rPr>
              <a:t>Building heights and volumes · 3D base maps where no LiDAR exists</a:t>
            </a:r>
          </a:p>
        </p:txBody>
      </p:sp>
      <p:sp>
        <p:nvSpPr>
          <p:cNvPr id="17422" name="Rounded Rectangle 17421"/>
          <p:cNvSpPr/>
          <p:nvPr/>
        </p:nvSpPr>
        <p:spPr>
          <a:xfrm>
            <a:off x="640080" y="3273552"/>
            <a:ext cx="3246120" cy="1170432"/>
          </a:xfrm>
          <a:prstGeom prst="roundRect">
            <a:avLst/>
          </a:prstGeom>
          <a:solidFill>
            <a:srgbClr val="FFFFFF"/>
          </a:solidFill>
          <a:ln w="12700">
            <a:solidFill>
              <a:srgbClr val="228989"/>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23" name="Rounded Rectangle 17422"/>
          <p:cNvSpPr/>
          <p:nvPr/>
        </p:nvSpPr>
        <p:spPr>
          <a:xfrm>
            <a:off x="640080" y="3273552"/>
            <a:ext cx="3246120" cy="283464"/>
          </a:xfrm>
          <a:prstGeom prst="roundRect">
            <a:avLst/>
          </a:prstGeom>
          <a:solidFill>
            <a:srgbClr val="228989"/>
          </a:solidFill>
          <a:ln w="12700">
            <a:solidFill>
              <a:srgbClr val="228989"/>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24" name="TextBox 17423"/>
          <p:cNvSpPr txBox="1"/>
          <p:nvPr/>
        </p:nvSpPr>
        <p:spPr>
          <a:xfrm>
            <a:off x="731519" y="3306793"/>
            <a:ext cx="3069700" cy="216982"/>
          </a:xfrm>
          <a:prstGeom prst="rect">
            <a:avLst/>
          </a:prstGeom>
          <a:noFill/>
        </p:spPr>
        <p:txBody>
          <a:bodyPr wrap="square" lIns="38100" tIns="19050" rIns="38100" bIns="19050" anchor="ctr">
            <a:spAutoFit/>
          </a:bodyPr>
          <a:lstStyle/>
          <a:p>
            <a:pPr algn="l">
              <a:lnSpc>
                <a:spcPct val="100000"/>
              </a:lnSpc>
              <a:spcBef>
                <a:spcPts val="0"/>
              </a:spcBef>
              <a:spcAft>
                <a:spcPts val="0"/>
              </a:spcAft>
              <a:defRPr sz="1120" b="1">
                <a:solidFill>
                  <a:srgbClr val="FFFFFF"/>
                </a:solidFill>
              </a:defRPr>
            </a:pPr>
            <a:r>
              <a:rPr sz="1160" b="1" i="0">
                <a:solidFill>
                  <a:srgbClr val="FFFFFF"/>
                </a:solidFill>
                <a:latin typeface="Aptos"/>
              </a:rPr>
              <a:t>REMOTE SENSING (ISRO)</a:t>
            </a:r>
          </a:p>
        </p:txBody>
      </p:sp>
      <p:sp>
        <p:nvSpPr>
          <p:cNvPr id="17425" name="TextBox 17424"/>
          <p:cNvSpPr txBox="1"/>
          <p:nvPr/>
        </p:nvSpPr>
        <p:spPr>
          <a:xfrm>
            <a:off x="768096" y="3803021"/>
            <a:ext cx="2999133" cy="340093"/>
          </a:xfrm>
          <a:prstGeom prst="rect">
            <a:avLst/>
          </a:prstGeom>
          <a:noFill/>
        </p:spPr>
        <p:txBody>
          <a:bodyPr wrap="square" lIns="38100" tIns="19050" rIns="38100" bIns="19050" anchor="ctr">
            <a:spAutoFit/>
          </a:bodyPr>
          <a:lstStyle/>
          <a:p>
            <a:pPr>
              <a:spcBef>
                <a:spcPts val="0"/>
              </a:spcBef>
            </a:pPr>
            <a:r>
              <a:rPr sz="980" dirty="0"/>
              <a:t>More value from existing optical archives · fresh 3D from every new image, no stereo tasking</a:t>
            </a:r>
          </a:p>
        </p:txBody>
      </p:sp>
      <p:sp>
        <p:nvSpPr>
          <p:cNvPr id="17426" name="Rounded Rectangle 17425"/>
          <p:cNvSpPr/>
          <p:nvPr/>
        </p:nvSpPr>
        <p:spPr>
          <a:xfrm>
            <a:off x="8330183" y="3273552"/>
            <a:ext cx="3218687" cy="1170432"/>
          </a:xfrm>
          <a:prstGeom prst="roundRect">
            <a:avLst/>
          </a:prstGeom>
          <a:solidFill>
            <a:srgbClr val="FFFFFF"/>
          </a:solidFill>
          <a:ln w="12700">
            <a:solidFill>
              <a:srgbClr val="45885C"/>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27" name="Rounded Rectangle 17426"/>
          <p:cNvSpPr/>
          <p:nvPr/>
        </p:nvSpPr>
        <p:spPr>
          <a:xfrm>
            <a:off x="8330183" y="3273552"/>
            <a:ext cx="3218687" cy="283464"/>
          </a:xfrm>
          <a:prstGeom prst="roundRect">
            <a:avLst/>
          </a:prstGeom>
          <a:solidFill>
            <a:srgbClr val="45885C"/>
          </a:solidFill>
          <a:ln w="12700">
            <a:solidFill>
              <a:srgbClr val="45885C"/>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28" name="TextBox 17427"/>
          <p:cNvSpPr txBox="1"/>
          <p:nvPr/>
        </p:nvSpPr>
        <p:spPr>
          <a:xfrm>
            <a:off x="8413673" y="3306793"/>
            <a:ext cx="3043758" cy="216982"/>
          </a:xfrm>
          <a:prstGeom prst="rect">
            <a:avLst/>
          </a:prstGeom>
          <a:noFill/>
        </p:spPr>
        <p:txBody>
          <a:bodyPr wrap="square" lIns="38100" tIns="19050" rIns="38100" bIns="19050" anchor="ctr">
            <a:spAutoFit/>
          </a:bodyPr>
          <a:lstStyle/>
          <a:p>
            <a:pPr algn="l">
              <a:lnSpc>
                <a:spcPct val="100000"/>
              </a:lnSpc>
              <a:spcBef>
                <a:spcPts val="0"/>
              </a:spcBef>
              <a:spcAft>
                <a:spcPts val="0"/>
              </a:spcAft>
              <a:defRPr sz="1120" b="1">
                <a:solidFill>
                  <a:srgbClr val="FFFFFF"/>
                </a:solidFill>
              </a:defRPr>
            </a:pPr>
            <a:r>
              <a:rPr sz="1160" b="1" i="0">
                <a:solidFill>
                  <a:srgbClr val="FFFFFF"/>
                </a:solidFill>
                <a:latin typeface="Aptos"/>
              </a:rPr>
              <a:t>FIELD RESPONSE</a:t>
            </a:r>
          </a:p>
        </p:txBody>
      </p:sp>
      <p:sp>
        <p:nvSpPr>
          <p:cNvPr id="17429" name="TextBox 17428"/>
          <p:cNvSpPr txBox="1"/>
          <p:nvPr/>
        </p:nvSpPr>
        <p:spPr>
          <a:xfrm>
            <a:off x="8447068" y="3870540"/>
            <a:ext cx="2973787" cy="205056"/>
          </a:xfrm>
          <a:prstGeom prst="rect">
            <a:avLst/>
          </a:prstGeom>
          <a:noFill/>
        </p:spPr>
        <p:txBody>
          <a:bodyPr wrap="square" lIns="38100" tIns="19050" rIns="38100" bIns="19050" anchor="ctr">
            <a:spAutoFit/>
          </a:bodyPr>
          <a:lstStyle/>
          <a:p>
            <a:pPr algn="l">
              <a:lnSpc>
                <a:spcPct val="108000"/>
              </a:lnSpc>
              <a:spcBef>
                <a:spcPts val="0"/>
              </a:spcBef>
              <a:spcAft>
                <a:spcPts val="0"/>
              </a:spcAft>
              <a:defRPr sz="990" b="0">
                <a:solidFill>
                  <a:srgbClr val="232B36"/>
                </a:solidFill>
              </a:defRPr>
            </a:pPr>
            <a:r>
              <a:rPr sz="1040" b="0" i="0">
                <a:solidFill>
                  <a:srgbClr val="24313F"/>
                </a:solidFill>
                <a:latin typeface="Aptos"/>
              </a:rPr>
              <a:t>Fly-through + street view for team briefings · line-of-sight / viewshed for relief staging</a:t>
            </a:r>
          </a:p>
        </p:txBody>
      </p:sp>
      <p:sp>
        <p:nvSpPr>
          <p:cNvPr id="17430" name="Right Arrow 17429"/>
          <p:cNvSpPr/>
          <p:nvPr/>
        </p:nvSpPr>
        <p:spPr>
          <a:xfrm>
            <a:off x="4119172" y="1901952"/>
            <a:ext cx="384048" cy="256032"/>
          </a:xfrm>
          <a:prstGeom prst="rightArrow">
            <a:avLst/>
          </a:prstGeom>
          <a:solidFill>
            <a:srgbClr val="5C68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31" name="Right Arrow 17430"/>
          <p:cNvSpPr/>
          <p:nvPr/>
        </p:nvSpPr>
        <p:spPr>
          <a:xfrm>
            <a:off x="7622516" y="1892967"/>
            <a:ext cx="384048" cy="256032"/>
          </a:xfrm>
          <a:prstGeom prst="rightArrow">
            <a:avLst/>
          </a:prstGeom>
          <a:solidFill>
            <a:srgbClr val="5C68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32" name="Right Arrow 17431"/>
          <p:cNvSpPr/>
          <p:nvPr/>
        </p:nvSpPr>
        <p:spPr>
          <a:xfrm>
            <a:off x="4087368" y="3621024"/>
            <a:ext cx="384048" cy="256032"/>
          </a:xfrm>
          <a:prstGeom prst="rightArrow">
            <a:avLst/>
          </a:prstGeom>
          <a:solidFill>
            <a:srgbClr val="5C68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33" name="Right Arrow 17432"/>
          <p:cNvSpPr/>
          <p:nvPr/>
        </p:nvSpPr>
        <p:spPr>
          <a:xfrm>
            <a:off x="7543800" y="3621024"/>
            <a:ext cx="384048" cy="256032"/>
          </a:xfrm>
          <a:prstGeom prst="rightArrow">
            <a:avLst/>
          </a:prstGeom>
          <a:solidFill>
            <a:srgbClr val="5C68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34" name="Rounded Rectangle 17433"/>
          <p:cNvSpPr/>
          <p:nvPr/>
        </p:nvSpPr>
        <p:spPr>
          <a:xfrm>
            <a:off x="640080" y="4846320"/>
            <a:ext cx="3520440" cy="804672"/>
          </a:xfrm>
          <a:prstGeom prst="roundRect">
            <a:avLst/>
          </a:prstGeom>
          <a:solidFill>
            <a:srgbClr val="F4F7FB"/>
          </a:solidFill>
          <a:ln w="12700">
            <a:solidFill>
              <a:srgbClr val="D2742D"/>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35" name="TextBox 17434"/>
          <p:cNvSpPr txBox="1"/>
          <p:nvPr/>
        </p:nvSpPr>
        <p:spPr>
          <a:xfrm>
            <a:off x="731519" y="4956048"/>
            <a:ext cx="3337560" cy="192024"/>
          </a:xfrm>
          <a:prstGeom prst="rect">
            <a:avLst/>
          </a:prstGeom>
          <a:noFill/>
        </p:spPr>
        <p:txBody>
          <a:bodyPr wrap="square" lIns="38100" tIns="19050" rIns="38100" bIns="19050" anchor="ctr">
            <a:spAutoFit/>
          </a:bodyPr>
          <a:lstStyle/>
          <a:p>
            <a:pPr algn="l">
              <a:lnSpc>
                <a:spcPct val="100000"/>
              </a:lnSpc>
              <a:spcBef>
                <a:spcPts val="0"/>
              </a:spcBef>
              <a:spcAft>
                <a:spcPts val="0"/>
              </a:spcAft>
              <a:defRPr sz="1050" b="1">
                <a:solidFill>
                  <a:srgbClr val="D2742D"/>
                </a:solidFill>
              </a:defRPr>
            </a:pPr>
            <a:r>
              <a:rPr sz="1040" b="1" i="0">
                <a:solidFill>
                  <a:srgbClr val="17273A"/>
                </a:solidFill>
                <a:latin typeface="Aptos"/>
              </a:rPr>
              <a:t>ECONOMIC</a:t>
            </a:r>
          </a:p>
        </p:txBody>
      </p:sp>
      <p:sp>
        <p:nvSpPr>
          <p:cNvPr id="17436" name="TextBox 17435"/>
          <p:cNvSpPr txBox="1"/>
          <p:nvPr/>
        </p:nvSpPr>
        <p:spPr>
          <a:xfrm>
            <a:off x="777240" y="5212080"/>
            <a:ext cx="3246120" cy="283464"/>
          </a:xfrm>
          <a:prstGeom prst="rect">
            <a:avLst/>
          </a:prstGeom>
          <a:noFill/>
        </p:spPr>
        <p:txBody>
          <a:bodyPr wrap="square" lIns="38100" tIns="19050" rIns="38100" bIns="19050" anchor="ctr">
            <a:spAutoFit/>
          </a:bodyPr>
          <a:lstStyle/>
          <a:p>
            <a:pPr algn="l">
              <a:lnSpc>
                <a:spcPct val="105000"/>
              </a:lnSpc>
              <a:spcBef>
                <a:spcPts val="0"/>
              </a:spcBef>
              <a:spcAft>
                <a:spcPts val="0"/>
              </a:spcAft>
              <a:defRPr sz="900" b="0">
                <a:solidFill>
                  <a:srgbClr val="232B36"/>
                </a:solidFill>
              </a:defRPr>
            </a:pPr>
            <a:r>
              <a:rPr sz="1050" b="0" i="0">
                <a:solidFill>
                  <a:srgbClr val="24313F"/>
                </a:solidFill>
                <a:latin typeface="Aptos"/>
              </a:rPr>
              <a:t>Reuse existing images instead of new LiDAR/stereo surveys for every event</a:t>
            </a:r>
          </a:p>
        </p:txBody>
      </p:sp>
      <p:sp>
        <p:nvSpPr>
          <p:cNvPr id="17437" name="Rounded Rectangle 17436"/>
          <p:cNvSpPr/>
          <p:nvPr/>
        </p:nvSpPr>
        <p:spPr>
          <a:xfrm>
            <a:off x="4343400" y="4846320"/>
            <a:ext cx="3520440" cy="804672"/>
          </a:xfrm>
          <a:prstGeom prst="roundRect">
            <a:avLst/>
          </a:prstGeom>
          <a:solidFill>
            <a:srgbClr val="F4F7FB"/>
          </a:solidFill>
          <a:ln w="12700">
            <a:solidFill>
              <a:srgbClr val="228989"/>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38" name="TextBox 17437"/>
          <p:cNvSpPr txBox="1"/>
          <p:nvPr/>
        </p:nvSpPr>
        <p:spPr>
          <a:xfrm>
            <a:off x="4434840" y="4956048"/>
            <a:ext cx="3337560" cy="192024"/>
          </a:xfrm>
          <a:prstGeom prst="rect">
            <a:avLst/>
          </a:prstGeom>
          <a:noFill/>
        </p:spPr>
        <p:txBody>
          <a:bodyPr wrap="square" lIns="38100" tIns="19050" rIns="38100" bIns="19050" anchor="ctr">
            <a:spAutoFit/>
          </a:bodyPr>
          <a:lstStyle/>
          <a:p>
            <a:pPr algn="l">
              <a:lnSpc>
                <a:spcPct val="100000"/>
              </a:lnSpc>
              <a:spcBef>
                <a:spcPts val="0"/>
              </a:spcBef>
              <a:spcAft>
                <a:spcPts val="0"/>
              </a:spcAft>
              <a:defRPr sz="1050" b="1">
                <a:solidFill>
                  <a:srgbClr val="228989"/>
                </a:solidFill>
              </a:defRPr>
            </a:pPr>
            <a:r>
              <a:rPr sz="1040" b="1" i="0">
                <a:solidFill>
                  <a:srgbClr val="17273A"/>
                </a:solidFill>
                <a:latin typeface="Aptos"/>
              </a:rPr>
              <a:t>SOCIAL</a:t>
            </a:r>
          </a:p>
        </p:txBody>
      </p:sp>
      <p:sp>
        <p:nvSpPr>
          <p:cNvPr id="17439" name="TextBox 17438"/>
          <p:cNvSpPr txBox="1"/>
          <p:nvPr/>
        </p:nvSpPr>
        <p:spPr>
          <a:xfrm>
            <a:off x="4480560" y="5212080"/>
            <a:ext cx="3246120" cy="283464"/>
          </a:xfrm>
          <a:prstGeom prst="rect">
            <a:avLst/>
          </a:prstGeom>
          <a:noFill/>
        </p:spPr>
        <p:txBody>
          <a:bodyPr wrap="square" lIns="38100" tIns="19050" rIns="38100" bIns="19050" anchor="ctr">
            <a:spAutoFit/>
          </a:bodyPr>
          <a:lstStyle/>
          <a:p>
            <a:pPr algn="l">
              <a:lnSpc>
                <a:spcPct val="105000"/>
              </a:lnSpc>
              <a:spcBef>
                <a:spcPts val="0"/>
              </a:spcBef>
              <a:spcAft>
                <a:spcPts val="0"/>
              </a:spcAft>
              <a:defRPr sz="900" b="0">
                <a:solidFill>
                  <a:srgbClr val="232B36"/>
                </a:solidFill>
              </a:defRPr>
            </a:pPr>
            <a:r>
              <a:rPr sz="1050" b="0" i="0">
                <a:solidFill>
                  <a:srgbClr val="24313F"/>
                </a:solidFill>
                <a:latin typeface="Aptos"/>
              </a:rPr>
              <a:t>Faster 3D damage picture; works offline in the field</a:t>
            </a:r>
          </a:p>
        </p:txBody>
      </p:sp>
      <p:sp>
        <p:nvSpPr>
          <p:cNvPr id="17440" name="Rounded Rectangle 17439"/>
          <p:cNvSpPr/>
          <p:nvPr/>
        </p:nvSpPr>
        <p:spPr>
          <a:xfrm>
            <a:off x="8046719" y="4846320"/>
            <a:ext cx="3520440" cy="804672"/>
          </a:xfrm>
          <a:prstGeom prst="roundRect">
            <a:avLst/>
          </a:prstGeom>
          <a:solidFill>
            <a:srgbClr val="F4F7FB"/>
          </a:solidFill>
          <a:ln w="12700">
            <a:solidFill>
              <a:srgbClr val="45885C"/>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41" name="TextBox 17440"/>
          <p:cNvSpPr txBox="1"/>
          <p:nvPr/>
        </p:nvSpPr>
        <p:spPr>
          <a:xfrm>
            <a:off x="8138159" y="4956048"/>
            <a:ext cx="3337560" cy="192024"/>
          </a:xfrm>
          <a:prstGeom prst="rect">
            <a:avLst/>
          </a:prstGeom>
          <a:noFill/>
        </p:spPr>
        <p:txBody>
          <a:bodyPr wrap="square" lIns="38100" tIns="19050" rIns="38100" bIns="19050" anchor="ctr">
            <a:spAutoFit/>
          </a:bodyPr>
          <a:lstStyle/>
          <a:p>
            <a:pPr algn="l">
              <a:lnSpc>
                <a:spcPct val="100000"/>
              </a:lnSpc>
              <a:spcBef>
                <a:spcPts val="0"/>
              </a:spcBef>
              <a:spcAft>
                <a:spcPts val="0"/>
              </a:spcAft>
              <a:defRPr sz="1050" b="1">
                <a:solidFill>
                  <a:srgbClr val="45885C"/>
                </a:solidFill>
              </a:defRPr>
            </a:pPr>
            <a:r>
              <a:rPr sz="1040" b="1" i="0">
                <a:solidFill>
                  <a:srgbClr val="17273A"/>
                </a:solidFill>
                <a:latin typeface="Aptos"/>
              </a:rPr>
              <a:t>ENVIRONMENTAL</a:t>
            </a:r>
          </a:p>
        </p:txBody>
      </p:sp>
      <p:sp>
        <p:nvSpPr>
          <p:cNvPr id="17442" name="TextBox 17441"/>
          <p:cNvSpPr txBox="1"/>
          <p:nvPr/>
        </p:nvSpPr>
        <p:spPr>
          <a:xfrm>
            <a:off x="8183879" y="5212080"/>
            <a:ext cx="3246120" cy="283464"/>
          </a:xfrm>
          <a:prstGeom prst="rect">
            <a:avLst/>
          </a:prstGeom>
          <a:noFill/>
        </p:spPr>
        <p:txBody>
          <a:bodyPr wrap="square" lIns="38100" tIns="19050" rIns="38100" bIns="19050" anchor="ctr">
            <a:spAutoFit/>
          </a:bodyPr>
          <a:lstStyle/>
          <a:p>
            <a:pPr algn="l">
              <a:lnSpc>
                <a:spcPct val="105000"/>
              </a:lnSpc>
              <a:spcBef>
                <a:spcPts val="0"/>
              </a:spcBef>
              <a:spcAft>
                <a:spcPts val="0"/>
              </a:spcAft>
              <a:defRPr sz="900" b="0">
                <a:solidFill>
                  <a:srgbClr val="232B36"/>
                </a:solidFill>
              </a:defRPr>
            </a:pPr>
            <a:r>
              <a:rPr sz="1050" b="0" i="0">
                <a:solidFill>
                  <a:srgbClr val="24313F"/>
                </a:solidFill>
                <a:latin typeface="Aptos"/>
              </a:rPr>
              <a:t>Terrain, slope and canopy context for flood, landslide and forest monitoring</a:t>
            </a:r>
          </a:p>
        </p:txBody>
      </p:sp>
      <p:sp>
        <p:nvSpPr>
          <p:cNvPr id="17443" name="TextBox 17442"/>
          <p:cNvSpPr txBox="1"/>
          <p:nvPr/>
        </p:nvSpPr>
        <p:spPr>
          <a:xfrm>
            <a:off x="3611880" y="5907024"/>
            <a:ext cx="4983480" cy="219456"/>
          </a:xfrm>
          <a:prstGeom prst="rect">
            <a:avLst/>
          </a:prstGeom>
          <a:noFill/>
        </p:spPr>
        <p:txBody>
          <a:bodyPr wrap="square" lIns="38100" tIns="19050" rIns="38100" bIns="19050" anchor="ctr">
            <a:spAutoFit/>
          </a:bodyPr>
          <a:lstStyle/>
          <a:p>
            <a:pPr algn="ctr">
              <a:lnSpc>
                <a:spcPct val="100000"/>
              </a:lnSpc>
              <a:spcBef>
                <a:spcPts val="0"/>
              </a:spcBef>
              <a:spcAft>
                <a:spcPts val="0"/>
              </a:spcAft>
              <a:defRPr sz="900" b="1">
                <a:solidFill>
                  <a:srgbClr val="152742"/>
                </a:solidFill>
              </a:defRPr>
            </a:pPr>
            <a:r>
              <a:rPr sz="1040" b="1" i="0">
                <a:solidFill>
                  <a:srgbClr val="FFFFFF"/>
                </a:solidFill>
                <a:latin typeface="Aptos"/>
              </a:rPr>
              <a:t>ONE SATELLITE IMAGE → VERIFIED 3D → FASTER DECISIONS</a:t>
            </a:r>
          </a:p>
        </p:txBody>
      </p:sp>
      <p:pic>
        <p:nvPicPr>
          <p:cNvPr id="17445" name="Picture 17444" descr="terravista_icon.png"/>
          <p:cNvPicPr>
            <a:picLocks noChangeAspect="1"/>
          </p:cNvPicPr>
          <p:nvPr/>
        </p:nvPicPr>
        <p:blipFill>
          <a:blip r:embed="rId3"/>
          <a:stretch>
            <a:fillRect/>
          </a:stretch>
        </p:blipFill>
        <p:spPr>
          <a:xfrm>
            <a:off x="338328" y="356616"/>
            <a:ext cx="347472" cy="347472"/>
          </a:xfrm>
          <a:prstGeom prst="rect">
            <a:avLst/>
          </a:prstGeom>
        </p:spPr>
      </p:pic>
      <p:sp>
        <p:nvSpPr>
          <p:cNvPr id="17446" name="TextBox 17445"/>
          <p:cNvSpPr txBox="1"/>
          <p:nvPr/>
        </p:nvSpPr>
        <p:spPr>
          <a:xfrm>
            <a:off x="740664" y="352044"/>
            <a:ext cx="914400" cy="310896"/>
          </a:xfrm>
          <a:prstGeom prst="rect">
            <a:avLst/>
          </a:prstGeom>
          <a:noFill/>
        </p:spPr>
        <p:txBody>
          <a:bodyPr wrap="none" lIns="0" tIns="0" rIns="0" bIns="0">
            <a:spAutoFit/>
          </a:bodyPr>
          <a:lstStyle/>
          <a:p>
            <a:pPr algn="l">
              <a:spcBef>
                <a:spcPts val="0"/>
              </a:spcBef>
              <a:spcAft>
                <a:spcPts val="0"/>
              </a:spcAft>
            </a:pPr>
            <a:r>
              <a:rPr sz="1050" b="1" i="0">
                <a:solidFill>
                  <a:srgbClr val="17273A"/>
                </a:solidFill>
                <a:latin typeface="Aptos"/>
              </a:rPr>
              <a:t>TerraVista</a:t>
            </a:r>
          </a:p>
        </p:txBody>
      </p:sp>
      <p:pic>
        <p:nvPicPr>
          <p:cNvPr id="17447" name="Picture 17446" descr="image2.png"/>
          <p:cNvPicPr>
            <a:picLocks noChangeAspect="1"/>
          </p:cNvPicPr>
          <p:nvPr/>
        </p:nvPicPr>
        <p:blipFill>
          <a:blip r:embed="rId4"/>
          <a:stretch>
            <a:fillRect/>
          </a:stretch>
        </p:blipFill>
        <p:spPr>
          <a:xfrm>
            <a:off x="9841366" y="57097"/>
            <a:ext cx="2209120" cy="1122868"/>
          </a:xfrm>
          <a:prstGeom prst="rect">
            <a:avLst/>
          </a:prstGeom>
        </p:spPr>
      </p:pic>
      <p:sp>
        <p:nvSpPr>
          <p:cNvPr id="17448" name="TextBox 17447"/>
          <p:cNvSpPr txBox="1"/>
          <p:nvPr/>
        </p:nvSpPr>
        <p:spPr>
          <a:xfrm>
            <a:off x="4061459" y="2568271"/>
            <a:ext cx="4069080" cy="219456"/>
          </a:xfrm>
          <a:prstGeom prst="rect">
            <a:avLst/>
          </a:prstGeom>
          <a:noFill/>
        </p:spPr>
        <p:txBody>
          <a:bodyPr wrap="square" lIns="45720" rIns="45720" anchor="ctr">
            <a:spAutoFit/>
          </a:bodyPr>
          <a:lstStyle/>
          <a:p>
            <a:pPr algn="ctr"/>
            <a:r>
              <a:rPr sz="850" b="1" dirty="0">
                <a:solidFill>
                  <a:srgbClr val="5C6874"/>
                </a:solidFill>
                <a:latin typeface="Aptos"/>
              </a:rPr>
              <a:t>FROM TERRAIN DATA TO ACTIONABLE INTELLIGENCE</a:t>
            </a:r>
          </a:p>
        </p:txBody>
      </p:sp>
      <p:sp>
        <p:nvSpPr>
          <p:cNvPr id="17449" name="Rounded Rectangle 17448"/>
          <p:cNvSpPr/>
          <p:nvPr/>
        </p:nvSpPr>
        <p:spPr>
          <a:xfrm>
            <a:off x="4069080" y="3127248"/>
            <a:ext cx="1170432" cy="841248"/>
          </a:xfrm>
          <a:prstGeom prst="roundRect">
            <a:avLst/>
          </a:prstGeom>
          <a:solidFill>
            <a:srgbClr val="E8F2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50" name="TextBox 17449"/>
          <p:cNvSpPr txBox="1"/>
          <p:nvPr/>
        </p:nvSpPr>
        <p:spPr>
          <a:xfrm>
            <a:off x="4114800" y="3182112"/>
            <a:ext cx="1078992" cy="182880"/>
          </a:xfrm>
          <a:prstGeom prst="rect">
            <a:avLst/>
          </a:prstGeom>
          <a:noFill/>
        </p:spPr>
        <p:txBody>
          <a:bodyPr wrap="square" lIns="45720" rIns="45720" anchor="ctr">
            <a:spAutoFit/>
          </a:bodyPr>
          <a:lstStyle/>
          <a:p>
            <a:pPr algn="ctr"/>
            <a:r>
              <a:rPr sz="850" b="1">
                <a:solidFill>
                  <a:srgbClr val="0E63DC"/>
                </a:solidFill>
                <a:latin typeface="Aptos"/>
              </a:rPr>
              <a:t>1</a:t>
            </a:r>
          </a:p>
        </p:txBody>
      </p:sp>
      <p:sp>
        <p:nvSpPr>
          <p:cNvPr id="17451" name="TextBox 17450"/>
          <p:cNvSpPr txBox="1"/>
          <p:nvPr/>
        </p:nvSpPr>
        <p:spPr>
          <a:xfrm>
            <a:off x="4114800" y="3374136"/>
            <a:ext cx="1078992" cy="210312"/>
          </a:xfrm>
          <a:prstGeom prst="rect">
            <a:avLst/>
          </a:prstGeom>
          <a:noFill/>
        </p:spPr>
        <p:txBody>
          <a:bodyPr wrap="square" lIns="45720" rIns="45720" anchor="ctr">
            <a:spAutoFit/>
          </a:bodyPr>
          <a:lstStyle/>
          <a:p>
            <a:pPr algn="ctr"/>
            <a:r>
              <a:rPr sz="950" b="1">
                <a:solidFill>
                  <a:srgbClr val="17273A"/>
                </a:solidFill>
                <a:latin typeface="Aptos"/>
              </a:rPr>
              <a:t>HEIGHT MAP</a:t>
            </a:r>
          </a:p>
        </p:txBody>
      </p:sp>
      <p:sp>
        <p:nvSpPr>
          <p:cNvPr id="17452" name="TextBox 17451"/>
          <p:cNvSpPr txBox="1"/>
          <p:nvPr/>
        </p:nvSpPr>
        <p:spPr>
          <a:xfrm>
            <a:off x="4114800" y="3602736"/>
            <a:ext cx="1078992" cy="237744"/>
          </a:xfrm>
          <a:prstGeom prst="rect">
            <a:avLst/>
          </a:prstGeom>
          <a:noFill/>
        </p:spPr>
        <p:txBody>
          <a:bodyPr wrap="square" lIns="45720" rIns="45720" anchor="ctr">
            <a:spAutoFit/>
          </a:bodyPr>
          <a:lstStyle/>
          <a:p>
            <a:pPr algn="ctr"/>
            <a:r>
              <a:rPr sz="770" b="0">
                <a:solidFill>
                  <a:srgbClr val="5C6874"/>
                </a:solidFill>
                <a:latin typeface="Aptos"/>
              </a:rPr>
              <a:t>per pixel</a:t>
            </a:r>
          </a:p>
        </p:txBody>
      </p:sp>
      <p:sp>
        <p:nvSpPr>
          <p:cNvPr id="17453" name="Rounded Rectangle 17452"/>
          <p:cNvSpPr/>
          <p:nvPr/>
        </p:nvSpPr>
        <p:spPr>
          <a:xfrm>
            <a:off x="5440680" y="3127248"/>
            <a:ext cx="1417320" cy="841248"/>
          </a:xfrm>
          <a:prstGeom prst="roundRect">
            <a:avLst/>
          </a:prstGeom>
          <a:solidFill>
            <a:srgbClr val="E8F9F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54" name="TextBox 17453"/>
          <p:cNvSpPr txBox="1"/>
          <p:nvPr/>
        </p:nvSpPr>
        <p:spPr>
          <a:xfrm>
            <a:off x="5486400" y="3182112"/>
            <a:ext cx="1325880" cy="182880"/>
          </a:xfrm>
          <a:prstGeom prst="rect">
            <a:avLst/>
          </a:prstGeom>
          <a:noFill/>
        </p:spPr>
        <p:txBody>
          <a:bodyPr wrap="square" lIns="45720" rIns="45720" anchor="ctr">
            <a:spAutoFit/>
          </a:bodyPr>
          <a:lstStyle/>
          <a:p>
            <a:pPr algn="ctr"/>
            <a:r>
              <a:rPr sz="850" b="1">
                <a:solidFill>
                  <a:srgbClr val="0E63DC"/>
                </a:solidFill>
                <a:latin typeface="Aptos"/>
              </a:rPr>
              <a:t>2</a:t>
            </a:r>
          </a:p>
        </p:txBody>
      </p:sp>
      <p:sp>
        <p:nvSpPr>
          <p:cNvPr id="17455" name="TextBox 17454"/>
          <p:cNvSpPr txBox="1"/>
          <p:nvPr/>
        </p:nvSpPr>
        <p:spPr>
          <a:xfrm>
            <a:off x="5486400" y="3374136"/>
            <a:ext cx="1325880" cy="210312"/>
          </a:xfrm>
          <a:prstGeom prst="rect">
            <a:avLst/>
          </a:prstGeom>
          <a:noFill/>
        </p:spPr>
        <p:txBody>
          <a:bodyPr wrap="square" lIns="45720" rIns="45720" anchor="ctr">
            <a:spAutoFit/>
          </a:bodyPr>
          <a:lstStyle/>
          <a:p>
            <a:pPr algn="ctr"/>
            <a:r>
              <a:rPr sz="950" b="1">
                <a:solidFill>
                  <a:srgbClr val="17273A"/>
                </a:solidFill>
                <a:latin typeface="Aptos"/>
              </a:rPr>
              <a:t>VERIFIED 3D</a:t>
            </a:r>
          </a:p>
        </p:txBody>
      </p:sp>
      <p:sp>
        <p:nvSpPr>
          <p:cNvPr id="17456" name="TextBox 17455"/>
          <p:cNvSpPr txBox="1"/>
          <p:nvPr/>
        </p:nvSpPr>
        <p:spPr>
          <a:xfrm>
            <a:off x="5486400" y="3602736"/>
            <a:ext cx="1325880" cy="237744"/>
          </a:xfrm>
          <a:prstGeom prst="rect">
            <a:avLst/>
          </a:prstGeom>
          <a:noFill/>
        </p:spPr>
        <p:txBody>
          <a:bodyPr wrap="square" lIns="45720" rIns="45720" anchor="ctr">
            <a:spAutoFit/>
          </a:bodyPr>
          <a:lstStyle/>
          <a:p>
            <a:pPr algn="ctr"/>
            <a:r>
              <a:rPr sz="770" b="0">
                <a:solidFill>
                  <a:srgbClr val="5C6874"/>
                </a:solidFill>
                <a:latin typeface="Aptos"/>
              </a:rPr>
              <a:t>metres + ICESat-2</a:t>
            </a:r>
          </a:p>
        </p:txBody>
      </p:sp>
      <p:sp>
        <p:nvSpPr>
          <p:cNvPr id="17457" name="Rounded Rectangle 17456"/>
          <p:cNvSpPr/>
          <p:nvPr/>
        </p:nvSpPr>
        <p:spPr>
          <a:xfrm>
            <a:off x="7059168" y="3127248"/>
            <a:ext cx="1115568" cy="841248"/>
          </a:xfrm>
          <a:prstGeom prst="roundRect">
            <a:avLst/>
          </a:prstGeom>
          <a:solidFill>
            <a:srgbClr val="F1E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58" name="TextBox 17457"/>
          <p:cNvSpPr txBox="1"/>
          <p:nvPr/>
        </p:nvSpPr>
        <p:spPr>
          <a:xfrm>
            <a:off x="7104888" y="3182112"/>
            <a:ext cx="1024127" cy="182880"/>
          </a:xfrm>
          <a:prstGeom prst="rect">
            <a:avLst/>
          </a:prstGeom>
          <a:noFill/>
        </p:spPr>
        <p:txBody>
          <a:bodyPr wrap="square" lIns="45720" rIns="45720" anchor="ctr">
            <a:spAutoFit/>
          </a:bodyPr>
          <a:lstStyle/>
          <a:p>
            <a:pPr algn="ctr"/>
            <a:r>
              <a:rPr sz="850" b="1">
                <a:solidFill>
                  <a:srgbClr val="0E63DC"/>
                </a:solidFill>
                <a:latin typeface="Aptos"/>
              </a:rPr>
              <a:t>3</a:t>
            </a:r>
          </a:p>
        </p:txBody>
      </p:sp>
      <p:sp>
        <p:nvSpPr>
          <p:cNvPr id="17459" name="TextBox 17458"/>
          <p:cNvSpPr txBox="1"/>
          <p:nvPr/>
        </p:nvSpPr>
        <p:spPr>
          <a:xfrm>
            <a:off x="7104888" y="3374136"/>
            <a:ext cx="1024127" cy="210312"/>
          </a:xfrm>
          <a:prstGeom prst="rect">
            <a:avLst/>
          </a:prstGeom>
          <a:noFill/>
        </p:spPr>
        <p:txBody>
          <a:bodyPr wrap="square" lIns="45720" rIns="45720" anchor="ctr">
            <a:spAutoFit/>
          </a:bodyPr>
          <a:lstStyle/>
          <a:p>
            <a:pPr algn="ctr"/>
            <a:r>
              <a:rPr sz="950" b="1">
                <a:solidFill>
                  <a:srgbClr val="17273A"/>
                </a:solidFill>
                <a:latin typeface="Aptos"/>
              </a:rPr>
              <a:t>DECISION</a:t>
            </a:r>
          </a:p>
        </p:txBody>
      </p:sp>
      <p:sp>
        <p:nvSpPr>
          <p:cNvPr id="17460" name="TextBox 17459"/>
          <p:cNvSpPr txBox="1"/>
          <p:nvPr/>
        </p:nvSpPr>
        <p:spPr>
          <a:xfrm>
            <a:off x="7104888" y="3602736"/>
            <a:ext cx="1024127" cy="237744"/>
          </a:xfrm>
          <a:prstGeom prst="rect">
            <a:avLst/>
          </a:prstGeom>
          <a:noFill/>
        </p:spPr>
        <p:txBody>
          <a:bodyPr wrap="square" lIns="45720" rIns="45720" anchor="ctr">
            <a:spAutoFit/>
          </a:bodyPr>
          <a:lstStyle/>
          <a:p>
            <a:pPr algn="ctr"/>
            <a:r>
              <a:rPr sz="770" b="0">
                <a:solidFill>
                  <a:srgbClr val="5C6874"/>
                </a:solidFill>
                <a:latin typeface="Aptos"/>
              </a:rPr>
              <a:t>flood / slope</a:t>
            </a:r>
          </a:p>
        </p:txBody>
      </p:sp>
      <p:cxnSp>
        <p:nvCxnSpPr>
          <p:cNvPr id="17461" name="Connector 17460"/>
          <p:cNvCxnSpPr/>
          <p:nvPr/>
        </p:nvCxnSpPr>
        <p:spPr>
          <a:xfrm>
            <a:off x="5257800" y="3547872"/>
            <a:ext cx="155448" cy="0"/>
          </a:xfrm>
          <a:prstGeom prst="line">
            <a:avLst/>
          </a:prstGeom>
          <a:ln w="19050">
            <a:solidFill>
              <a:srgbClr val="0E63DC"/>
            </a:solidFill>
          </a:ln>
        </p:spPr>
        <p:style>
          <a:lnRef idx="2">
            <a:schemeClr val="accent1"/>
          </a:lnRef>
          <a:fillRef idx="0">
            <a:schemeClr val="accent1"/>
          </a:fillRef>
          <a:effectRef idx="1">
            <a:schemeClr val="accent1"/>
          </a:effectRef>
          <a:fontRef idx="minor">
            <a:schemeClr val="tx1"/>
          </a:fontRef>
        </p:style>
      </p:cxnSp>
      <p:cxnSp>
        <p:nvCxnSpPr>
          <p:cNvPr id="17462" name="Connector 17461"/>
          <p:cNvCxnSpPr/>
          <p:nvPr/>
        </p:nvCxnSpPr>
        <p:spPr>
          <a:xfrm>
            <a:off x="6894576" y="3547872"/>
            <a:ext cx="146304" cy="0"/>
          </a:xfrm>
          <a:prstGeom prst="line">
            <a:avLst/>
          </a:prstGeom>
          <a:ln w="19050">
            <a:solidFill>
              <a:srgbClr val="009688"/>
            </a:solidFill>
          </a:ln>
        </p:spPr>
        <p:style>
          <a:lnRef idx="2">
            <a:schemeClr val="accent1"/>
          </a:lnRef>
          <a:fillRef idx="0">
            <a:schemeClr val="accent1"/>
          </a:fillRef>
          <a:effectRef idx="1">
            <a:schemeClr val="accent1"/>
          </a:effectRef>
          <a:fontRef idx="minor">
            <a:schemeClr val="tx1"/>
          </a:fontRef>
        </p:style>
      </p:cxnSp>
      <p:sp>
        <p:nvSpPr>
          <p:cNvPr id="17463" name="Rounded Rectangle 17462"/>
          <p:cNvSpPr/>
          <p:nvPr/>
        </p:nvSpPr>
        <p:spPr>
          <a:xfrm>
            <a:off x="4160520" y="4096512"/>
            <a:ext cx="3822191" cy="393192"/>
          </a:xfrm>
          <a:prstGeom prst="roundRect">
            <a:avLst/>
          </a:prstGeom>
          <a:solidFill>
            <a:srgbClr val="FFFFFF"/>
          </a:solidFill>
          <a:ln w="12700">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64" name="TextBox 17463"/>
          <p:cNvSpPr txBox="1"/>
          <p:nvPr/>
        </p:nvSpPr>
        <p:spPr>
          <a:xfrm>
            <a:off x="4251960" y="4160853"/>
            <a:ext cx="3639312" cy="246221"/>
          </a:xfrm>
          <a:prstGeom prst="rect">
            <a:avLst/>
          </a:prstGeom>
          <a:noFill/>
        </p:spPr>
        <p:txBody>
          <a:bodyPr wrap="square" lIns="45720" rIns="45720" anchor="ctr">
            <a:spAutoFit/>
          </a:bodyPr>
          <a:lstStyle/>
          <a:p>
            <a:pPr algn="ctr"/>
            <a:r>
              <a:rPr sz="1000" b="1" dirty="0">
                <a:solidFill>
                  <a:srgbClr val="17273A"/>
                </a:solidFill>
                <a:latin typeface="Aptos"/>
              </a:rPr>
              <a:t>One optical image → measured, checked terrain context</a:t>
            </a: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7" name="Rounded Rectangle 17416"/>
          <p:cNvSpPr/>
          <p:nvPr/>
        </p:nvSpPr>
        <p:spPr>
          <a:xfrm>
            <a:off x="6099048" y="1625727"/>
            <a:ext cx="5449824" cy="1691640"/>
          </a:xfrm>
          <a:prstGeom prst="roundRect">
            <a:avLst>
              <a:gd name="adj" fmla="val 5734"/>
            </a:avLst>
          </a:prstGeom>
          <a:solidFill>
            <a:srgbClr val="F4F7FB"/>
          </a:solidFill>
          <a:ln w="12700">
            <a:solidFill>
              <a:srgbClr val="D5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13" name="Rounded Rectangle 17412"/>
          <p:cNvSpPr/>
          <p:nvPr/>
        </p:nvSpPr>
        <p:spPr>
          <a:xfrm>
            <a:off x="594360" y="1581912"/>
            <a:ext cx="5303520" cy="1737360"/>
          </a:xfrm>
          <a:prstGeom prst="roundRect">
            <a:avLst>
              <a:gd name="adj" fmla="val 5988"/>
            </a:avLst>
          </a:prstGeom>
          <a:solidFill>
            <a:srgbClr val="F4F7FB"/>
          </a:solidFill>
          <a:ln w="12700">
            <a:solidFill>
              <a:srgbClr val="D5D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wrap="square" lIns="38100" tIns="19050" rIns="38100" bIns="19050" anchor="ctr"/>
          <a:lstStyle/>
          <a:p>
            <a:pPr algn="ctr" eaLnBrk="1" hangingPunct="1">
              <a:lnSpc>
                <a:spcPct val="100000"/>
              </a:lnSpc>
              <a:spcBef>
                <a:spcPts val="0"/>
              </a:spcBef>
              <a:spcAft>
                <a:spcPts val="0"/>
              </a:spcAft>
            </a:pPr>
            <a:r>
              <a:rPr lang="en-US" sz="2500" b="1" i="0" dirty="0">
                <a:solidFill>
                  <a:srgbClr val="17273A"/>
                </a:solidFill>
                <a:latin typeface="Aptos Display" panose="02020603050405020304" pitchFamily="18" charset="0"/>
                <a:ea typeface="ＭＳ Ｐゴシック" pitchFamily="1" charset="-128"/>
                <a:cs typeface="Times New Roman" panose="02020603050405020304" pitchFamily="18" charset="0"/>
              </a:rPr>
              <a:t>RESEARCH  AND REFERENCES</a:t>
            </a:r>
          </a:p>
        </p:txBody>
      </p:sp>
      <p:sp>
        <p:nvSpPr>
          <p:cNvPr id="6" name="Slide Number Placeholder 5"/>
          <p:cNvSpPr>
            <a:spLocks noGrp="1"/>
          </p:cNvSpPr>
          <p:nvPr>
            <p:ph type="sldNum" sz="quarter" idx="12"/>
          </p:nvPr>
        </p:nvSpPr>
        <p:spPr/>
        <p:txBody>
          <a:bodyPr lIns="38100" tIns="19050" rIns="38100" bIns="19050"/>
          <a:lstStyle/>
          <a:p>
            <a:pPr marL="0" marR="0" lvl="0" indent="0" algn="r" defTabSz="457200" rtl="0" eaLnBrk="1" fontAlgn="base" latinLnBrk="0" hangingPunct="1">
              <a:lnSpc>
                <a:spcPct val="100000"/>
              </a:lnSpc>
              <a:spcBef>
                <a:spcPts val="0"/>
              </a:spcBef>
              <a:spcAft>
                <a:spcPts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17410" name="TextBox 17409"/>
          <p:cNvSpPr txBox="1"/>
          <p:nvPr/>
        </p:nvSpPr>
        <p:spPr>
          <a:xfrm>
            <a:off x="594360" y="1078992"/>
            <a:ext cx="10972800" cy="329184"/>
          </a:xfrm>
          <a:prstGeom prst="rect">
            <a:avLst/>
          </a:prstGeom>
          <a:noFill/>
        </p:spPr>
        <p:txBody>
          <a:bodyPr wrap="square" lIns="38100" tIns="19050" rIns="38100" bIns="19050" anchor="ctr">
            <a:spAutoFit/>
          </a:bodyPr>
          <a:lstStyle/>
          <a:p>
            <a:pPr algn="l">
              <a:lnSpc>
                <a:spcPct val="100000"/>
              </a:lnSpc>
              <a:spcBef>
                <a:spcPts val="0"/>
              </a:spcBef>
              <a:spcAft>
                <a:spcPts val="0"/>
              </a:spcAft>
              <a:defRPr sz="1630" b="1">
                <a:solidFill>
                  <a:srgbClr val="152742"/>
                </a:solidFill>
              </a:defRPr>
            </a:pPr>
            <a:r>
              <a:rPr sz="1900" b="1" i="0">
                <a:solidFill>
                  <a:srgbClr val="17273A"/>
                </a:solidFill>
                <a:latin typeface="Aptos"/>
              </a:rPr>
              <a:t>Research Foundation: 2024–2026 Models, Open Data, Independent Validation</a:t>
            </a:r>
          </a:p>
        </p:txBody>
      </p:sp>
      <p:sp>
        <p:nvSpPr>
          <p:cNvPr id="17411" name="Rounded Rectangle 17410"/>
          <p:cNvSpPr/>
          <p:nvPr/>
        </p:nvSpPr>
        <p:spPr>
          <a:xfrm>
            <a:off x="594360" y="1554480"/>
            <a:ext cx="5303520" cy="301752"/>
          </a:xfrm>
          <a:prstGeom prst="roundRect">
            <a:avLst/>
          </a:prstGeom>
          <a:solidFill>
            <a:srgbClr val="2068AA"/>
          </a:solidFill>
          <a:ln w="12700">
            <a:solidFill>
              <a:srgbClr val="2068AA"/>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12" name="TextBox 17411"/>
          <p:cNvSpPr txBox="1"/>
          <p:nvPr/>
        </p:nvSpPr>
        <p:spPr>
          <a:xfrm>
            <a:off x="685800" y="1581912"/>
            <a:ext cx="5120640" cy="246888"/>
          </a:xfrm>
          <a:prstGeom prst="rect">
            <a:avLst/>
          </a:prstGeom>
          <a:noFill/>
        </p:spPr>
        <p:txBody>
          <a:bodyPr wrap="square" lIns="38100" tIns="19050" rIns="38100" bIns="19050" anchor="ctr">
            <a:spAutoFit/>
          </a:bodyPr>
          <a:lstStyle/>
          <a:p>
            <a:pPr algn="l">
              <a:lnSpc>
                <a:spcPct val="100000"/>
              </a:lnSpc>
              <a:spcBef>
                <a:spcPts val="0"/>
              </a:spcBef>
              <a:spcAft>
                <a:spcPts val="0"/>
              </a:spcAft>
              <a:defRPr sz="1120" b="1">
                <a:solidFill>
                  <a:srgbClr val="FFFFFF"/>
                </a:solidFill>
              </a:defRPr>
            </a:pPr>
            <a:r>
              <a:rPr sz="1120" b="1" i="0">
                <a:solidFill>
                  <a:srgbClr val="FFFFFF"/>
                </a:solidFill>
                <a:latin typeface="Aptos"/>
              </a:rPr>
              <a:t>MODELS &amp; METHODS</a:t>
            </a:r>
          </a:p>
        </p:txBody>
      </p:sp>
      <p:sp>
        <p:nvSpPr>
          <p:cNvPr id="17414" name="TextBox 17413"/>
          <p:cNvSpPr txBox="1"/>
          <p:nvPr/>
        </p:nvSpPr>
        <p:spPr>
          <a:xfrm>
            <a:off x="795528" y="1871731"/>
            <a:ext cx="4882896" cy="1417320"/>
          </a:xfrm>
          <a:prstGeom prst="rect">
            <a:avLst/>
          </a:prstGeom>
          <a:noFill/>
        </p:spPr>
        <p:txBody>
          <a:bodyPr wrap="square" lIns="38100" tIns="19050" rIns="38100" bIns="19050" anchor="ctr">
            <a:spAutoFit/>
          </a:bodyPr>
          <a:lstStyle/>
          <a:p>
            <a:pPr algn="l">
              <a:lnSpc>
                <a:spcPct val="106000"/>
              </a:lnSpc>
              <a:spcBef>
                <a:spcPts val="0"/>
              </a:spcBef>
              <a:spcAft>
                <a:spcPts val="150"/>
              </a:spcAft>
              <a:defRPr sz="1010">
                <a:solidFill>
                  <a:srgbClr val="232B36"/>
                </a:solidFill>
              </a:defRPr>
            </a:pPr>
            <a:r>
              <a:rPr sz="1120" b="0" i="0" dirty="0">
                <a:solidFill>
                  <a:srgbClr val="24313F"/>
                </a:solidFill>
                <a:latin typeface="Aptos"/>
              </a:rPr>
              <a:t>• RS3DAda / SynRS3D: Song et al., NeurIPS 2024 (primary model)</a:t>
            </a:r>
          </a:p>
          <a:p>
            <a:pPr algn="l">
              <a:lnSpc>
                <a:spcPct val="106000"/>
              </a:lnSpc>
              <a:spcBef>
                <a:spcPts val="0"/>
              </a:spcBef>
              <a:spcAft>
                <a:spcPts val="150"/>
              </a:spcAft>
              <a:defRPr sz="1010">
                <a:solidFill>
                  <a:srgbClr val="232B36"/>
                </a:solidFill>
              </a:defRPr>
            </a:pPr>
            <a:r>
              <a:rPr sz="1120" b="0" i="0" dirty="0">
                <a:solidFill>
                  <a:srgbClr val="24313F"/>
                </a:solidFill>
                <a:latin typeface="Aptos"/>
              </a:rPr>
              <a:t>• DINOv3 (Meta, 2025) + CHMv2 (Scientific Data, 2026): satellite backbone</a:t>
            </a:r>
          </a:p>
          <a:p>
            <a:pPr algn="l">
              <a:lnSpc>
                <a:spcPct val="106000"/>
              </a:lnSpc>
              <a:spcBef>
                <a:spcPts val="0"/>
              </a:spcBef>
              <a:spcAft>
                <a:spcPts val="150"/>
              </a:spcAft>
              <a:defRPr sz="1010">
                <a:solidFill>
                  <a:srgbClr val="232B36"/>
                </a:solidFill>
              </a:defRPr>
            </a:pPr>
            <a:r>
              <a:rPr sz="1120" b="0" i="0" dirty="0">
                <a:solidFill>
                  <a:srgbClr val="24313F"/>
                </a:solidFill>
                <a:latin typeface="Aptos"/>
              </a:rPr>
              <a:t>• Prompt2DEM: Rafaeli et al., 2025, SRTM-prior metric heights (30 m → 30 cm)</a:t>
            </a:r>
          </a:p>
          <a:p>
            <a:pPr algn="l">
              <a:lnSpc>
                <a:spcPct val="106000"/>
              </a:lnSpc>
              <a:spcBef>
                <a:spcPts val="0"/>
              </a:spcBef>
              <a:spcAft>
                <a:spcPts val="150"/>
              </a:spcAft>
              <a:defRPr sz="1010">
                <a:solidFill>
                  <a:srgbClr val="232B36"/>
                </a:solidFill>
              </a:defRPr>
            </a:pPr>
            <a:r>
              <a:rPr sz="1120" b="0" i="0" dirty="0">
                <a:solidFill>
                  <a:srgbClr val="24313F"/>
                </a:solidFill>
                <a:latin typeface="Aptos"/>
              </a:rPr>
              <a:t>• ICESat-2-guided correction: Song, Chen &amp; Yokoya, ISPRS J. 2026</a:t>
            </a:r>
          </a:p>
          <a:p>
            <a:pPr algn="l">
              <a:lnSpc>
                <a:spcPct val="106000"/>
              </a:lnSpc>
              <a:spcBef>
                <a:spcPts val="0"/>
              </a:spcBef>
              <a:spcAft>
                <a:spcPts val="150"/>
              </a:spcAft>
              <a:defRPr sz="1010">
                <a:solidFill>
                  <a:srgbClr val="232B36"/>
                </a:solidFill>
              </a:defRPr>
            </a:pPr>
            <a:r>
              <a:rPr sz="1120" b="0" i="0" dirty="0">
                <a:solidFill>
                  <a:srgbClr val="24313F"/>
                </a:solidFill>
                <a:latin typeface="Aptos"/>
              </a:rPr>
              <a:t>• Sat3DGen (ICLR 2026) · Benchmarks: BuildMamba 2026, Depth2Elevation (TGRS 2025), HTC-DC Net</a:t>
            </a:r>
          </a:p>
        </p:txBody>
      </p:sp>
      <p:sp>
        <p:nvSpPr>
          <p:cNvPr id="17415" name="Rounded Rectangle 17414"/>
          <p:cNvSpPr/>
          <p:nvPr/>
        </p:nvSpPr>
        <p:spPr>
          <a:xfrm>
            <a:off x="6099048" y="1554480"/>
            <a:ext cx="5449824" cy="301752"/>
          </a:xfrm>
          <a:prstGeom prst="roundRect">
            <a:avLst/>
          </a:prstGeom>
          <a:solidFill>
            <a:srgbClr val="228989"/>
          </a:solidFill>
          <a:ln w="12700">
            <a:solidFill>
              <a:srgbClr val="228989"/>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endParaRPr/>
          </a:p>
        </p:txBody>
      </p:sp>
      <p:sp>
        <p:nvSpPr>
          <p:cNvPr id="17416" name="TextBox 17415"/>
          <p:cNvSpPr txBox="1"/>
          <p:nvPr/>
        </p:nvSpPr>
        <p:spPr>
          <a:xfrm>
            <a:off x="6190488" y="1581912"/>
            <a:ext cx="5266944" cy="246888"/>
          </a:xfrm>
          <a:prstGeom prst="rect">
            <a:avLst/>
          </a:prstGeom>
          <a:noFill/>
        </p:spPr>
        <p:txBody>
          <a:bodyPr wrap="square" lIns="38100" tIns="19050" rIns="38100" bIns="19050" anchor="ctr">
            <a:spAutoFit/>
          </a:bodyPr>
          <a:lstStyle/>
          <a:p>
            <a:pPr algn="l">
              <a:lnSpc>
                <a:spcPct val="100000"/>
              </a:lnSpc>
              <a:spcBef>
                <a:spcPts val="0"/>
              </a:spcBef>
              <a:spcAft>
                <a:spcPts val="0"/>
              </a:spcAft>
              <a:defRPr sz="1120" b="1">
                <a:solidFill>
                  <a:srgbClr val="FFFFFF"/>
                </a:solidFill>
              </a:defRPr>
            </a:pPr>
            <a:r>
              <a:rPr sz="1120" b="1" i="0">
                <a:solidFill>
                  <a:srgbClr val="FFFFFF"/>
                </a:solidFill>
                <a:latin typeface="Aptos"/>
              </a:rPr>
              <a:t>DATASETS / VALIDATION / OFFICIAL SOURCES</a:t>
            </a:r>
          </a:p>
        </p:txBody>
      </p:sp>
      <p:sp>
        <p:nvSpPr>
          <p:cNvPr id="17418" name="TextBox 17417"/>
          <p:cNvSpPr txBox="1"/>
          <p:nvPr/>
        </p:nvSpPr>
        <p:spPr>
          <a:xfrm>
            <a:off x="6300216" y="1863788"/>
            <a:ext cx="5029200" cy="1417320"/>
          </a:xfrm>
          <a:prstGeom prst="rect">
            <a:avLst/>
          </a:prstGeom>
          <a:noFill/>
        </p:spPr>
        <p:txBody>
          <a:bodyPr wrap="square" lIns="38100" tIns="19050" rIns="38100" bIns="19050" anchor="ctr">
            <a:spAutoFit/>
          </a:bodyPr>
          <a:lstStyle/>
          <a:p>
            <a:pPr algn="l">
              <a:lnSpc>
                <a:spcPct val="106000"/>
              </a:lnSpc>
              <a:spcBef>
                <a:spcPts val="0"/>
              </a:spcBef>
              <a:spcAft>
                <a:spcPts val="150"/>
              </a:spcAft>
              <a:defRPr sz="1010">
                <a:solidFill>
                  <a:srgbClr val="232B36"/>
                </a:solidFill>
              </a:defRPr>
            </a:pPr>
            <a:r>
              <a:rPr sz="1120" b="0" i="0" dirty="0">
                <a:solidFill>
                  <a:srgbClr val="24313F"/>
                </a:solidFill>
                <a:latin typeface="Aptos"/>
              </a:rPr>
              <a:t>• GAMUS (recommended in PS) · DFC2019 / US3D · SynRS3D</a:t>
            </a:r>
          </a:p>
          <a:p>
            <a:pPr algn="l">
              <a:lnSpc>
                <a:spcPct val="106000"/>
              </a:lnSpc>
              <a:spcBef>
                <a:spcPts val="0"/>
              </a:spcBef>
              <a:spcAft>
                <a:spcPts val="150"/>
              </a:spcAft>
              <a:defRPr sz="1010">
                <a:solidFill>
                  <a:srgbClr val="232B36"/>
                </a:solidFill>
              </a:defRPr>
            </a:pPr>
            <a:r>
              <a:rPr sz="1120" b="0" i="0" dirty="0">
                <a:solidFill>
                  <a:srgbClr val="24313F"/>
                </a:solidFill>
                <a:latin typeface="Aptos"/>
              </a:rPr>
              <a:t>• CartoDEM (ISRO Bhuvan) · SRTM 30 m · Copernicus DEM GLO-30</a:t>
            </a:r>
          </a:p>
          <a:p>
            <a:pPr algn="l">
              <a:lnSpc>
                <a:spcPct val="106000"/>
              </a:lnSpc>
              <a:spcBef>
                <a:spcPts val="0"/>
              </a:spcBef>
              <a:spcAft>
                <a:spcPts val="150"/>
              </a:spcAft>
              <a:defRPr sz="1010">
                <a:solidFill>
                  <a:srgbClr val="232B36"/>
                </a:solidFill>
              </a:defRPr>
            </a:pPr>
            <a:r>
              <a:rPr sz="1120" b="0" i="0" dirty="0">
                <a:solidFill>
                  <a:srgbClr val="24313F"/>
                </a:solidFill>
                <a:latin typeface="Aptos"/>
              </a:rPr>
              <a:t>• ICESat-2 ATL03 / ATL08 (NASA Earthdata)</a:t>
            </a:r>
          </a:p>
          <a:p>
            <a:pPr algn="l">
              <a:lnSpc>
                <a:spcPct val="106000"/>
              </a:lnSpc>
              <a:spcBef>
                <a:spcPts val="0"/>
              </a:spcBef>
              <a:spcAft>
                <a:spcPts val="150"/>
              </a:spcAft>
              <a:defRPr sz="1010">
                <a:solidFill>
                  <a:srgbClr val="232B36"/>
                </a:solidFill>
              </a:defRPr>
            </a:pPr>
            <a:r>
              <a:rPr sz="1120" b="0" i="0" dirty="0">
                <a:solidFill>
                  <a:srgbClr val="24313F"/>
                </a:solidFill>
                <a:latin typeface="Aptos"/>
              </a:rPr>
              <a:t>• ISRO Bhoonidhi / Bhuvan imagery · ISPRS Potsdam / Vaihingen</a:t>
            </a:r>
          </a:p>
          <a:p>
            <a:pPr algn="l">
              <a:lnSpc>
                <a:spcPct val="106000"/>
              </a:lnSpc>
              <a:spcBef>
                <a:spcPts val="0"/>
              </a:spcBef>
              <a:spcAft>
                <a:spcPts val="150"/>
              </a:spcAft>
              <a:defRPr sz="1010">
                <a:solidFill>
                  <a:srgbClr val="232B36"/>
                </a:solidFill>
              </a:defRPr>
            </a:pPr>
            <a:r>
              <a:rPr sz="1120" b="0" i="0" dirty="0">
                <a:solidFill>
                  <a:srgbClr val="24313F"/>
                </a:solidFill>
                <a:latin typeface="Aptos"/>
              </a:rPr>
              <a:t>• Metrics: RMSE and MAE per terrain type and per height band</a:t>
            </a:r>
          </a:p>
        </p:txBody>
      </p:sp>
      <p:sp>
        <p:nvSpPr>
          <p:cNvPr id="17419" name="TextBox 17418"/>
          <p:cNvSpPr txBox="1"/>
          <p:nvPr/>
        </p:nvSpPr>
        <p:spPr>
          <a:xfrm>
            <a:off x="713232" y="5886896"/>
            <a:ext cx="10835640" cy="223138"/>
          </a:xfrm>
          <a:prstGeom prst="rect">
            <a:avLst/>
          </a:prstGeom>
          <a:noFill/>
        </p:spPr>
        <p:txBody>
          <a:bodyPr wrap="square" lIns="38100" tIns="19050" rIns="38100" bIns="19050" anchor="ctr">
            <a:spAutoFit/>
          </a:bodyPr>
          <a:lstStyle/>
          <a:p>
            <a:pPr algn="ctr">
              <a:lnSpc>
                <a:spcPct val="100000"/>
              </a:lnSpc>
              <a:spcBef>
                <a:spcPts val="0"/>
              </a:spcBef>
              <a:spcAft>
                <a:spcPts val="200"/>
              </a:spcAft>
              <a:defRPr sz="950" b="0">
                <a:solidFill>
                  <a:srgbClr val="5C6878"/>
                </a:solidFill>
              </a:defRPr>
            </a:pPr>
            <a:r>
              <a:rPr sz="1200" b="1" dirty="0"/>
              <a:t>Research basis: monocular height estimation • DSM generation • geospatial calibration • ICESat-2 validation • terrain rendering  |  Evaluation: RMSE / MAE</a:t>
            </a:r>
          </a:p>
        </p:txBody>
      </p:sp>
      <p:pic>
        <p:nvPicPr>
          <p:cNvPr id="17421" name="Picture 17420" descr="terravista_icon.png"/>
          <p:cNvPicPr>
            <a:picLocks noChangeAspect="1"/>
          </p:cNvPicPr>
          <p:nvPr/>
        </p:nvPicPr>
        <p:blipFill>
          <a:blip r:embed="rId3"/>
          <a:stretch>
            <a:fillRect/>
          </a:stretch>
        </p:blipFill>
        <p:spPr>
          <a:xfrm>
            <a:off x="338328" y="356616"/>
            <a:ext cx="347472" cy="347472"/>
          </a:xfrm>
          <a:prstGeom prst="rect">
            <a:avLst/>
          </a:prstGeom>
        </p:spPr>
      </p:pic>
      <p:sp>
        <p:nvSpPr>
          <p:cNvPr id="17422" name="TextBox 17421"/>
          <p:cNvSpPr txBox="1"/>
          <p:nvPr/>
        </p:nvSpPr>
        <p:spPr>
          <a:xfrm>
            <a:off x="740664" y="352044"/>
            <a:ext cx="914400" cy="310896"/>
          </a:xfrm>
          <a:prstGeom prst="rect">
            <a:avLst/>
          </a:prstGeom>
          <a:noFill/>
        </p:spPr>
        <p:txBody>
          <a:bodyPr wrap="none" lIns="0" tIns="0" rIns="0" bIns="0">
            <a:spAutoFit/>
          </a:bodyPr>
          <a:lstStyle/>
          <a:p>
            <a:pPr algn="l">
              <a:spcBef>
                <a:spcPts val="0"/>
              </a:spcBef>
              <a:spcAft>
                <a:spcPts val="0"/>
              </a:spcAft>
            </a:pPr>
            <a:r>
              <a:rPr sz="1050" b="1" i="0">
                <a:solidFill>
                  <a:srgbClr val="17273A"/>
                </a:solidFill>
                <a:latin typeface="Aptos"/>
              </a:rPr>
              <a:t>TerraVista</a:t>
            </a:r>
          </a:p>
        </p:txBody>
      </p:sp>
      <p:pic>
        <p:nvPicPr>
          <p:cNvPr id="17423" name="Picture 17422" descr="image2.png"/>
          <p:cNvPicPr>
            <a:picLocks noChangeAspect="1"/>
          </p:cNvPicPr>
          <p:nvPr/>
        </p:nvPicPr>
        <p:blipFill>
          <a:blip r:embed="rId4"/>
          <a:stretch>
            <a:fillRect/>
          </a:stretch>
        </p:blipFill>
        <p:spPr>
          <a:xfrm>
            <a:off x="9841366" y="57097"/>
            <a:ext cx="2209120" cy="1122868"/>
          </a:xfrm>
          <a:prstGeom prst="rect">
            <a:avLst/>
          </a:prstGeom>
        </p:spPr>
      </p:pic>
      <p:sp>
        <p:nvSpPr>
          <p:cNvPr id="17425" name="Rounded Rectangle 17424"/>
          <p:cNvSpPr/>
          <p:nvPr/>
        </p:nvSpPr>
        <p:spPr>
          <a:xfrm>
            <a:off x="646045" y="5146415"/>
            <a:ext cx="2573322" cy="570570"/>
          </a:xfrm>
          <a:prstGeom prst="roundRect">
            <a:avLst/>
          </a:prstGeom>
          <a:solidFill>
            <a:srgbClr val="E8F2FF"/>
          </a:solidFill>
          <a:ln w="12700">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26" name="TextBox 17425"/>
          <p:cNvSpPr txBox="1"/>
          <p:nvPr/>
        </p:nvSpPr>
        <p:spPr>
          <a:xfrm>
            <a:off x="743049" y="5346980"/>
            <a:ext cx="918543" cy="212366"/>
          </a:xfrm>
          <a:prstGeom prst="rect">
            <a:avLst/>
          </a:prstGeom>
          <a:noFill/>
        </p:spPr>
        <p:txBody>
          <a:bodyPr wrap="square" lIns="45720" rIns="45720" anchor="ctr">
            <a:spAutoFit/>
          </a:bodyPr>
          <a:lstStyle/>
          <a:p>
            <a:pPr algn="l"/>
            <a:r>
              <a:rPr sz="780" b="1" dirty="0">
                <a:solidFill>
                  <a:srgbClr val="17273A"/>
                </a:solidFill>
                <a:latin typeface="Aptos"/>
              </a:rPr>
              <a:t>MODELS</a:t>
            </a:r>
          </a:p>
        </p:txBody>
      </p:sp>
      <p:sp>
        <p:nvSpPr>
          <p:cNvPr id="17427" name="TextBox 17426"/>
          <p:cNvSpPr txBox="1"/>
          <p:nvPr/>
        </p:nvSpPr>
        <p:spPr>
          <a:xfrm>
            <a:off x="1470097" y="5356460"/>
            <a:ext cx="1620958" cy="206210"/>
          </a:xfrm>
          <a:prstGeom prst="rect">
            <a:avLst/>
          </a:prstGeom>
          <a:noFill/>
        </p:spPr>
        <p:txBody>
          <a:bodyPr wrap="square" lIns="45720" rIns="45720" anchor="ctr">
            <a:spAutoFit/>
          </a:bodyPr>
          <a:lstStyle/>
          <a:p>
            <a:pPr algn="l"/>
            <a:r>
              <a:rPr sz="740" b="0" dirty="0">
                <a:solidFill>
                  <a:srgbClr val="5C6874"/>
                </a:solidFill>
                <a:latin typeface="Aptos"/>
              </a:rPr>
              <a:t>RS3DAda + DINOv3</a:t>
            </a:r>
          </a:p>
        </p:txBody>
      </p:sp>
      <p:sp>
        <p:nvSpPr>
          <p:cNvPr id="17428" name="Rounded Rectangle 17427"/>
          <p:cNvSpPr/>
          <p:nvPr/>
        </p:nvSpPr>
        <p:spPr>
          <a:xfrm>
            <a:off x="3371850" y="5146415"/>
            <a:ext cx="2557815" cy="570570"/>
          </a:xfrm>
          <a:prstGeom prst="roundRect">
            <a:avLst/>
          </a:prstGeom>
          <a:solidFill>
            <a:srgbClr val="E8F9F5"/>
          </a:solidFill>
          <a:ln w="12700">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29" name="TextBox 17428"/>
          <p:cNvSpPr txBox="1"/>
          <p:nvPr/>
        </p:nvSpPr>
        <p:spPr>
          <a:xfrm>
            <a:off x="3553832" y="5354931"/>
            <a:ext cx="918543" cy="212366"/>
          </a:xfrm>
          <a:prstGeom prst="rect">
            <a:avLst/>
          </a:prstGeom>
          <a:noFill/>
        </p:spPr>
        <p:txBody>
          <a:bodyPr wrap="square" lIns="45720" rIns="45720" anchor="ctr">
            <a:spAutoFit/>
          </a:bodyPr>
          <a:lstStyle/>
          <a:p>
            <a:pPr algn="l"/>
            <a:r>
              <a:rPr sz="780" b="1" dirty="0">
                <a:solidFill>
                  <a:srgbClr val="17273A"/>
                </a:solidFill>
                <a:latin typeface="Aptos"/>
              </a:rPr>
              <a:t>DATASETS</a:t>
            </a:r>
          </a:p>
        </p:txBody>
      </p:sp>
      <p:sp>
        <p:nvSpPr>
          <p:cNvPr id="17430" name="TextBox 17429"/>
          <p:cNvSpPr txBox="1"/>
          <p:nvPr/>
        </p:nvSpPr>
        <p:spPr>
          <a:xfrm>
            <a:off x="4495569" y="5348510"/>
            <a:ext cx="1620958" cy="206210"/>
          </a:xfrm>
          <a:prstGeom prst="rect">
            <a:avLst/>
          </a:prstGeom>
          <a:noFill/>
        </p:spPr>
        <p:txBody>
          <a:bodyPr wrap="square" lIns="45720" rIns="45720" anchor="ctr">
            <a:spAutoFit/>
          </a:bodyPr>
          <a:lstStyle/>
          <a:p>
            <a:pPr algn="l"/>
            <a:r>
              <a:rPr sz="740" b="0" dirty="0">
                <a:solidFill>
                  <a:srgbClr val="5C6874"/>
                </a:solidFill>
                <a:latin typeface="Aptos"/>
              </a:rPr>
              <a:t>GAMUS + SynRS3D</a:t>
            </a:r>
          </a:p>
        </p:txBody>
      </p:sp>
      <p:sp>
        <p:nvSpPr>
          <p:cNvPr id="17431" name="Rounded Rectangle 17430"/>
          <p:cNvSpPr/>
          <p:nvPr/>
        </p:nvSpPr>
        <p:spPr>
          <a:xfrm>
            <a:off x="6082148" y="5146415"/>
            <a:ext cx="2700069" cy="570570"/>
          </a:xfrm>
          <a:prstGeom prst="roundRect">
            <a:avLst/>
          </a:prstGeom>
          <a:solidFill>
            <a:srgbClr val="F1EFFF"/>
          </a:solidFill>
          <a:ln w="12700">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32" name="TextBox 17431"/>
          <p:cNvSpPr txBox="1"/>
          <p:nvPr/>
        </p:nvSpPr>
        <p:spPr>
          <a:xfrm>
            <a:off x="6132710" y="5283463"/>
            <a:ext cx="918543" cy="332399"/>
          </a:xfrm>
          <a:prstGeom prst="rect">
            <a:avLst/>
          </a:prstGeom>
          <a:noFill/>
        </p:spPr>
        <p:txBody>
          <a:bodyPr wrap="square" lIns="45720" rIns="45720" anchor="ctr">
            <a:spAutoFit/>
          </a:bodyPr>
          <a:lstStyle/>
          <a:p>
            <a:pPr algn="ctr"/>
            <a:r>
              <a:rPr sz="780" b="1" dirty="0">
                <a:solidFill>
                  <a:srgbClr val="17273A"/>
                </a:solidFill>
                <a:latin typeface="Aptos"/>
              </a:rPr>
              <a:t>TERRAIN REFERENCE</a:t>
            </a:r>
          </a:p>
        </p:txBody>
      </p:sp>
      <p:sp>
        <p:nvSpPr>
          <p:cNvPr id="17433" name="TextBox 17432"/>
          <p:cNvSpPr txBox="1"/>
          <p:nvPr/>
        </p:nvSpPr>
        <p:spPr>
          <a:xfrm>
            <a:off x="7107572" y="5348509"/>
            <a:ext cx="1620958" cy="206210"/>
          </a:xfrm>
          <a:prstGeom prst="rect">
            <a:avLst/>
          </a:prstGeom>
          <a:noFill/>
        </p:spPr>
        <p:txBody>
          <a:bodyPr wrap="square" lIns="45720" rIns="45720" anchor="ctr">
            <a:spAutoFit/>
          </a:bodyPr>
          <a:lstStyle/>
          <a:p>
            <a:pPr algn="l"/>
            <a:r>
              <a:rPr sz="740" b="0" dirty="0" err="1">
                <a:solidFill>
                  <a:srgbClr val="5C6874"/>
                </a:solidFill>
                <a:latin typeface="Aptos"/>
              </a:rPr>
              <a:t>CartoDEM / SRTM / GLO-30</a:t>
            </a:r>
          </a:p>
        </p:txBody>
      </p:sp>
      <p:sp>
        <p:nvSpPr>
          <p:cNvPr id="17434" name="Rounded Rectangle 17433"/>
          <p:cNvSpPr/>
          <p:nvPr/>
        </p:nvSpPr>
        <p:spPr>
          <a:xfrm>
            <a:off x="8929315" y="5146415"/>
            <a:ext cx="2619556" cy="570570"/>
          </a:xfrm>
          <a:prstGeom prst="roundRect">
            <a:avLst/>
          </a:prstGeom>
          <a:solidFill>
            <a:srgbClr val="FFFFFF"/>
          </a:solidFill>
          <a:ln w="12700">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35" name="TextBox 17434"/>
          <p:cNvSpPr txBox="1"/>
          <p:nvPr/>
        </p:nvSpPr>
        <p:spPr>
          <a:xfrm>
            <a:off x="9067044" y="5339140"/>
            <a:ext cx="1188703" cy="212366"/>
          </a:xfrm>
          <a:prstGeom prst="rect">
            <a:avLst/>
          </a:prstGeom>
          <a:noFill/>
        </p:spPr>
        <p:txBody>
          <a:bodyPr wrap="square" lIns="45720" rIns="45720" anchor="ctr">
            <a:spAutoFit/>
          </a:bodyPr>
          <a:lstStyle/>
          <a:p>
            <a:pPr algn="l"/>
            <a:r>
              <a:rPr sz="780" b="1" dirty="0">
                <a:solidFill>
                  <a:srgbClr val="17273A"/>
                </a:solidFill>
                <a:latin typeface="Aptos"/>
              </a:rPr>
              <a:t>VALIDATION</a:t>
            </a:r>
          </a:p>
        </p:txBody>
      </p:sp>
      <p:sp>
        <p:nvSpPr>
          <p:cNvPr id="17436" name="TextBox 17435"/>
          <p:cNvSpPr txBox="1"/>
          <p:nvPr/>
        </p:nvSpPr>
        <p:spPr>
          <a:xfrm>
            <a:off x="9816985" y="5348509"/>
            <a:ext cx="2097711" cy="206210"/>
          </a:xfrm>
          <a:prstGeom prst="rect">
            <a:avLst/>
          </a:prstGeom>
          <a:noFill/>
        </p:spPr>
        <p:txBody>
          <a:bodyPr wrap="square" lIns="45720" rIns="45720" anchor="ctr">
            <a:spAutoFit/>
          </a:bodyPr>
          <a:lstStyle/>
          <a:p>
            <a:pPr algn="l"/>
            <a:r>
              <a:rPr sz="740" b="0" dirty="0">
                <a:solidFill>
                  <a:srgbClr val="5C6874"/>
                </a:solidFill>
                <a:latin typeface="Aptos"/>
              </a:rPr>
              <a:t>RMSE / MAE + ICESat-2</a:t>
            </a:r>
          </a:p>
        </p:txBody>
      </p:sp>
      <p:cxnSp>
        <p:nvCxnSpPr>
          <p:cNvPr id="17437" name="Connector 17436"/>
          <p:cNvCxnSpPr>
            <a:cxnSpLocks/>
          </p:cNvCxnSpPr>
          <p:nvPr/>
        </p:nvCxnSpPr>
        <p:spPr>
          <a:xfrm>
            <a:off x="3219367" y="5460953"/>
            <a:ext cx="137729" cy="0"/>
          </a:xfrm>
          <a:prstGeom prst="line">
            <a:avLst/>
          </a:prstGeom>
          <a:ln w="17780">
            <a:solidFill>
              <a:srgbClr val="0E63DC"/>
            </a:solidFill>
          </a:ln>
        </p:spPr>
        <p:style>
          <a:lnRef idx="2">
            <a:schemeClr val="accent1"/>
          </a:lnRef>
          <a:fillRef idx="0">
            <a:schemeClr val="accent1"/>
          </a:fillRef>
          <a:effectRef idx="1">
            <a:schemeClr val="accent1"/>
          </a:effectRef>
          <a:fontRef idx="minor">
            <a:schemeClr val="tx1"/>
          </a:fontRef>
        </p:style>
      </p:cxnSp>
      <p:cxnSp>
        <p:nvCxnSpPr>
          <p:cNvPr id="17438" name="Connector 17437"/>
          <p:cNvCxnSpPr>
            <a:cxnSpLocks/>
          </p:cNvCxnSpPr>
          <p:nvPr/>
        </p:nvCxnSpPr>
        <p:spPr>
          <a:xfrm>
            <a:off x="5947570" y="5460953"/>
            <a:ext cx="137729" cy="0"/>
          </a:xfrm>
          <a:prstGeom prst="line">
            <a:avLst/>
          </a:prstGeom>
          <a:ln w="17780">
            <a:solidFill>
              <a:srgbClr val="009688"/>
            </a:solidFill>
          </a:ln>
        </p:spPr>
        <p:style>
          <a:lnRef idx="2">
            <a:schemeClr val="accent1"/>
          </a:lnRef>
          <a:fillRef idx="0">
            <a:schemeClr val="accent1"/>
          </a:fillRef>
          <a:effectRef idx="1">
            <a:schemeClr val="accent1"/>
          </a:effectRef>
          <a:fontRef idx="minor">
            <a:schemeClr val="tx1"/>
          </a:fontRef>
        </p:style>
      </p:cxnSp>
      <p:cxnSp>
        <p:nvCxnSpPr>
          <p:cNvPr id="17439" name="Connector 17438"/>
          <p:cNvCxnSpPr>
            <a:cxnSpLocks/>
          </p:cNvCxnSpPr>
          <p:nvPr/>
        </p:nvCxnSpPr>
        <p:spPr>
          <a:xfrm>
            <a:off x="8782219" y="5497529"/>
            <a:ext cx="137730" cy="0"/>
          </a:xfrm>
          <a:prstGeom prst="line">
            <a:avLst/>
          </a:prstGeom>
          <a:ln w="17780">
            <a:solidFill>
              <a:srgbClr val="EDAA36"/>
            </a:solidFill>
          </a:ln>
        </p:spPr>
        <p:style>
          <a:lnRef idx="2">
            <a:schemeClr val="accent1"/>
          </a:lnRef>
          <a:fillRef idx="0">
            <a:schemeClr val="accent1"/>
          </a:fillRef>
          <a:effectRef idx="1">
            <a:schemeClr val="accent1"/>
          </a:effectRef>
          <a:fontRef idx="minor">
            <a:schemeClr val="tx1"/>
          </a:fontRef>
        </p:style>
      </p:cxnSp>
      <p:graphicFrame>
        <p:nvGraphicFramePr>
          <p:cNvPr id="17440" name="Chart 17439"/>
          <p:cNvGraphicFramePr>
            <a:graphicFrameLocks noGrp="1"/>
          </p:cNvGraphicFramePr>
          <p:nvPr/>
        </p:nvGraphicFramePr>
        <p:xfrm>
          <a:off x="594360" y="3383280"/>
          <a:ext cx="5394960" cy="1508760"/>
        </p:xfrm>
        <a:graphic>
          <a:graphicData uri="http://schemas.openxmlformats.org/drawingml/2006/chart">
            <c:chart xmlns:c="http://schemas.openxmlformats.org/drawingml/2006/chart" r:id="rId5"/>
          </a:graphicData>
        </a:graphic>
      </p:graphicFrame>
      <p:sp>
        <p:nvSpPr>
          <p:cNvPr id="17441" name="TextBox 17440"/>
          <p:cNvSpPr txBox="1"/>
          <p:nvPr/>
        </p:nvSpPr>
        <p:spPr>
          <a:xfrm>
            <a:off x="594360" y="4910328"/>
            <a:ext cx="5394960" cy="164592"/>
          </a:xfrm>
          <a:prstGeom prst="rect">
            <a:avLst/>
          </a:prstGeom>
          <a:noFill/>
        </p:spPr>
        <p:txBody>
          <a:bodyPr wrap="square" lIns="0" rIns="0" tIns="0" bIns="0">
            <a:spAutoFit/>
          </a:bodyPr>
          <a:lstStyle/>
          <a:p>
            <a:r>
              <a:rPr sz="800">
                <a:solidFill>
                  <a:srgbClr val="5C6878"/>
                </a:solidFill>
                <a:latin typeface="Aptos"/>
              </a:rPr>
              <a:t>Our run: released RS3DAda, 200 DFC2019 test tiles (Jacksonville + Omaha). Official metric MAE 2.22 m / RMSE 3.83 m.</a:t>
            </a:r>
          </a:p>
        </p:txBody>
      </p:sp>
      <p:graphicFrame>
        <p:nvGraphicFramePr>
          <p:cNvPr id="17442" name="Chart 17441"/>
          <p:cNvGraphicFramePr>
            <a:graphicFrameLocks noGrp="1"/>
          </p:cNvGraphicFramePr>
          <p:nvPr/>
        </p:nvGraphicFramePr>
        <p:xfrm>
          <a:off x="6153912" y="3383280"/>
          <a:ext cx="5394960" cy="1380744"/>
        </p:xfrm>
        <a:graphic>
          <a:graphicData uri="http://schemas.openxmlformats.org/drawingml/2006/chart">
            <c:chart xmlns:c="http://schemas.openxmlformats.org/drawingml/2006/chart" r:id="rId6"/>
          </a:graphicData>
        </a:graphic>
      </p:graphicFrame>
      <p:sp>
        <p:nvSpPr>
          <p:cNvPr id="17443" name="TextBox 17442"/>
          <p:cNvSpPr txBox="1"/>
          <p:nvPr/>
        </p:nvSpPr>
        <p:spPr>
          <a:xfrm>
            <a:off x="6153912" y="4782312"/>
            <a:ext cx="5394960" cy="292608"/>
          </a:xfrm>
          <a:prstGeom prst="rect">
            <a:avLst/>
          </a:prstGeom>
          <a:noFill/>
        </p:spPr>
        <p:txBody>
          <a:bodyPr wrap="square" lIns="0" rIns="0" tIns="0" bIns="0">
            <a:spAutoFit/>
          </a:bodyPr>
          <a:lstStyle/>
          <a:p>
            <a:r>
              <a:rPr sz="800">
                <a:solidFill>
                  <a:srgbClr val="5C6878"/>
                </a:solidFill>
                <a:latin typeface="Aptos"/>
              </a:rPr>
              <a:t>Same 200 test tiles; pixels split into 5 equal groups by predicted ± (spread of 4 flipped predictions). Rank correlation 0.62.</a:t>
            </a:r>
          </a:p>
        </p:txBody>
      </p: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7624</TotalTime>
  <Words>854</Words>
  <Application>Microsoft Office PowerPoint</Application>
  <PresentationFormat>Widescreen</PresentationFormat>
  <Paragraphs>174</Paragraphs>
  <Slides>6</Slides>
  <Notes>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vt:i4>
      </vt:variant>
    </vt:vector>
  </HeadingPairs>
  <TitlesOfParts>
    <vt:vector size="15" baseType="lpstr">
      <vt:lpstr>ＭＳ Ｐゴシック</vt:lpstr>
      <vt:lpstr>Aptos</vt:lpstr>
      <vt:lpstr>Aptos Display</vt:lpstr>
      <vt:lpstr>Arial</vt:lpstr>
      <vt:lpstr>Calibri</vt:lpstr>
      <vt:lpstr>Garamond</vt:lpstr>
      <vt:lpstr>Times New Roman</vt:lpstr>
      <vt:lpstr>TradeGothic</vt:lpstr>
      <vt:lpstr>Office Theme</vt:lpstr>
      <vt:lpstr>SMART INDIA HACKATHON 2026</vt:lpstr>
      <vt:lpstr> IDEA TITLE</vt:lpstr>
      <vt:lpstr>TECHNICAL APPROACH</vt:lpstr>
      <vt:lpstr>FEASIBILITY AND VIABILITY</vt:lpstr>
      <vt:lpstr>IMPACT AND BENEFITS</vt:lpstr>
      <vt:lpstr>RESEARCH  AND REFERENCES</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Agampreet Singh</cp:lastModifiedBy>
  <cp:revision>148</cp:revision>
  <dcterms:created xsi:type="dcterms:W3CDTF">2013-12-12T18:46:50Z</dcterms:created>
  <dcterms:modified xsi:type="dcterms:W3CDTF">2026-08-28T06:28:01Z</dcterms:modified>
  <cp:category/>
</cp:coreProperties>
</file>